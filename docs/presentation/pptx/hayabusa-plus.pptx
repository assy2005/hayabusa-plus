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36576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0" b="0" i="0">
                <a:solidFill>
                  <a:srgbClr val="FF5722"/>
                </a:solidFill>
                <a:latin typeface="Calibri"/>
              </a:rPr>
              <a:t>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9601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0" b="1" i="0">
                <a:solidFill>
                  <a:srgbClr val="FFFFFF"/>
                </a:solidFill>
                <a:latin typeface="Cambria"/>
              </a:rPr>
              <a:t>hayabusa-plus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1">
                <a:solidFill>
                  <a:srgbClr val="FFAB40"/>
                </a:solidFill>
                <a:latin typeface="Cambria"/>
              </a:rPr>
              <a:t>サイバー攻撃の痕跡を、誰でも読めるように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 i="0">
                <a:solidFill>
                  <a:srgbClr val="7D869C"/>
                </a:solidFill>
                <a:latin typeface="Calibri"/>
              </a:rPr>
              <a:t>Windows のログから「何が起きたのか」を、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177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 i="0">
                <a:solidFill>
                  <a:srgbClr val="7D869C"/>
                </a:solidFill>
                <a:latin typeface="Calibri"/>
              </a:rPr>
              <a:t>ブラウザの画面で見える形にしました。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869C"/>
                </a:solidFill>
                <a:latin typeface="Consolas"/>
              </a:rPr>
              <a:t>github.com/Assy2005/hayabusa-plus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D8DEF0"/>
                </a:solidFill>
                <a:latin typeface="Calibri"/>
              </a:rPr>
              <a:t>もし、あなたの会社が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200" b="1" i="0">
                <a:solidFill>
                  <a:srgbClr val="FFFFFF"/>
                </a:solidFill>
                <a:latin typeface="Cambria"/>
              </a:rPr>
              <a:t>サイバー攻撃を受けたら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D8DEF0"/>
                </a:solidFill>
                <a:latin typeface="Calibri"/>
              </a:rPr>
              <a:t>...どうしますか?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4297680"/>
            <a:ext cx="3200400" cy="164592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0" y="4297680"/>
            <a:ext cx="73152" cy="16459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5262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FFAB40"/>
                </a:solidFill>
                <a:latin typeface="Cambria"/>
              </a:rPr>
              <a:t>どこから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50749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侵入された?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4297680"/>
            <a:ext cx="3200400" cy="164592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46320" y="4297680"/>
            <a:ext cx="73152" cy="16459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45262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FFAB40"/>
                </a:solidFill>
                <a:latin typeface="Cambria"/>
              </a:rPr>
              <a:t>誰が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50749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何をされた?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4297680"/>
            <a:ext cx="3200400" cy="164592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0" y="4297680"/>
            <a:ext cx="73152" cy="16459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45262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FFAB40"/>
                </a:solidFill>
                <a:latin typeface="Cambria"/>
              </a:rPr>
              <a:t>被害は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どこまで広がった?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7D869C"/>
                </a:solidFill>
                <a:latin typeface="Calibri"/>
              </a:rPr>
              <a:t>これを 素早く 知る必要があります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7D869C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F5722"/>
                </a:solidFill>
                <a:latin typeface="Calibri"/>
              </a:rPr>
              <a:t>01  でも...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答えは Windows のログの中にある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457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852160" cy="4572000"/>
          </a:xfrm>
          <a:prstGeom prst="roundRect">
            <a:avLst/>
          </a:prstGeom>
          <a:solidFill>
            <a:srgbClr val="080A10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73152" cy="4572000"/>
          </a:xfrm>
          <a:prstGeom prst="rect">
            <a:avLst/>
          </a:prstGeom>
          <a:solidFill>
            <a:srgbClr val="7D86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D869C"/>
                </a:solidFill>
                <a:latin typeface="Consolas"/>
              </a:rPr>
              <a:t>Windows のログ (実例)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D869C"/>
                </a:solidFill>
                <a:latin typeface="Consolas"/>
              </a:rPr>
              <a:t>2026-05-21 13:42:15  EID 4624  Logon Type 3  user=alice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D869C"/>
                </a:solidFill>
                <a:latin typeface="Consolas"/>
              </a:rPr>
              <a:t>2026-05-21 13:42:16  EID 4688  rundll32.exe  comsvcs.dll,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2927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D869C"/>
                </a:solidFill>
                <a:latin typeface="Consolas"/>
              </a:rPr>
              <a:t>2026-05-21 13:42:17  EID 1     ProcessGuid {6BBF237A-CAFB...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82111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D869C"/>
                </a:solidFill>
                <a:latin typeface="Consolas"/>
              </a:rPr>
              <a:t>2026-05-21 13:42:17  EID 10    TargetImage lsass.exe  Acc...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11295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D869C"/>
                </a:solidFill>
                <a:latin typeface="Consolas"/>
              </a:rPr>
              <a:t>2026-05-21 13:42:18  EID 4104  $ScriptBlockText FromBase6...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40479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D869C"/>
                </a:solidFill>
                <a:latin typeface="Consolas"/>
              </a:rPr>
              <a:t>2026-05-21 13:42:18  EID 7045  ServiceName UpdaterSvc  Img...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169663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D869C"/>
                </a:solidFill>
                <a:latin typeface="Consolas"/>
              </a:rPr>
              <a:t>2026-05-21 13:42:19  EID 22    QueryName malicious-site.c...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98848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D869C"/>
                </a:solidFill>
                <a:latin typeface="Consolas"/>
              </a:rPr>
              <a:t>2026-05-21 13:42:20  EID 3     DestinationIp 185.220.101....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D869C"/>
                </a:solidFill>
                <a:latin typeface="Consolas"/>
              </a:rPr>
              <a:t>2026-05-21 13:42:21  EID 8     CreateRemoteThread  source...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157216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D869C"/>
                </a:solidFill>
                <a:latin typeface="Consolas"/>
              </a:rPr>
              <a:t>...                          (このあと数万件続く)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103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D8DEF0"/>
                </a:solidFill>
                <a:latin typeface="Calibri"/>
              </a:rPr>
              <a:t>1 台の PC 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6060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800" b="1" i="0">
                <a:solidFill>
                  <a:srgbClr val="FFAB40"/>
                </a:solidFill>
                <a:latin typeface="Cambria"/>
              </a:rPr>
              <a:t>数万件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6118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D8DEF0"/>
                </a:solidFill>
                <a:latin typeface="Calibri"/>
              </a:rPr>
              <a:t>のログが残っています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4572000"/>
            <a:ext cx="5029200" cy="1737360"/>
          </a:xfrm>
          <a:prstGeom prst="roundRect">
            <a:avLst/>
          </a:prstGeom>
          <a:solidFill>
            <a:srgbClr val="1F2942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4572000"/>
            <a:ext cx="73152" cy="1737360"/>
          </a:xfrm>
          <a:prstGeom prst="rect">
            <a:avLst/>
          </a:prstGeom>
          <a:solidFill>
            <a:srgbClr val="FF1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0" y="4754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D8DEF0"/>
                </a:solidFill>
                <a:latin typeface="Calibri"/>
              </a:rPr>
              <a:t>これを 1 件ずつ読むのは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21208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FF1744"/>
                </a:solidFill>
                <a:latin typeface="Cambria"/>
              </a:rPr>
              <a:t>現実的に不可能。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5806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7D869C"/>
                </a:solidFill>
                <a:latin typeface="Calibri"/>
              </a:rPr>
              <a:t>→ 専門家が時間をかけても見落とす。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7D869C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F5722"/>
                </a:solidFill>
                <a:latin typeface="Calibri"/>
              </a:rPr>
              <a:t>02  hayabusa-plus 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それを、ブラウザで見える形にしました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457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 i="0">
                <a:solidFill>
                  <a:srgbClr val="7D869C"/>
                </a:solidFill>
                <a:latin typeface="Calibri"/>
              </a:rPr>
              <a:t>数万件のログを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「人が読める形」に整理して、画面に並べます。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3566160" cy="2377440"/>
          </a:xfrm>
          <a:prstGeom prst="roundRect">
            <a:avLst/>
          </a:prstGeom>
          <a:solidFill>
            <a:srgbClr val="1F2942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657600"/>
            <a:ext cx="73152" cy="237744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393192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0" i="0">
                <a:solidFill>
                  <a:srgbClr val="FFAB40"/>
                </a:solidFill>
                <a:latin typeface="Calibri"/>
              </a:rPr>
              <a:t>🖥️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7091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mbria"/>
              </a:rPr>
              <a:t>ブラウザだけ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21208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外部にデータを送らない
オフラインで完結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3657600"/>
            <a:ext cx="3566160" cy="2377440"/>
          </a:xfrm>
          <a:prstGeom prst="roundRect">
            <a:avLst/>
          </a:prstGeom>
          <a:solidFill>
            <a:srgbClr val="1F2942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59" y="3657600"/>
            <a:ext cx="73152" cy="237744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79" y="393192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0" i="0">
                <a:solidFill>
                  <a:srgbClr val="FFAB40"/>
                </a:solidFill>
                <a:latin typeface="Calibri"/>
              </a:rPr>
              <a:t>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7091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mbria"/>
              </a:rPr>
              <a:t>インストール簡単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521208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Python があれば動く
専用アプリ不要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657600"/>
            <a:ext cx="3566160" cy="2377440"/>
          </a:xfrm>
          <a:prstGeom prst="roundRect">
            <a:avLst/>
          </a:prstGeom>
          <a:solidFill>
            <a:srgbClr val="1F2942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3657600"/>
            <a:ext cx="73152" cy="237744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393192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0" i="0">
                <a:solidFill>
                  <a:srgbClr val="FFAB40"/>
                </a:solidFill>
                <a:latin typeface="Calibri"/>
              </a:rPr>
              <a:t>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7091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mbria"/>
              </a:rPr>
              <a:t>OSS で公開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521208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誰でも使える
GitHub で配布中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7D869C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F5722"/>
                </a:solidFill>
                <a:latin typeface="Calibri"/>
              </a:rPr>
              <a:t>03  機能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①  「どこから調べるべきか」が分かる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457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D8DEF0"/>
                </a:solidFill>
                <a:latin typeface="Calibri"/>
              </a:rPr>
              <a:t>会社のすべての PC 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「危険度」順に並べます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D8DEF0"/>
                </a:solidFill>
                <a:latin typeface="Calibri"/>
              </a:rPr>
              <a:t>「どの PC から手を付ければいいか」が、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FFAB40"/>
                </a:solidFill>
                <a:latin typeface="Calibri"/>
              </a:rPr>
              <a:t>一目で分かります。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54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💡 危険度は、過去の検出履歴から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    自動計算 (重大度・件数・直近性で重み付け)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783080"/>
            <a:ext cx="5029200" cy="457200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1783080"/>
            <a:ext cx="73152" cy="457200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D869C"/>
                </a:solidFill>
                <a:latin typeface="Calibri"/>
              </a:rPr>
              <a:t>ホスト 危険度ランキング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2468880"/>
            <a:ext cx="4663440" cy="713232"/>
          </a:xfrm>
          <a:prstGeom prst="rect">
            <a:avLst/>
          </a:prstGeom>
          <a:solidFill>
            <a:srgbClr val="1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5420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D8DEF0"/>
                </a:solidFill>
                <a:latin typeface="Consolas"/>
              </a:rPr>
              <a:t>LAPTOP-A12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25420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400" b="1" i="0">
                <a:solidFill>
                  <a:srgbClr val="FF1744"/>
                </a:solidFill>
                <a:latin typeface="Cambria"/>
              </a:rPr>
              <a:t>87.7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2907792"/>
            <a:ext cx="2004822" cy="164592"/>
          </a:xfrm>
          <a:prstGeom prst="rect">
            <a:avLst/>
          </a:prstGeom>
          <a:solidFill>
            <a:srgbClr val="FF1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285292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FF1744"/>
                </a:solidFill>
                <a:latin typeface="Calibri"/>
              </a:rPr>
              <a:t>⚠ 最優先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3246120"/>
            <a:ext cx="4663440" cy="713232"/>
          </a:xfrm>
          <a:prstGeom prst="rect">
            <a:avLst/>
          </a:prstGeom>
          <a:solidFill>
            <a:srgbClr val="1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331927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D8DEF0"/>
                </a:solidFill>
                <a:latin typeface="Consolas"/>
              </a:rPr>
              <a:t>DESKTOP-B05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33192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400" b="1" i="0">
                <a:solidFill>
                  <a:srgbClr val="FF5252"/>
                </a:solidFill>
                <a:latin typeface="Cambria"/>
              </a:rPr>
              <a:t>52.3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3685032"/>
            <a:ext cx="1195578" cy="164592"/>
          </a:xfrm>
          <a:prstGeom prst="rect">
            <a:avLst/>
          </a:prstGeom>
          <a:solidFill>
            <a:srgbClr val="FF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0" y="4023360"/>
            <a:ext cx="4663440" cy="713232"/>
          </a:xfrm>
          <a:prstGeom prst="rect">
            <a:avLst/>
          </a:prstGeom>
          <a:solidFill>
            <a:srgbClr val="1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0" y="409651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D8DEF0"/>
                </a:solidFill>
                <a:latin typeface="Consolas"/>
              </a:rPr>
              <a:t>LAPTOP-C03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40965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400" b="1" i="0">
                <a:solidFill>
                  <a:srgbClr val="FFB300"/>
                </a:solidFill>
                <a:latin typeface="Cambria"/>
              </a:rPr>
              <a:t>28.9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4462272"/>
            <a:ext cx="660653" cy="164592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0" y="4800600"/>
            <a:ext cx="4663440" cy="713232"/>
          </a:xfrm>
          <a:prstGeom prst="rect">
            <a:avLst/>
          </a:prstGeom>
          <a:solidFill>
            <a:srgbClr val="1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0" y="487375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D8DEF0"/>
                </a:solidFill>
                <a:latin typeface="Consolas"/>
              </a:rPr>
              <a:t>PC-D17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48737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400" b="1" i="0">
                <a:solidFill>
                  <a:srgbClr val="42A5F5"/>
                </a:solidFill>
                <a:latin typeface="Cambria"/>
              </a:rPr>
              <a:t>21.7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0" y="5239512"/>
            <a:ext cx="496062" cy="164592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0" y="5577840"/>
            <a:ext cx="4663440" cy="713232"/>
          </a:xfrm>
          <a:prstGeom prst="rect">
            <a:avLst/>
          </a:prstGeom>
          <a:solidFill>
            <a:srgbClr val="1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0" y="56509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D8DEF0"/>
                </a:solidFill>
                <a:latin typeface="Consolas"/>
              </a:rPr>
              <a:t>WS-E08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56509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400" b="1" i="0">
                <a:solidFill>
                  <a:srgbClr val="42A5F5"/>
                </a:solidFill>
                <a:latin typeface="Cambria"/>
              </a:rPr>
              <a:t>18.1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20" y="6016752"/>
            <a:ext cx="413766" cy="164592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7D869C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F5722"/>
                </a:solidFill>
                <a:latin typeface="Calibri"/>
              </a:rPr>
              <a:t>04  機能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②  「何が起きているか」が分かる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457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D8DEF0"/>
                </a:solidFill>
                <a:latin typeface="Calibri"/>
              </a:rPr>
              <a:t>怪しい動きが見つかったら、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クリックするだけで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FFAB40"/>
                </a:solidFill>
                <a:latin typeface="Cambria"/>
              </a:rPr>
              <a:t>意味と対応方法を表示します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D8DEF0"/>
                </a:solidFill>
                <a:latin typeface="Calibri"/>
              </a:rPr>
              <a:t>従来は専門家が翻訳していた情報を、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43484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D8DEF0"/>
                </a:solidFill>
                <a:latin typeface="Calibri"/>
              </a:rPr>
              <a:t>日本語の解説でその場で表示します。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4924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💡 「次にすべきこと」も提示するので、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    初心者でも調査の進め方が分かります。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783080"/>
            <a:ext cx="5029200" cy="457200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1783080"/>
            <a:ext cx="73152" cy="4572000"/>
          </a:xfrm>
          <a:prstGeom prst="rect">
            <a:avLst/>
          </a:prstGeom>
          <a:solidFill>
            <a:srgbClr val="FF1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920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F1744"/>
                </a:solidFill>
                <a:latin typeface="Consolas"/>
              </a:rPr>
              <a:t>[重大]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874519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mbria"/>
              </a:rPr>
              <a:t>ID 情報の不正取得を検知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42316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F5722"/>
                </a:solidFill>
                <a:latin typeface="Calibri"/>
              </a:rPr>
              <a:t>📋 何を検知?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788920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本来アクセスしてはいけない
認証情報メモリ領域への
アクセスが行われた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74903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F5722"/>
                </a:solidFill>
                <a:latin typeface="Calibri"/>
              </a:rPr>
              <a:t>⚠ 重要度の意味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114800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今すぐ確認が必要なレベル。
攻撃が成功している可能性大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507492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F5722"/>
                </a:solidFill>
                <a:latin typeface="Calibri"/>
              </a:rPr>
              <a:t>→ 次にすべきこと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5440680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1. 該当 PC をネットから切断
2. 直前の操作履歴を確認
3. パスワードの一斉変更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7D869C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F5722"/>
                </a:solidFill>
                <a:latin typeface="Calibri"/>
              </a:rPr>
              <a:t>05  機能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③  「いつもと違う」を見つける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457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D8DEF0"/>
                </a:solidFill>
                <a:latin typeface="Calibri"/>
              </a:rPr>
              <a:t>個別のログが普通でも、全体の傾向で「おかしさ」を検出します。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2697480" cy="301752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73152" cy="30175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FFAB40"/>
                </a:solidFill>
                <a:latin typeface="Calibri"/>
              </a:rPr>
              <a:t>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3756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急増している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2423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平常の数十〜数千倍の
動きが急に発生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7D869C"/>
                </a:solidFill>
                <a:latin typeface="Calibri"/>
              </a:rPr>
              <a:t>例: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80060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7D869C"/>
                </a:solidFill>
                <a:latin typeface="Calibri"/>
              </a:rPr>
              <a:t>例: 大量のパスワード試行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468880"/>
            <a:ext cx="2697480" cy="301752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2468880"/>
            <a:ext cx="73152" cy="30175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26517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FFAB40"/>
                </a:solidFill>
                <a:latin typeface="Calibri"/>
              </a:rP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33756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広がっている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931920"/>
            <a:ext cx="2423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同じ動きが
複数の PC で同時発生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48006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7D869C"/>
                </a:solidFill>
                <a:latin typeface="Calibri"/>
              </a:rPr>
              <a:t>例: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80060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7D869C"/>
                </a:solidFill>
                <a:latin typeface="Calibri"/>
              </a:rPr>
              <a:t>例: マルウェアが横展開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2468880"/>
            <a:ext cx="2697480" cy="301752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2468880"/>
            <a:ext cx="73152" cy="30175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6517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FFAB40"/>
                </a:solidFill>
                <a:latin typeface="Calibri"/>
              </a:rPr>
              <a:t>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33756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急に静かに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31920"/>
            <a:ext cx="2423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普段活動している PC が
急にログを残さなくなる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8006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7D869C"/>
                </a:solidFill>
                <a:latin typeface="Calibri"/>
              </a:rPr>
              <a:t>例: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480060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7D869C"/>
                </a:solidFill>
                <a:latin typeface="Calibri"/>
              </a:rPr>
              <a:t>例: 攻撃者がログを消した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89720" y="2468880"/>
            <a:ext cx="2697480" cy="301752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89720" y="2468880"/>
            <a:ext cx="73152" cy="30175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72600" y="26517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FFAB40"/>
                </a:solidFill>
                <a:latin typeface="Calibri"/>
              </a:rPr>
              <a:t>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333756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時間外の活動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3931920"/>
            <a:ext cx="2423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深夜などの業務時間外に
重要な動きが発生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48006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7D869C"/>
                </a:solidFill>
                <a:latin typeface="Calibri"/>
              </a:rPr>
              <a:t>例: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480060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7D869C"/>
                </a:solidFill>
                <a:latin typeface="Calibri"/>
              </a:rPr>
              <a:t>例: 業務外を狙った侵入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669280"/>
            <a:ext cx="11064240" cy="868680"/>
          </a:xfrm>
          <a:prstGeom prst="roundRect">
            <a:avLst/>
          </a:prstGeom>
          <a:solidFill>
            <a:srgbClr val="1F2942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69280"/>
            <a:ext cx="73152" cy="8686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8978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FAB40"/>
                </a:solidFill>
                <a:latin typeface="Calibri"/>
              </a:rPr>
              <a:t>💡 実例: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58978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D8DEF0"/>
                </a:solidFill>
                <a:latin typeface="Calibri"/>
              </a:rPr>
              <a:t>ある PC で疑わしい動きが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60" y="589788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FFAB40"/>
                </a:solidFill>
                <a:latin typeface="Cambria"/>
              </a:rPr>
              <a:t>いつもの 2,492 倍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79" y="58978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D8DEF0"/>
                </a:solidFill>
                <a:latin typeface="Calibri"/>
              </a:rPr>
              <a:t>発生していたのを自動検出。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7D869C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F5722"/>
                </a:solidFill>
                <a:latin typeface="Calibri"/>
              </a:rPr>
              <a:t>06  機能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④  世界中の「悪いものリスト」と自動照合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457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D8DEF0"/>
                </a:solidFill>
                <a:latin typeface="Calibri"/>
              </a:rPr>
              <a:t>セキュリティ研究者が日々まとめている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「既知の悪いもの」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FFAB40"/>
                </a:solidFill>
                <a:latin typeface="Calibri"/>
              </a:rPr>
              <a:t>を 自動で取り込みます。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D8DEF0"/>
                </a:solidFill>
                <a:latin typeface="Calibri"/>
              </a:rPr>
              <a:t>もしあなたの PC 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5196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D8DEF0"/>
                </a:solidFill>
                <a:latin typeface="Calibri"/>
              </a:rPr>
              <a:t>それらに該当する動きがあれば、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1772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FF5722"/>
                </a:solidFill>
                <a:latin typeface="Calibri"/>
              </a:rPr>
              <a:t>即座に警告します。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💡 リストはボタン一発、または自動で更新。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    常に最新の脅威情報で守られます。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1783080"/>
            <a:ext cx="5029200" cy="4572000"/>
          </a:xfrm>
          <a:prstGeom prst="roundRect">
            <a:avLst/>
          </a:prstGeom>
          <a:solidFill>
            <a:srgbClr val="1F2942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1783080"/>
            <a:ext cx="73152" cy="457200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D869C"/>
                </a:solidFill>
                <a:latin typeface="Calibri"/>
              </a:rPr>
              <a:t>現在の取り込み実績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37744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200" b="1" i="0">
                <a:solidFill>
                  <a:srgbClr val="FFAB40"/>
                </a:solidFill>
                <a:latin typeface="Cambria"/>
              </a:rPr>
              <a:t>82,679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D8DEF0"/>
                </a:solidFill>
                <a:latin typeface="Calibri"/>
              </a:rPr>
              <a:t>件の「既知の悪」を保持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57200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• 悪性プログラムのハッシュ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457200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i="0">
                <a:solidFill>
                  <a:srgbClr val="FFAB40"/>
                </a:solidFill>
                <a:latin typeface="Calibri"/>
              </a:rPr>
              <a:t>約 4,400 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937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• 攻撃用 URL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493776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i="0">
                <a:solidFill>
                  <a:srgbClr val="FFAB40"/>
                </a:solidFill>
                <a:latin typeface="Calibri"/>
              </a:rPr>
              <a:t>約 78,000 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530352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• 攻撃者の通信先 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5303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i="0">
                <a:solidFill>
                  <a:srgbClr val="FFAB40"/>
                </a:solidFill>
                <a:latin typeface="Calibri"/>
              </a:rPr>
              <a:t>数件 (毎日更新)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7D869C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0" b="1" i="0">
                <a:solidFill>
                  <a:srgbClr val="FF5722"/>
                </a:solidFill>
                <a:latin typeface="Cambria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1">
                <a:solidFill>
                  <a:srgbClr val="D8DEF0"/>
                </a:solidFill>
                <a:latin typeface="Calibri"/>
              </a:rPr>
              <a:t>実際の画面で動かしてみます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7D869C"/>
                </a:solidFill>
                <a:latin typeface="Calibri"/>
              </a:rPr>
              <a:t>サンプルログを読み込み、調査の流れを見ていただきます。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7D869C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F5722"/>
                </a:solidFill>
                <a:latin typeface="Calibri"/>
              </a:rPr>
              <a:t>07  規模感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数字で見ると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457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697480" cy="365760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73152" cy="3657600"/>
          </a:xfrm>
          <a:prstGeom prst="rect">
            <a:avLst/>
          </a:prstGeom>
          <a:solidFill>
            <a:srgbClr val="FFAB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2697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7200" b="1" i="0">
                <a:solidFill>
                  <a:srgbClr val="FFAB40"/>
                </a:solidFill>
                <a:latin typeface="Cambria"/>
              </a:rPr>
              <a:t>82,679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D8DEF0"/>
                </a:solidFill>
                <a:latin typeface="Cambria"/>
              </a:rPr>
              <a:t>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8348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7D869C"/>
                </a:solidFill>
                <a:latin typeface="Calibri"/>
              </a:rPr>
              <a:t>既知の悪いものリスト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286000"/>
            <a:ext cx="2697480" cy="365760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2286000"/>
            <a:ext cx="73152" cy="3657600"/>
          </a:xfrm>
          <a:prstGeom prst="rect">
            <a:avLst/>
          </a:prstGeom>
          <a:solidFill>
            <a:srgbClr val="FF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2743200"/>
            <a:ext cx="2697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7200" b="1" i="0">
                <a:solidFill>
                  <a:srgbClr val="FF5252"/>
                </a:solidFill>
                <a:latin typeface="Cambria"/>
              </a:rPr>
              <a:t>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41148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D8DEF0"/>
                </a:solidFill>
                <a:latin typeface="Cambria"/>
              </a:rPr>
              <a:t>種類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98348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7D869C"/>
                </a:solidFill>
                <a:latin typeface="Calibri"/>
              </a:rPr>
              <a:t>対応する攻撃の手口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286000"/>
            <a:ext cx="2697480" cy="365760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2286000"/>
            <a:ext cx="73152" cy="36576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2743200"/>
            <a:ext cx="2697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7200" b="1" i="0">
                <a:solidFill>
                  <a:srgbClr val="42A5F5"/>
                </a:solidFill>
                <a:latin typeface="Cambria"/>
              </a:rPr>
              <a:t>4,000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1148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D8DEF0"/>
                </a:solidFill>
                <a:latin typeface="Cambria"/>
              </a:rPr>
              <a:t>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98348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7D869C"/>
                </a:solidFill>
                <a:latin typeface="Calibri"/>
              </a:rPr>
              <a:t>プログラムの規模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2286000"/>
            <a:ext cx="2697480" cy="365760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9720" y="2286000"/>
            <a:ext cx="73152" cy="3657600"/>
          </a:xfrm>
          <a:prstGeom prst="rect">
            <a:avLst/>
          </a:prstGeom>
          <a:solidFill>
            <a:srgbClr val="26C2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20" y="2743200"/>
            <a:ext cx="2697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7200" b="1" i="0">
                <a:solidFill>
                  <a:srgbClr val="26C281"/>
                </a:solidFill>
                <a:latin typeface="Cambria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41148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D8DEF0"/>
                </a:solidFill>
                <a:latin typeface="Cambria"/>
              </a:rPr>
              <a:t>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498348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7D869C"/>
                </a:solidFill>
                <a:latin typeface="Calibri"/>
              </a:rPr>
              <a:t>外部に必要な追加ソフト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1">
                <a:solidFill>
                  <a:srgbClr val="7D869C"/>
                </a:solidFill>
                <a:latin typeface="Calibri"/>
              </a:rPr>
              <a:t>個人で開発、すべて公開しています。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7D869C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5600" b="1" i="0">
                <a:solidFill>
                  <a:srgbClr val="FFFFFF"/>
                </a:solidFill>
                <a:latin typeface="Cambria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 i="1">
                <a:solidFill>
                  <a:srgbClr val="FFAB40"/>
                </a:solidFill>
                <a:latin typeface="Calibri"/>
              </a:rPr>
              <a:t>ご質問・フィードバックをお願いします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3657600"/>
            <a:ext cx="6675120" cy="155448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0" y="3657600"/>
            <a:ext cx="73152" cy="15544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379476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GitHub で公開中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114800"/>
            <a:ext cx="6217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FFAB40"/>
                </a:solidFill>
                <a:latin typeface="Consolas"/>
              </a:rPr>
              <a:t>github.com/Assy2005/hayabusa-plus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470916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D869C"/>
                </a:solidFill>
                <a:latin typeface="Calibri"/>
              </a:rPr>
              <a:t>どなたでも自由にお使いいただけます (OSS)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7D869C"/>
                </a:solidFill>
                <a:latin typeface="Calibri"/>
              </a:rPr>
              <a:t>今、お手元の PC でも試せます。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