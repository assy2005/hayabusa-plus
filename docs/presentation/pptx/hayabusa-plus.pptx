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本日は「OSS 解析エンジン Hayabusa の拡張による、誰でも使えるサイバー攻撃調査ツールの開発」というテーマで発表します。</a:t>
            </a:r>
          </a:p>
          <a:p>
            <a:r>
              <a:t>一言でいうと、プロの道具を“誰でも使える形”に作り変えた研究です。</a:t>
            </a:r>
          </a:p>
          <a:p>
            <a:r>
              <a:t>やったことは大きく 3 つ。①エンジン本体 (Rust) への新しい検知機能の追加、②攻撃を見抜く検知ルールの自作、③結果を読み解ける GUI の開発です。</a:t>
            </a:r>
          </a:p>
          <a:p>
            <a:r>
              <a:t>成果物はすべて GitHub で公開しています。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まず背景から。もし皆さんの会社がサイバー攻撃を受けたら、どうしますか。</a:t>
            </a:r>
          </a:p>
          <a:p>
            <a:r>
              <a:t>知りたいのは「どこから侵入されたか」「誰に何をされたか」「被害はどこまで広がったか」。しかもこれを“素早く”知る必要があります。対応が遅れるほど被害は広がるからです。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その答えは、実は Windows が残しているログの中にあります。ログオン、プロセス起動、通信 ── 攻撃の痕跡はすべて記録されている。</a:t>
            </a:r>
          </a:p>
          <a:p>
            <a:r>
              <a:t>ただ問題は“量”です。たった 1 台の PC でも数万件。これを人間が 1 件ずつ読むのは現実的に不可能で、専門家が時間をかけても見落とします。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そこで土台にしたのが、日本の Yamato Security が公開している無料ツール Hayabusa です。世界中の研究者が作った約 5,000 本の攻撃パターンと、数万件のログを数十秒で照合できる、実績あるツールです。</a:t>
            </a:r>
          </a:p>
          <a:p>
            <a:r>
              <a:t>ただ弱点があって、黒い画面でコマンドを打つ必要があり、結果は CSV 数万行、しかも英語と専門用語。「で、次どうすれば?」は教えてくれない。</a:t>
            </a:r>
          </a:p>
          <a:p>
            <a:r>
              <a:t>つまり“強力だが専門家にしか使えない”。ここを出発点にしました。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目的は明確で、この「専門家の道具」を「誰でも使える調査プラットフォーム」にすることです。</a:t>
            </a:r>
          </a:p>
          <a:p>
            <a:r>
              <a:t>方針は 3 つ。①見つける力を強くする (エンジン改造とルール自作)、②結果を読めるようにする (GUI)、③手元だけで完結させる (データを外に出さない・追加ソフト不要)。</a:t>
            </a:r>
          </a:p>
          <a:p>
            <a:r>
              <a:t>この 3 つが、この後の発表の章立てになります。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全体像です。グレーが既存の Hayabusa、青が私が開発した部分です。</a:t>
            </a:r>
          </a:p>
          <a:p>
            <a:r>
              <a:t>ログがエンジンで解析され、GUI を通して人が読む、という流れ。エンジンには中身を改造して新機能を追加し、下から「自作の検知ルール 13 本」と「悪いものリスト約 8 万件」を注ぎ込んでいます。GUI はゼロから約 8,000 行で作りました。</a:t>
            </a:r>
          </a:p>
          <a:p>
            <a:r>
              <a:t>では順に説明します。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つ目、エンジン本体の改造です。Hayabusa の「ルールの書き方」自体を拡張しました。</a:t>
            </a:r>
          </a:p>
          <a:p>
            <a:r>
              <a:t>具体的には、ルールに 1 行「このリストに載っていたら警告して」と書ける lookup という機能を、Rust のソースコードに追加しました。</a:t>
            </a:r>
          </a:p>
          <a:p>
            <a:r>
              <a:t>これで世界中で共有されている悪性ハッシュや URL のリスト約 8 万件を、ルールを書き換えずにそのまま検知に使えます。このリストの出どころと処理の流れを、次のページで説明します。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 lookup の内部フローです。例として、悪用される脆弱ドライバの検知 (BYOVD) を追います。</a:t>
            </a:r>
          </a:p>
          <a:p>
            <a:r>
              <a:t>まず出どころは loldrivers.io。世界中の研究者が集めた“悪用されるドライバ”のハッシュ一覧です。これを取得してテキストに整形し、1,929 件のリストとして保存します。</a:t>
            </a:r>
          </a:p>
          <a:p>
            <a:r>
              <a:t>エンジンは起動時に一度だけこれをメモリに読み込み、あとはログ 1 件ごとに、ドライバ読込イベントのハッシュをこの表と照合。一致すれば攻撃の痕跡として critical で通知します。</a:t>
            </a:r>
          </a:p>
          <a:p>
            <a:r>
              <a:t>ポイントは、リストが増えても照合速度は一定で、リストを更新するだけで最新の脅威に追従できることです。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つ目、検知ルールを 13 本自作しました。</a:t>
            </a:r>
          </a:p>
          <a:p>
            <a:r>
              <a:t>着眼点は「攻撃者は必ず証拠隠しをする。なら、消す行為そのものを検知すればいい」。代表的な 4 つが、ログの消去、復元データの削除、監視の無効化、パスワードの抜き取りです。</a:t>
            </a:r>
          </a:p>
          <a:p>
            <a:r>
              <a:t>誤検知を減らすため、1 つの特徴では鳴らさず、複数の特徴が同時に揃ったときだけ警告する設計にしています。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では、これらが実際にログの“どこ”を見ているか。</a:t>
            </a:r>
          </a:p>
          <a:p>
            <a:r>
              <a:t>例えばログの消去なら、プロセス起動ログで wevtutil.exe が cl (クリア) 付きで実行されたかを見ます。復元データ削除なら vssadmin の delete shadows ── これはランサムウェアの前兆です。監視の無効化は監査ポリシー変更のイベント 4719、パスワード抜き取りは rundll32 が comsvcs と MiniDump を使ったか。</a:t>
            </a:r>
          </a:p>
          <a:p>
            <a:r>
              <a:t>共通しているのは、マルウェア本体は姿を変えられても、これらの“目的に直結した行為”は変えにくい、という点。だからそこを見るんです。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つ目、結果を読めるようにする GUI をゼロから開発しました。</a:t>
            </a:r>
          </a:p>
          <a:p>
            <a:r>
              <a:t>検知をクリックすると「何が起きて、次にどうするか」を日本語で表示。どの PC から調べるべきかを自動採点して並べ替え、全体像はグラフで俯瞰できます。</a:t>
            </a:r>
          </a:p>
          <a:p>
            <a:r>
              <a:t>右が実際の画面です。すべてブラウザで動き、データは外部に送りません。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さらに、ルールでは書けない「いつもと違う」も検出できるよう、統計分析を自作しました。</a:t>
            </a:r>
          </a:p>
          <a:p>
            <a:r>
              <a:t>急増、複数 PC への拡散、急に静かになる、時間外の活動、の 4 種類です。</a:t>
            </a:r>
          </a:p>
          <a:p>
            <a:r>
              <a:t>ルールは既知の手口に強い一方、振る舞い分析は“未知の手口への気づき”になる。両者を組み合わせるのが狙いです。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ここから実際の画面でお見せします。サンプルログを読み込んで、調査の流れを見ていただきます。</a:t>
            </a:r>
          </a:p>
          <a:p>
            <a:r>
              <a:t>(デモ: スキャン実行 → ダッシュボードで全体把握 → 検知の日本語解説 → ホスト別の危険度ランキング、の順に見せる)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まとめます。エンジンに lookup という新しい文法を追加し、検知ルールを 13 本自作、結果を読み解く GUI を約 8,000 行で開発し、悪いものリスト約 8 万件を自動で取り込んで照合できるようにしました。</a:t>
            </a:r>
          </a:p>
          <a:p>
            <a:r>
              <a:t>今後は、時間の流れを追った相関分析 (「A の後に B が起きたら怪しい」) や、AI による検知ルールの自動生成に進めたいと考えています。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以上です。ありがとうございました。</a:t>
            </a:r>
          </a:p>
          <a:p>
            <a:r>
              <a:t>成果物はすべて GitHub で公開しているので、お手元の Windows PC のログでぜひ一度試してみてください。ご質問・フィードバックをお願いします。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(付録・Q&amp;A 用) 「13 本って具体的には?」と聞かれたら、このスライドを出してください。</a:t>
            </a:r>
          </a:p>
          <a:p>
            <a:r>
              <a:t>本編では代表的な 4 種類を紹介しましたが、実際は攻撃の流れに沿って 13 本を用意しています。「①外から入って動く → ②盗んで住み着く → ③監視を無力化 → ④証拠を消す」という順番で、それぞれの段階で出る特徴を捕まえます。</a:t>
            </a:r>
          </a:p>
          <a:p>
            <a:r>
              <a:t>赤が critical、橙が high です。気になるルールがあれば個別に説明できます。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 i="0">
                <a:solidFill>
                  <a:srgbClr val="CADCFC"/>
                </a:solidFill>
                <a:latin typeface="Cambria"/>
              </a:rPr>
              <a:t>OSS 解析エンジン「Hayabusa」の拡張による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誰でも使えるサイバー攻撃調査ツールの開発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1">
                <a:solidFill>
                  <a:srgbClr val="CADCFC"/>
                </a:solidFill>
                <a:latin typeface="Calibri"/>
              </a:rPr>
              <a:t>— サイバー攻撃の痕跡を、誰でも読めるように 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206240"/>
            <a:ext cx="6858000" cy="1554480"/>
          </a:xfrm>
          <a:prstGeom prst="roundRect">
            <a:avLst/>
          </a:prstGeom>
          <a:solidFill>
            <a:srgbClr val="273366"/>
          </a:solidFill>
          <a:ln w="9525">
            <a:solidFill>
              <a:srgbClr val="27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370832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🦀 エンジン本体 (Rust) に新しい検知機能を追加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4791456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📜 攻撃を見抜く検知ルールを 13 本自作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521208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🖥️ 結果を読み解ける GUI をゼロから開発 (約 8,000 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CADCFC"/>
                </a:solidFill>
                <a:latin typeface="Consolas"/>
              </a:rPr>
              <a:t>プロジェクト名: hayabusa-plus   /   github.com/Assy2005/hayabusa-plus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ADCFC"/>
                </a:solidFill>
                <a:latin typeface="Calibr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0" i="0">
                <a:solidFill>
                  <a:srgbClr val="CADCFC"/>
                </a:solidFill>
                <a:latin typeface="Calibri"/>
              </a:rPr>
              <a:t>もし、あなたの会社が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サイバー攻撃を受けたら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0" i="0">
                <a:solidFill>
                  <a:srgbClr val="CADCFC"/>
                </a:solidFill>
                <a:latin typeface="Calibri"/>
              </a:rPr>
              <a:t>...どうしますか?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069080"/>
            <a:ext cx="3200400" cy="1645920"/>
          </a:xfrm>
          <a:prstGeom prst="roundRect">
            <a:avLst/>
          </a:prstGeom>
          <a:solidFill>
            <a:srgbClr val="273366"/>
          </a:solidFill>
          <a:ln w="9525">
            <a:solidFill>
              <a:srgbClr val="27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2976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CADCFC"/>
                </a:solidFill>
                <a:latin typeface="Cambria"/>
              </a:rPr>
              <a:t>どこから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846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侵入された?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4069080"/>
            <a:ext cx="3200400" cy="1645920"/>
          </a:xfrm>
          <a:prstGeom prst="roundRect">
            <a:avLst/>
          </a:prstGeom>
          <a:solidFill>
            <a:srgbClr val="273366"/>
          </a:solidFill>
          <a:ln w="9525">
            <a:solidFill>
              <a:srgbClr val="27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42976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CADCFC"/>
                </a:solidFill>
                <a:latin typeface="Cambria"/>
              </a:rPr>
              <a:t>誰が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846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何をされた?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069080"/>
            <a:ext cx="3200400" cy="1645920"/>
          </a:xfrm>
          <a:prstGeom prst="roundRect">
            <a:avLst/>
          </a:prstGeom>
          <a:solidFill>
            <a:srgbClr val="273366"/>
          </a:solidFill>
          <a:ln w="9525">
            <a:solidFill>
              <a:srgbClr val="27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2976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CADCFC"/>
                </a:solidFill>
                <a:latin typeface="Cambria"/>
              </a:rPr>
              <a:t>被害は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846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どこまで広がった?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1">
                <a:solidFill>
                  <a:srgbClr val="CADCFC"/>
                </a:solidFill>
                <a:latin typeface="Calibri"/>
              </a:rPr>
              <a:t>これを 素早く 知る必要があります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CADCFC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F2937"/>
                </a:solidFill>
                <a:latin typeface="Cambria"/>
              </a:rPr>
              <a:t>答えは Windows のログの中にある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852160" cy="466344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Windows のログ (実例)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Consolas"/>
              </a:rPr>
              <a:t>2026-05-21 13:42:15  EID 4624  Logon Type 3  user=alice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Consolas"/>
              </a:rPr>
              <a:t>2026-05-21 13:42:16  EID 4688  rundll32.exe  comsvcs.dll,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008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Consolas"/>
              </a:rPr>
              <a:t>2026-05-21 13:42:17  EID 1     ProcessGuid {6BBF237A-CAFB...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Consolas"/>
              </a:rPr>
              <a:t>2026-05-21 13:42:17  EID 10    TargetImage lsass.exe  Acc...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Consolas"/>
              </a:rPr>
              <a:t>2026-05-21 13:42:18  EID 4104  $ScriptBlockText FromBase6...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Consolas"/>
              </a:rPr>
              <a:t>2026-05-21 13:42:18  EID 7045  ServiceName UpdaterSvc  Img...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9704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Consolas"/>
              </a:rPr>
              <a:t>2026-05-21 13:42:19  EID 22    QueryName malicious-site.c...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6460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Consolas"/>
              </a:rPr>
              <a:t>2026-05-21 13:42:20  EID 3     DestinationIp 185.220.101....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3951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Consolas"/>
              </a:rPr>
              <a:t>2026-05-21 13:42:21  EID 8     CreateRemoteThread  source...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14416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BD5E1"/>
                </a:solidFill>
                <a:latin typeface="Consolas"/>
              </a:rPr>
              <a:t>...                          (このあと数万件続く)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87451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1F2937"/>
                </a:solidFill>
                <a:latin typeface="Calibri"/>
              </a:rPr>
              <a:t>1 台の PC 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3774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800" b="1" i="0">
                <a:solidFill>
                  <a:srgbClr val="2563EB"/>
                </a:solidFill>
                <a:latin typeface="Cambria"/>
              </a:rPr>
              <a:t>数万件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611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1F2937"/>
                </a:solidFill>
                <a:latin typeface="Calibri"/>
              </a:rPr>
              <a:t>のログが残っています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480560"/>
            <a:ext cx="502920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4480560"/>
            <a:ext cx="73152" cy="1783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466344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これを 1 件ずつ読むのは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512064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DC2626"/>
                </a:solidFill>
                <a:latin typeface="Cambria"/>
              </a:rPr>
              <a:t>現実的に不可能。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760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5B6472"/>
                </a:solidFill>
                <a:latin typeface="Calibri"/>
              </a:rPr>
              <a:t>→ 専門家が時間をかけても見落とす。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既存技術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F2937"/>
                </a:solidFill>
                <a:latin typeface="Cambria"/>
              </a:rPr>
              <a:t>土台にした既存ツール: Hayabusa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5B6472"/>
                </a:solidFill>
                <a:latin typeface="Calibri"/>
              </a:rPr>
              <a:t>日本のセキュリティチーム Yamato Security が公開している無料ツール (OSS)。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48640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73152" cy="4023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F2937"/>
                </a:solidFill>
                <a:latin typeface="Cambria"/>
              </a:rPr>
              <a:t>✅ Hayabusa ができること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• 世界中の研究者が作った「攻撃の特徴パターン」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101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   (Sigma ルール・約 5,000 本) と照合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• 数万件のログを数十秒〜数分で全チェック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7880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   (Rust 製で高速)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• 世界中の調査現場で使われている実績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03120"/>
            <a:ext cx="548640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103120"/>
            <a:ext cx="73152" cy="4023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F2937"/>
                </a:solidFill>
                <a:latin typeface="Cambria"/>
              </a:rPr>
              <a:t>⚠ そのままでは専門家にしか使えない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26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• 黒い画面でコマンドを打つ必要がある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4930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• 結果は CSV ファイル数万行 — 結局「読めない」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05993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• 出力は英語 + 専門用語だらけ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62686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• 「で、次にどうすれば?」を教えてくれない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→ この「強力だが使いにくい」を出発点にしました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この開発で目指したこと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F2937"/>
                </a:solidFill>
                <a:latin typeface="Cambria"/>
              </a:rPr>
              <a:t>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 i="0">
                <a:solidFill>
                  <a:srgbClr val="5B6472"/>
                </a:solidFill>
                <a:latin typeface="Calibri"/>
              </a:rPr>
              <a:t>「専門家の道具」を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1F2937"/>
                </a:solidFill>
                <a:latin typeface="Cambria"/>
              </a:rPr>
              <a:t>「誰でも使える調査プラットフォーム」に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35661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474720"/>
            <a:ext cx="73152" cy="2468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2563EB"/>
                </a:solidFill>
                <a:latin typeface="Cambria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3075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F2937"/>
                </a:solidFill>
                <a:latin typeface="Cambria"/>
              </a:rPr>
              <a:t>見つける力を強くする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343400"/>
            <a:ext cx="30632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エンジン本体を改造して
新しい検知機能を追加 +
検知ルールを自作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474720"/>
            <a:ext cx="35661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3474720"/>
            <a:ext cx="73152" cy="2468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6576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2563EB"/>
                </a:solidFill>
                <a:latin typeface="Cambria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73075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F2937"/>
                </a:solidFill>
                <a:latin typeface="Cambria"/>
              </a:rPr>
              <a:t>結果を読めるようにする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343400"/>
            <a:ext cx="30632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ブラウザで見られる GUI を
ゼロから開発。日本語解説と
「次にすべきこと」を表示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474720"/>
            <a:ext cx="356616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3474720"/>
            <a:ext cx="73152" cy="2468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6576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2563EB"/>
                </a:solidFill>
                <a:latin typeface="Cambria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73075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F2937"/>
                </a:solidFill>
                <a:latin typeface="Cambria"/>
              </a:rPr>
              <a:t>手元だけで完結させる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343400"/>
            <a:ext cx="30632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データを外部に送らない。
追加ソフト無しで動く
(オフライン・依存ゼロ)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どこを開発したか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F2937"/>
                </a:solidFill>
                <a:latin typeface="Cambria"/>
              </a:rPr>
              <a:t>作ったものの全体像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0" y="457200"/>
            <a:ext cx="256032" cy="256032"/>
          </a:xfrm>
          <a:prstGeom prst="rect">
            <a:avLst/>
          </a:prstGeom>
          <a:solidFill>
            <a:srgbClr val="E9ECF2"/>
          </a:solidFill>
          <a:ln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4572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= 既存 OSS (土台)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457200"/>
            <a:ext cx="256032" cy="256032"/>
          </a:xfrm>
          <a:prstGeom prst="rect">
            <a:avLst/>
          </a:prstGeom>
          <a:solidFill>
            <a:srgbClr val="E8F0FE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D4ED8"/>
                </a:solidFill>
                <a:latin typeface="Calibri"/>
              </a:rPr>
              <a:t>= 今回開発した部分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21945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 i="0">
                <a:solidFill>
                  <a:srgbClr val="1F2937"/>
                </a:solidFill>
                <a:latin typeface="Calibri"/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F2937"/>
                </a:solidFill>
                <a:latin typeface="Calibri"/>
              </a:rPr>
              <a:t>Windows のログ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数万件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80360" y="2788920"/>
            <a:ext cx="502920" cy="365760"/>
          </a:xfrm>
          <a:prstGeom prst="rightArrow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40" y="2103120"/>
            <a:ext cx="3291840" cy="1737360"/>
          </a:xfrm>
          <a:prstGeom prst="roundRect">
            <a:avLst/>
          </a:prstGeom>
          <a:solidFill>
            <a:srgbClr val="E9ECF2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3042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Hayabusa エンジン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517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(既存 OSS・Rust 製)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3063239"/>
            <a:ext cx="2743200" cy="548640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306323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D4ED8"/>
                </a:solidFill>
                <a:latin typeface="Calibri"/>
              </a:rPr>
              <a:t>★ 中身を改造して新機能を追加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949440" y="2788920"/>
            <a:ext cx="502920" cy="365760"/>
          </a:xfrm>
          <a:prstGeom prst="rightArrow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2743200" cy="173736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26771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 i="0">
                <a:solidFill>
                  <a:srgbClr val="1F2937"/>
                </a:solidFill>
                <a:latin typeface="Calibri"/>
              </a:rPr>
              <a:t>🖥️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8163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調査用 GUI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200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ゼロから開発 (約 8,000 行)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469880" y="2788920"/>
            <a:ext cx="502920" cy="365760"/>
          </a:xfrm>
          <a:prstGeom prst="rightArrow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27080" y="24231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0" i="0">
                <a:solidFill>
                  <a:srgbClr val="1F2937"/>
                </a:solidFill>
                <a:latin typeface="Calibri"/>
              </a:rPr>
              <a:t>🧑‍💻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31089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調べる人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846320"/>
            <a:ext cx="2743200" cy="1371600"/>
          </a:xfrm>
          <a:prstGeom prst="roundRect">
            <a:avLst/>
          </a:prstGeom>
          <a:solidFill>
            <a:srgbClr val="E8F0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D4ED8"/>
                </a:solidFill>
                <a:latin typeface="Calibri"/>
              </a:rPr>
              <a:t>📜 自作の検知ルール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13 本 (痕跡隠蔽の検知など)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4846320"/>
            <a:ext cx="2743200" cy="1371600"/>
          </a:xfrm>
          <a:prstGeom prst="roundRect">
            <a:avLst/>
          </a:prstGeom>
          <a:solidFill>
            <a:srgbClr val="E8F0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D4ED8"/>
                </a:solidFill>
                <a:latin typeface="Calibri"/>
              </a:rPr>
              <a:t>🌐 悪いものリスト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約 8 万件を自動で取り込み</a:t>
            </a:r>
          </a:p>
        </p:txBody>
      </p:sp>
      <p:sp>
        <p:nvSpPr>
          <p:cNvPr id="33" name="Up Arrow 32"/>
          <p:cNvSpPr/>
          <p:nvPr/>
        </p:nvSpPr>
        <p:spPr>
          <a:xfrm>
            <a:off x="3474720" y="4069080"/>
            <a:ext cx="365760" cy="457200"/>
          </a:xfrm>
          <a:prstGeom prst="up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Up Arrow 33"/>
          <p:cNvSpPr/>
          <p:nvPr/>
        </p:nvSpPr>
        <p:spPr>
          <a:xfrm>
            <a:off x="6583680" y="4069080"/>
            <a:ext cx="365760" cy="457200"/>
          </a:xfrm>
          <a:prstGeom prst="up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開発内容 1 / 3   (Rust)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F2937"/>
                </a:solidFill>
                <a:latin typeface="Cambria"/>
              </a:rPr>
              <a:t>①  エンジン本体の改造 — 新しい文法を追加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Hayabusa の「ルールの書き方」自体を拡張しました。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ルールに 1 行、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i="0">
                <a:solidFill>
                  <a:srgbClr val="1D4ED8"/>
                </a:solidFill>
                <a:latin typeface="Cambria"/>
              </a:rPr>
              <a:t>「このリストに載っていたら警告して」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と書けるようにする機能 (lookup:) を、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エンジンのソースコード (Rust) に追加。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5760720" cy="1600200"/>
          </a:xfrm>
          <a:prstGeom prst="roundRect">
            <a:avLst/>
          </a:prstGeom>
          <a:solidFill>
            <a:srgbClr val="E8F0FE"/>
          </a:solidFill>
          <a:ln w="9525">
            <a:solidFill>
              <a:srgbClr val="E8F0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3659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💡 これで何が嬉しい?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38928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世界中で共有されている「悪いものリスト」(約 8 万件) を、
ルールを書き換えずにそのまま検知に使えるようになった。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691640"/>
            <a:ext cx="4983480" cy="310896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87451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自作ルールの実例 (簡略化)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4028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BD5E1"/>
                </a:solidFill>
                <a:latin typeface="Consolas"/>
              </a:rPr>
              <a:t>title: 危険なドライバの読み込みを検知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56489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DD3FC"/>
                </a:solidFill>
                <a:latin typeface="Consolas"/>
              </a:rPr>
              <a:t>lookup: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889504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DD3FC"/>
                </a:solidFill>
                <a:latin typeface="Consolas"/>
              </a:rPr>
              <a:t>  - name: lol_drivers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214116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DD3FC"/>
                </a:solidFill>
                <a:latin typeface="Consolas"/>
              </a:rPr>
              <a:t>    file: loldrivers.txt  # 悪い指紋 1,929 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538728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BD5E1"/>
                </a:solidFill>
                <a:latin typeface="Consolas"/>
              </a:rPr>
              <a:t>detection: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863339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DD3FC"/>
                </a:solidFill>
                <a:latin typeface="Consolas"/>
              </a:rPr>
              <a:t>  Hashes|lookup: lol_drivers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18795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4A3B8"/>
                </a:solidFill>
                <a:latin typeface="Consolas"/>
              </a:rPr>
              <a:t>           ↑ 追加した新しい文法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512564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BD5E1"/>
                </a:solidFill>
                <a:latin typeface="Consolas"/>
              </a:rPr>
              <a:t>level: critical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5029200"/>
            <a:ext cx="49834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502920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517550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この「悪い指紋リスト」は世界中の研究者が集めた公開情報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5504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(例: loldrivers.io の悪用ドライバ一覧)。出どころと処理の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86130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流れは次ページで説明します。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開発内容① の中身   (内部フロー)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F2937"/>
                </a:solidFill>
                <a:latin typeface="Cambria"/>
              </a:rPr>
              <a:t>lookup の内部フロー — リストはどこから来て、どう照合されるか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472"/>
                </a:solidFill>
                <a:latin typeface="Calibri"/>
              </a:rPr>
              <a:t>具体例: 「悪用される脆弱ドライバの読み込み (BYOVD)」を検知するまでの流れ。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20040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9424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2563EB"/>
                </a:solidFill>
                <a:latin typeface="Calibri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2860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F2937"/>
                </a:solidFill>
                <a:latin typeface="Cambria"/>
              </a:rPr>
              <a:t>loldrivers.io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34639"/>
            <a:ext cx="2788920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世界中の研究者が集めた
「悪用される脆弱ドライバ」の
ハッシュ一覧 (誰でも入手可・無料)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63016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2563EB"/>
                </a:solidFill>
                <a:latin typeface="Consolas"/>
              </a:rPr>
              <a:t>出どころ (Source)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03904" y="2852927"/>
            <a:ext cx="457200" cy="365760"/>
          </a:xfrm>
          <a:prstGeom prst="rightArrow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5968" y="2103120"/>
            <a:ext cx="320040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10312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249424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2563EB"/>
                </a:solidFill>
                <a:latin typeface="Calibri"/>
              </a:rPr>
              <a:t>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2860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F2937"/>
                </a:solidFill>
                <a:latin typeface="Cambria"/>
              </a:rPr>
              <a:t>取得して整形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834639"/>
            <a:ext cx="2788920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CSV を取得し、1 行 1 ハッシュの
テキストに変換して保存する
(GUI のボタン 1 つで実行)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63016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2563EB"/>
                </a:solidFill>
                <a:latin typeface="Consolas"/>
              </a:rPr>
              <a:t>→ loldrivers.txt (1,929 件)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71231" y="2852927"/>
            <a:ext cx="457200" cy="365760"/>
          </a:xfrm>
          <a:prstGeom prst="rightArrow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83296" y="2103120"/>
            <a:ext cx="320040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10312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2249424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2563EB"/>
                </a:solidFill>
                <a:latin typeface="Calibri"/>
              </a:rPr>
              <a:t>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22860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F2937"/>
                </a:solidFill>
                <a:latin typeface="Cambria"/>
              </a:rPr>
              <a:t>起動時に記憶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834639"/>
            <a:ext cx="2788920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エンジン起動時に一度だけ読み込み、
メモリ上の高速な表に保持する
(RwLock&lt;HashMap&gt;)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63016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2563EB"/>
                </a:solidFill>
                <a:latin typeface="Consolas"/>
              </a:rPr>
              <a:t>Rust・読み込みは起動時の 1 回だけ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897880" y="4069080"/>
            <a:ext cx="411480" cy="384048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1D4ED8"/>
                </a:solidFill>
                <a:latin typeface="Calibri"/>
              </a:rPr>
              <a:t>スキャン実行中 — ログを 1 件ずつ処理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4526280"/>
            <a:ext cx="4297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80160" y="45262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81328" y="4672584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2563EB"/>
                </a:solidFill>
                <a:latin typeface="Calibri"/>
              </a:rP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1408" y="47091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F2937"/>
                </a:solidFill>
                <a:latin typeface="Cambria"/>
              </a:rPr>
              <a:t>ログ 1 件ごとに照合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5257800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Sysmon EID 6 (ドライバ読込) の
ハッシュを、記憶した表と突合。
1 件あたりほぼ一瞬 (O(1))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650992" y="5029200"/>
            <a:ext cx="502920" cy="365760"/>
          </a:xfrm>
          <a:prstGeom prst="rightArrow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55080" y="4526280"/>
            <a:ext cx="4297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4526280"/>
            <a:ext cx="7315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4672584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DC2626"/>
                </a:solidFill>
                <a:latin typeface="Calibri"/>
              </a:rPr>
              <a:t>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8" y="47091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DC2626"/>
                </a:solidFill>
                <a:latin typeface="Cambria"/>
              </a:rPr>
              <a:t>一致したら critical 通知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4536" y="5257800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既知の悪用ドライバが読み込まれた
= BYOVD 攻撃の痕跡。
最高レベル (critical) で警告。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D4ED8"/>
                </a:solidFill>
                <a:latin typeface="Calibri"/>
              </a:rPr>
              <a:t>ポイント:  リストが何万件に増えても照合速度は一定。ルール本文は 1 行のまま、リスト側を更新するだけで最新の脅威に追従できる。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開発内容 2 / 3   (検知ルール)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F2937"/>
                </a:solidFill>
                <a:latin typeface="Cambria"/>
              </a:rPr>
              <a:t>②  攻撃を見抜く検知ルールを 13 本自作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1">
                <a:solidFill>
                  <a:srgbClr val="1D4ED8"/>
                </a:solidFill>
                <a:latin typeface="Calibri"/>
              </a:rPr>
              <a:t>着眼点: 攻撃者は必ず「証拠隠し」をする。なら、消す行為そのものを検知すればいい。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69748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73152" cy="2926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2563EB"/>
                </a:solidFill>
                <a:latin typeface="Calibri"/>
              </a:rPr>
              <a:t>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F2937"/>
                </a:solidFill>
                <a:latin typeface="Cambria"/>
              </a:rPr>
              <a:t>ログの消去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調査の手がかりになる
ログを消すコマンドの実行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B6472"/>
                </a:solidFill>
                <a:latin typeface="Calibri"/>
              </a:rPr>
              <a:t>(wevtutil 等)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69748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286000"/>
            <a:ext cx="73152" cy="2926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4688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2563EB"/>
                </a:solidFill>
                <a:latin typeface="Calibri"/>
              </a:rPr>
              <a:t>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1546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F2937"/>
                </a:solidFill>
                <a:latin typeface="Cambria"/>
              </a:rPr>
              <a:t>復元データの削除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6576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バックアップを消す行為
(ランサムウェアの前兆)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6177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B6472"/>
                </a:solidFill>
                <a:latin typeface="Calibri"/>
              </a:rPr>
              <a:t>(シャドウコピー削除)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269748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286000"/>
            <a:ext cx="73152" cy="2926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4688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2563EB"/>
                </a:solidFill>
                <a:latin typeface="Calibri"/>
              </a:rPr>
              <a:t>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546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F2937"/>
                </a:solidFill>
                <a:latin typeface="Cambria"/>
              </a:rPr>
              <a:t>監視の無効化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576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ログを記録する機能や
監査そのものを止める行為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177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B6472"/>
                </a:solidFill>
                <a:latin typeface="Calibri"/>
              </a:rPr>
              <a:t>(監査ポリシー改変)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286000"/>
            <a:ext cx="269748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2286000"/>
            <a:ext cx="73152" cy="2926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4688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2563EB"/>
                </a:solidFill>
                <a:latin typeface="Calibri"/>
              </a:rP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1546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F2937"/>
                </a:solidFill>
                <a:latin typeface="Cambria"/>
              </a:rPr>
              <a:t>パスワード抜き取り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6576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Windows が記憶している
認証情報への不正アクセス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6177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B6472"/>
                </a:solidFill>
                <a:latin typeface="Calibri"/>
              </a:rPr>
              <a:t>(LSASS ダンプ)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86400"/>
            <a:ext cx="11064240" cy="868680"/>
          </a:xfrm>
          <a:prstGeom prst="roundRect">
            <a:avLst/>
          </a:prstGeom>
          <a:solidFill>
            <a:srgbClr val="E8F0FE"/>
          </a:solidFill>
          <a:ln w="9525">
            <a:solidFill>
              <a:srgbClr val="E8F0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48640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誤検知を減らす工夫:  1 つの特徴では鳴らさず、複数の特徴が同時に揃ったときだけ警告する設計に。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開発内容② の中身   (検知のしくみ)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F2937"/>
                </a:solidFill>
                <a:latin typeface="Cambria"/>
              </a:rPr>
              <a:t>ルールが実際に「見ている」もの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472"/>
                </a:solidFill>
                <a:latin typeface="Calibri"/>
              </a:rPr>
              <a:t>攻撃者が必ず行う「証拠隠し・準備」を、ログのどの項目で捕まえているか。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D4ED8"/>
                </a:solidFill>
                <a:latin typeface="Calibri"/>
              </a:rPr>
              <a:t>検知する行為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38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D4ED8"/>
                </a:solidFill>
                <a:latin typeface="Calibri"/>
              </a:rPr>
              <a:t>見るログ (種類)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9385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D4ED8"/>
                </a:solidFill>
                <a:latin typeface="Calibri"/>
              </a:rPr>
              <a:t>注目する手がかり (ログの項目)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9385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D4ED8"/>
                </a:solidFill>
                <a:latin typeface="Calibri"/>
              </a:rPr>
              <a:t>ひとこと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64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73152" cy="8412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86000"/>
            <a:ext cx="5029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EA580C"/>
                </a:solidFill>
                <a:latin typeface="Calibri"/>
              </a:rPr>
              <a:t>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414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Cambria"/>
              </a:rPr>
              <a:t>ログの消去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9806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EA580C"/>
                </a:solidFill>
                <a:latin typeface="Consolas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86000"/>
            <a:ext cx="22860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プロセス起動
Sysmon EID 1 / Security 4688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286000"/>
            <a:ext cx="39319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D4ED8"/>
                </a:solidFill>
                <a:latin typeface="Consolas"/>
              </a:rPr>
              <a:t>Image:  …\wevtutil.exe
CommandLine:  " cl " (=消去)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286000"/>
            <a:ext cx="21031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消すコマンド
自体がログに残る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72968"/>
            <a:ext cx="11064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172968"/>
            <a:ext cx="73152" cy="8412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172968"/>
            <a:ext cx="5029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DC2626"/>
                </a:solidFill>
                <a:latin typeface="Calibri"/>
              </a:rPr>
              <a:t>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32841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Cambria"/>
              </a:rPr>
              <a:t>復元データの削除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850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172968"/>
            <a:ext cx="22860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プロセス起動
Sysmon EID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172968"/>
            <a:ext cx="39319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D4ED8"/>
                </a:solidFill>
                <a:latin typeface="Consolas"/>
              </a:rPr>
              <a:t>Image:  …\vssadmin.exe 等
CommandLine:  delete + shadows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172968"/>
            <a:ext cx="21031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ランサムウェア
の前兆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059936"/>
            <a:ext cx="11064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059936"/>
            <a:ext cx="73152" cy="8412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059936"/>
            <a:ext cx="5029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EA580C"/>
                </a:solidFill>
                <a:latin typeface="Calibri"/>
              </a:rPr>
              <a:t>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21538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Cambria"/>
              </a:rPr>
              <a:t>監視の無効化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5720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EA580C"/>
                </a:solidFill>
                <a:latin typeface="Consolas"/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059936"/>
            <a:ext cx="22860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監査ポリシー変更
Security EID 4719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059936"/>
            <a:ext cx="39319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D4ED8"/>
                </a:solidFill>
                <a:latin typeface="Consolas"/>
              </a:rPr>
              <a:t>AuditPolicyChanges:
Success/Failure removed
(かつ人間のアカウント)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4059936"/>
            <a:ext cx="21031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記録を止めた
瞬間の 1 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46904"/>
            <a:ext cx="11064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946904"/>
            <a:ext cx="73152" cy="8412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946904"/>
            <a:ext cx="5029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DC2626"/>
                </a:solidFill>
                <a:latin typeface="Calibri"/>
              </a:rPr>
              <a:t>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10235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Cambria"/>
              </a:rPr>
              <a:t>パスワード抜き取り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4589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DC2626"/>
                </a:solidFill>
                <a:latin typeface="Consolas"/>
              </a:rPr>
              <a:t>critical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4946904"/>
            <a:ext cx="22860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プロセス起動
Sysmon EID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4946904"/>
            <a:ext cx="39319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D4ED8"/>
                </a:solidFill>
                <a:latin typeface="Consolas"/>
              </a:rPr>
              <a:t>Image:  …\rundll32.exe
CommandLine:  comsvcs + MiniDump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4946904"/>
            <a:ext cx="21031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正規ツールの
悪用を見抜く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61304"/>
            <a:ext cx="11064240" cy="502920"/>
          </a:xfrm>
          <a:prstGeom prst="roundRect">
            <a:avLst/>
          </a:prstGeom>
          <a:solidFill>
            <a:srgbClr val="E8F0FE"/>
          </a:solidFill>
          <a:ln w="9525">
            <a:solidFill>
              <a:srgbClr val="E8F0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86130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共通の発想:  マルウェア本体は姿を変えられても、「ログ消去・復元点削除・監視停止・認証情報の窃取」は目的に直結し変えにくい。だから “行為そのもの” を見る。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開発内容 3 / 3   (Python + JavaScript 約 8,000 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F2937"/>
                </a:solidFill>
                <a:latin typeface="Cambria"/>
              </a:rPr>
              <a:t>③  結果を「読める」にする GUI をゼロから開発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484632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2563EB"/>
                </a:solidFill>
                <a:latin typeface="Calibri"/>
              </a:rPr>
              <a:t>🇯🇵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2938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F2937"/>
                </a:solidFill>
                <a:latin typeface="Cambria"/>
              </a:rPr>
              <a:t>日本語の解説付き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50008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検知をクリックすると「何が起きた?
次にどうする?」を日本語で表示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484632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33756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0215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2563EB"/>
                </a:solidFill>
                <a:latin typeface="Calibri"/>
              </a:rPr>
              <a:t>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8386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F2937"/>
                </a:solidFill>
                <a:latin typeface="Cambria"/>
              </a:rPr>
              <a:t>危険度ランキング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04487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どの PC から調べるべきかを
自動採点して並べ替え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92040"/>
            <a:ext cx="484632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89204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56631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2563EB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03834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F2937"/>
                </a:solidFill>
                <a:latin typeface="Cambria"/>
              </a:rPr>
              <a:t>全体が一目で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458968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重大度・時間の流れ・多い攻撃を
グラフで俯瞰</a:t>
            </a:r>
          </a:p>
        </p:txBody>
      </p:sp>
      <p:pic>
        <p:nvPicPr>
          <p:cNvPr id="20" name="Picture 19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620" y="1691640"/>
            <a:ext cx="4450080" cy="4572000"/>
          </a:xfrm>
          <a:prstGeom prst="rect">
            <a:avLst/>
          </a:prstGeom>
          <a:ln w="12700">
            <a:solidFill>
              <a:srgbClr val="DDE3EE"/>
            </a:solidFill>
          </a:ln>
          <a:effectLst/>
        </p:spPr>
      </p:pic>
      <p:sp>
        <p:nvSpPr>
          <p:cNvPr id="21" name="TextBox 20"/>
          <p:cNvSpPr txBox="1"/>
          <p:nvPr/>
        </p:nvSpPr>
        <p:spPr>
          <a:xfrm>
            <a:off x="5760720" y="6309360"/>
            <a:ext cx="5897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▲ 実際の画面 (ブラウザで動作・データは外部に送らない)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開発内容 +α   (自作の統計分析)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F2937"/>
                </a:solidFill>
                <a:latin typeface="Cambria"/>
              </a:rPr>
              <a:t>さらに: ルールでは書けない「いつもと違う」も検出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5B6472"/>
                </a:solidFill>
                <a:latin typeface="Calibri"/>
              </a:rPr>
              <a:t>ルールは 1 件ずつしか判定できない。そこで「全体の傾向」を統計で見る分析を自作しました。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269748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73152" cy="2606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86584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2563EB"/>
                </a:solidFill>
                <a:latin typeface="Calibri"/>
              </a:rPr>
              <a:t>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F2937"/>
                </a:solidFill>
                <a:latin typeface="Cambria"/>
              </a:rPr>
              <a:t>急増している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56432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平常の数十〜数千倍の
動きが急に発生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2511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B6472"/>
                </a:solidFill>
                <a:latin typeface="Calibri"/>
              </a:rPr>
              <a:t>例: 大量のパスワード試行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40280"/>
            <a:ext cx="269748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240280"/>
            <a:ext cx="73152" cy="2606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386584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2563EB"/>
                </a:solidFill>
                <a:latin typeface="Calibri"/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9718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F2937"/>
                </a:solidFill>
                <a:latin typeface="Cambria"/>
              </a:rPr>
              <a:t>広がっている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456432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同じ動きが
複数の PC で同時発生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32511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B6472"/>
                </a:solidFill>
                <a:latin typeface="Calibri"/>
              </a:rPr>
              <a:t>例: ウイルスが社内に拡大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40280"/>
            <a:ext cx="269748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240280"/>
            <a:ext cx="73152" cy="2606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386584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2563EB"/>
                </a:solidFill>
                <a:latin typeface="Calibri"/>
              </a:rPr>
              <a:t>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718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F2937"/>
                </a:solidFill>
                <a:latin typeface="Cambria"/>
              </a:rPr>
              <a:t>急に静かに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56432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普段活動している PC が
急にログを残さなくなる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32511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B6472"/>
                </a:solidFill>
                <a:latin typeface="Calibri"/>
              </a:rPr>
              <a:t>例: 攻撃者がログを消した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240280"/>
            <a:ext cx="269748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2240280"/>
            <a:ext cx="73152" cy="2606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386584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2563EB"/>
                </a:solidFill>
                <a:latin typeface="Calibri"/>
              </a:rPr>
              <a:t>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9718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F2937"/>
                </a:solidFill>
                <a:latin typeface="Cambria"/>
              </a:rPr>
              <a:t>時間外の活動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456432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深夜などの業務時間外に
重要な動きが発生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32511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B6472"/>
                </a:solidFill>
                <a:latin typeface="Calibri"/>
              </a:rPr>
              <a:t>例: 業務外を狙った侵入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29200"/>
            <a:ext cx="11064240" cy="1371600"/>
          </a:xfrm>
          <a:prstGeom prst="roundRect">
            <a:avLst/>
          </a:prstGeom>
          <a:solidFill>
            <a:srgbClr val="E8F0FE"/>
          </a:solidFill>
          <a:ln w="9525">
            <a:solidFill>
              <a:srgbClr val="E8F0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03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F2937"/>
                </a:solidFill>
                <a:latin typeface="Calibri"/>
              </a:rPr>
              <a:t>📏 ルールによる検知 (既存の方法)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14416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事前に知っている「悪い特徴」と一致したら警告。
既に知られている手口には確実で強い。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53328" y="5257800"/>
            <a:ext cx="16459" cy="914400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2303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D4ED8"/>
                </a:solidFill>
                <a:latin typeface="Calibri"/>
              </a:rPr>
              <a:t>📈 振舞いによる検知 (今回自作した分析)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14416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「普段との違い」に反応して知らせる。
ルールがまだ無い未知の手口への「気づき」になる。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0" b="1" i="0">
                <a:solidFill>
                  <a:srgbClr val="FFFFFF"/>
                </a:solidFill>
                <a:latin typeface="Cambria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77639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 i="1">
                <a:solidFill>
                  <a:srgbClr val="CADCFC"/>
                </a:solidFill>
                <a:latin typeface="Calibri"/>
              </a:rPr>
              <a:t>実際の画面で動かしてみます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サンプルログを読み込み、調査の流れを見ていただきます。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CADCFC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F2937"/>
                </a:solidFill>
                <a:latin typeface="Cambria"/>
              </a:rPr>
              <a:t>まとめ — 開発したもの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69748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73152" cy="32918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236829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1D4ED8"/>
                </a:solidFill>
                <a:latin typeface="Cambria"/>
              </a:rPr>
              <a:t>新文法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1F2937"/>
                </a:solidFill>
                <a:latin typeface="Cambria"/>
              </a:rPr>
              <a:t>lookup: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エンジン本体 (Rust) を改造し
リスト照合機能を追加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83080"/>
            <a:ext cx="269748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783080"/>
            <a:ext cx="73152" cy="32918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2194560"/>
            <a:ext cx="236829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EA580C"/>
                </a:solidFill>
                <a:latin typeface="Cambria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200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1F2937"/>
                </a:solidFill>
                <a:latin typeface="Cambria"/>
              </a:rPr>
              <a:t>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84048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攻撃を見抜く検知ルールを
自作 (痕跡隠蔽の検知など)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83080"/>
            <a:ext cx="269748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83080"/>
            <a:ext cx="73152" cy="329184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236829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CA8A04"/>
                </a:solidFill>
                <a:latin typeface="Cambria"/>
              </a:rPr>
              <a:t>約8,000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1F2937"/>
                </a:solidFill>
                <a:latin typeface="Cambria"/>
              </a:rPr>
              <a:t>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4048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結果を読み解く GUI を
ゼロから開発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783080"/>
            <a:ext cx="269748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783080"/>
            <a:ext cx="73152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2194560"/>
            <a:ext cx="236829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16A34A"/>
                </a:solidFill>
                <a:latin typeface="Cambria"/>
              </a:rPr>
              <a:t>約8万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200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1F2937"/>
                </a:solidFill>
                <a:latin typeface="Cambria"/>
              </a:rPr>
              <a:t>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84048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「悪いものリスト」を
自動で取り込んで照合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40680"/>
            <a:ext cx="11064240" cy="1005840"/>
          </a:xfrm>
          <a:prstGeom prst="roundRect">
            <a:avLst/>
          </a:prstGeom>
          <a:solidFill>
            <a:srgbClr val="E8F0FE"/>
          </a:solidFill>
          <a:ln w="9525">
            <a:solidFill>
              <a:srgbClr val="E8F0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🚀 今後:  時間の流れを追った相関分析 (「A の後に B が起きたら怪しい」) や、AI による検知ルールの自動生成へ。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5600" b="1" i="0">
                <a:solidFill>
                  <a:srgbClr val="FFFFFF"/>
                </a:solidFill>
                <a:latin typeface="Cambria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 i="1">
                <a:solidFill>
                  <a:srgbClr val="CADCFC"/>
                </a:solidFill>
                <a:latin typeface="Calibri"/>
              </a:rPr>
              <a:t>ご質問・フィードバックをお願いします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3566160"/>
            <a:ext cx="7040880" cy="2011680"/>
          </a:xfrm>
          <a:prstGeom prst="roundRect">
            <a:avLst/>
          </a:prstGeom>
          <a:solidFill>
            <a:srgbClr val="273366"/>
          </a:solidFill>
          <a:ln w="9525">
            <a:solidFill>
              <a:srgbClr val="27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3749039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成果物はすべて GitHub で公開しています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4114800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FFFFFF"/>
                </a:solidFill>
                <a:latin typeface="Consolas"/>
              </a:rPr>
              <a:t>github.com/Assy2005/hayabusa-plus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475488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ソースコード・検知ルール・設計書・この資料まで、どなたでも使えます (OSS)。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5120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CADCFC"/>
                </a:solidFill>
                <a:latin typeface="Calibri"/>
              </a:rPr>
              <a:t>zip をダウンロード → 展開 → 実行、ですぐ試せます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CADCFC"/>
                </a:solidFill>
                <a:latin typeface="Calibri"/>
              </a:rPr>
              <a:t>お手元の Windows PC のログで、ぜひ一度。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Q&amp;A 用   — 攻撃の流れに沿って整理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F2937"/>
                </a:solidFill>
                <a:latin typeface="Cambria"/>
              </a:rPr>
              <a:t>付録: 同梱している検知ルール 13 本</a:t>
            </a:r>
          </a:p>
        </p:txBody>
      </p:sp>
      <p:sp>
        <p:nvSpPr>
          <p:cNvPr id="5" name="Oval 4"/>
          <p:cNvSpPr/>
          <p:nvPr/>
        </p:nvSpPr>
        <p:spPr>
          <a:xfrm>
            <a:off x="8275320" y="502920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457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critical (最重要)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502920"/>
            <a:ext cx="146304" cy="14630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0152" y="4572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high (重要)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34924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73152" cy="2240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29384"/>
            <a:ext cx="49377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D4ED8"/>
                </a:solidFill>
                <a:latin typeface="Cambria"/>
              </a:rPr>
              <a:t>① 外から入る・動く・つながる</a:t>
            </a:r>
          </a:p>
        </p:txBody>
      </p:sp>
      <p:sp>
        <p:nvSpPr>
          <p:cNvPr id="12" name="Oval 11"/>
          <p:cNvSpPr/>
          <p:nvPr/>
        </p:nvSpPr>
        <p:spPr>
          <a:xfrm>
            <a:off x="822959" y="250545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2441448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既知のマルウェアそのものが実行された (MalwareBazaar 照合)</a:t>
            </a:r>
          </a:p>
        </p:txBody>
      </p:sp>
      <p:sp>
        <p:nvSpPr>
          <p:cNvPr id="14" name="Oval 13"/>
          <p:cNvSpPr/>
          <p:nvPr/>
        </p:nvSpPr>
        <p:spPr>
          <a:xfrm>
            <a:off x="822959" y="2889503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2825496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指令サーバ (C2) として知られる場所への通信 (URLhaus 照合)</a:t>
            </a:r>
          </a:p>
        </p:txBody>
      </p:sp>
      <p:sp>
        <p:nvSpPr>
          <p:cNvPr id="16" name="Oval 15"/>
          <p:cNvSpPr/>
          <p:nvPr/>
        </p:nvSpPr>
        <p:spPr>
          <a:xfrm>
            <a:off x="822959" y="3273551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209544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正規ツール certutil を悪用して外部からファイルを取得</a:t>
            </a:r>
          </a:p>
        </p:txBody>
      </p:sp>
      <p:sp>
        <p:nvSpPr>
          <p:cNvPr id="18" name="Oval 17"/>
          <p:cNvSpPr/>
          <p:nvPr/>
        </p:nvSpPr>
        <p:spPr>
          <a:xfrm>
            <a:off x="822959" y="3657599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3593591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悪用が知られた脆弱ドライバの読み込み (LOLDrivers 照合)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1783080"/>
            <a:ext cx="534924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1783080"/>
            <a:ext cx="73152" cy="2240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1929384"/>
            <a:ext cx="49377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D4ED8"/>
                </a:solidFill>
                <a:latin typeface="Cambria"/>
              </a:rPr>
              <a:t>② 盗む・住み着く</a:t>
            </a:r>
          </a:p>
        </p:txBody>
      </p:sp>
      <p:sp>
        <p:nvSpPr>
          <p:cNvPr id="23" name="Oval 22"/>
          <p:cNvSpPr/>
          <p:nvPr/>
        </p:nvSpPr>
        <p:spPr>
          <a:xfrm>
            <a:off x="6565392" y="250545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2441448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ログイン情報の抜き取り (LSASS のメモリダンプ)</a:t>
            </a:r>
          </a:p>
        </p:txBody>
      </p:sp>
      <p:sp>
        <p:nvSpPr>
          <p:cNvPr id="25" name="Oval 24"/>
          <p:cNvSpPr/>
          <p:nvPr/>
        </p:nvSpPr>
        <p:spPr>
          <a:xfrm>
            <a:off x="6565392" y="2889503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2825496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書き換え可能な場所のプログラムをサービス登録して常駐</a:t>
            </a:r>
          </a:p>
        </p:txBody>
      </p:sp>
      <p:sp>
        <p:nvSpPr>
          <p:cNvPr id="27" name="Oval 26"/>
          <p:cNvSpPr/>
          <p:nvPr/>
        </p:nvSpPr>
        <p:spPr>
          <a:xfrm>
            <a:off x="6565392" y="3273551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3209544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WMI で「出来事をきっかけに自動起動」を仕込む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14800"/>
            <a:ext cx="534924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114800"/>
            <a:ext cx="73152" cy="2240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261104"/>
            <a:ext cx="49377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D4ED8"/>
                </a:solidFill>
                <a:latin typeface="Cambria"/>
              </a:rPr>
              <a:t>③ 監視を無力化する</a:t>
            </a:r>
          </a:p>
        </p:txBody>
      </p:sp>
      <p:sp>
        <p:nvSpPr>
          <p:cNvPr id="32" name="Oval 31"/>
          <p:cNvSpPr/>
          <p:nvPr/>
        </p:nvSpPr>
        <p:spPr>
          <a:xfrm>
            <a:off x="822959" y="4837176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" y="4773168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PowerShell のウイルス検査 (AMSI) を無力化</a:t>
            </a:r>
          </a:p>
        </p:txBody>
      </p:sp>
      <p:sp>
        <p:nvSpPr>
          <p:cNvPr id="34" name="Oval 33"/>
          <p:cNvSpPr/>
          <p:nvPr/>
        </p:nvSpPr>
        <p:spPr>
          <a:xfrm>
            <a:off x="822959" y="5221224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" y="5157216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ログ記録サービスそのものを停止・無効化</a:t>
            </a:r>
          </a:p>
        </p:txBody>
      </p:sp>
      <p:sp>
        <p:nvSpPr>
          <p:cNvPr id="36" name="Oval 35"/>
          <p:cNvSpPr/>
          <p:nvPr/>
        </p:nvSpPr>
        <p:spPr>
          <a:xfrm>
            <a:off x="822959" y="5605272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" y="5541264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監査設定から記録項目を外して “見えなく” する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91072" y="4114800"/>
            <a:ext cx="534924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91072" y="4114800"/>
            <a:ext cx="73152" cy="2240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47104" y="4261104"/>
            <a:ext cx="49377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D4ED8"/>
                </a:solidFill>
                <a:latin typeface="Cambria"/>
              </a:rPr>
              <a:t>④ 証拠を消す</a:t>
            </a:r>
          </a:p>
        </p:txBody>
      </p:sp>
      <p:sp>
        <p:nvSpPr>
          <p:cNvPr id="41" name="Oval 40"/>
          <p:cNvSpPr/>
          <p:nvPr/>
        </p:nvSpPr>
        <p:spPr>
          <a:xfrm>
            <a:off x="6565392" y="4837176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4773168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wevtutil などでイベントログをまるごと消去</a:t>
            </a:r>
          </a:p>
        </p:txBody>
      </p:sp>
      <p:sp>
        <p:nvSpPr>
          <p:cNvPr id="43" name="Oval 42"/>
          <p:cNvSpPr/>
          <p:nvPr/>
        </p:nvSpPr>
        <p:spPr>
          <a:xfrm>
            <a:off x="6565392" y="5221224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84848" y="5157216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監査を変えた直後にログ消去、という “合わせ技”</a:t>
            </a:r>
          </a:p>
        </p:txBody>
      </p:sp>
      <p:sp>
        <p:nvSpPr>
          <p:cNvPr id="45" name="Oval 44"/>
          <p:cNvSpPr/>
          <p:nvPr/>
        </p:nvSpPr>
        <p:spPr>
          <a:xfrm>
            <a:off x="6565392" y="5605272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84848" y="5541264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復元用スナップショットの削除 (ランサムの前兆)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付録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