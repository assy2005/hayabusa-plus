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本日は「OSS 解析エンジン Hayabusa の拡張による、誰でも使えるサイバー攻撃調査ツールの開発」というテーマで発表します。</a:t>
            </a:r>
          </a:p>
          <a:p>
            <a:r>
              <a:t>一言でいうと、プロの道具を“誰でも使える形”に作り変えた研究です。</a:t>
            </a:r>
          </a:p>
          <a:p>
            <a:r>
              <a:t>やったことは大きく 3 つ。①エンジン本体 (Rust) への新しい検知機能の追加、②攻撃を見抜く検知ルールの自作、③結果を読み解ける GUI の開発です。</a:t>
            </a:r>
          </a:p>
          <a:p>
            <a:r>
              <a:t>成果物はすべて GitHub で公開しています。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まず背景から。もし皆さんの会社がサイバー攻撃を受けたら、どうしますか。</a:t>
            </a:r>
          </a:p>
          <a:p>
            <a:r>
              <a:t>知りたいのは「どこから侵入されたか」「誰に何をされたか」「被害はどこまで広がったか」。しかもこれを“素早く”知る必要があります。対応が遅れるほど被害は広がるからです。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その答えは、実は Windows が残しているログの中にあります。ログオン、プロセス起動、通信 ── 攻撃の痕跡はすべて記録されている。</a:t>
            </a:r>
          </a:p>
          <a:p>
            <a:r>
              <a:t>ただ問題は“量”です。たった 1 台の PC でも数万件。これを人間が 1 件ずつ読むのは現実的に不可能で、専門家が時間をかけても見落とします。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そこで土台にしたのが、日本の Yamato Security が公開している無料ツール Hayabusa です。世界中の研究者が作った約 5,000 本の攻撃パターンと、数万件のログを数十秒で照合できる、実績あるツールです。</a:t>
            </a:r>
          </a:p>
          <a:p>
            <a:r>
              <a:t>ただ弱点があって、黒い画面でコマンドを打つ必要があり、結果は CSV 数万行、しかも英語と専門用語。「で、次どうすれば?」は教えてくれない。</a:t>
            </a:r>
          </a:p>
          <a:p>
            <a:r>
              <a:t>つまり“強力だが専門家にしか使えない”。ここを出発点にしました。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目的は明確で、この「専門家の道具」を「誰でも使える調査プラットフォーム」にすることです。</a:t>
            </a:r>
          </a:p>
          <a:p>
            <a:r>
              <a:t>方針は 3 つ。①見つける力を強くする (エンジン改造とルール自作)、②結果を読めるようにする (GUI)、③手元だけで完結させる (データを外に出さない・追加ソフト不要)。</a:t>
            </a:r>
          </a:p>
          <a:p>
            <a:r>
              <a:t>この 3 つが、この後の発表の章立てになります。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全体像です。グレーが既存の Hayabusa、青が私が開発した部分です。</a:t>
            </a:r>
          </a:p>
          <a:p>
            <a:r>
              <a:t>ログがエンジンで解析され、GUI を通して人が読む、という流れ。エンジンには中身を改造して新機能を追加し、下から「自作の検知ルール 13 本」と「悪いものリスト約 8 万件」を注ぎ込んでいます。GUI はゼロから自作しました。</a:t>
            </a:r>
          </a:p>
          <a:p>
            <a:r>
              <a:t>では順に説明します。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つ目、エンジン本体の改造です。Hayabusa の「ルールの書き方」自体を拡張しました。</a:t>
            </a:r>
          </a:p>
          <a:p>
            <a:r>
              <a:t>具体的には、ルールに 1 行「このリストに載っていたら警告して」と書ける lookup という機能を、Rust のソースコードに追加しました。</a:t>
            </a:r>
          </a:p>
          <a:p>
            <a:r>
              <a:t>これで世界中で共有されている悪性ハッシュや URL のリスト約 8 万件を、ルールを書き換えずにそのまま検知に使えます。このリストの出どころと処理の流れを、次のページで説明します。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これが lookup の内部フローです。例として、悪用される脆弱ドライバの検知 (BYOVD) を追います。</a:t>
            </a:r>
          </a:p>
          <a:p>
            <a:r>
              <a:t>まず出どころは loldrivers.io。世界中の研究者が集めた“悪用されるドライバ”のハッシュ一覧です。これを取得してテキストに整形し、1,929 件のリストとして保存します。</a:t>
            </a:r>
          </a:p>
          <a:p>
            <a:r>
              <a:t>エンジンは起動時に一度だけこれをメモリに読み込み、あとはログ 1 件ごとに、ドライバ読込イベントのハッシュをこの表と照合。一致すれば攻撃の痕跡として critical で通知します。</a:t>
            </a:r>
          </a:p>
          <a:p>
            <a:r>
              <a:t>ポイントは、リストが増えても照合速度は一定で、リストを更新するだけで最新の脅威に追従できることです。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つ目、検知ルールを 13 本自作しました。</a:t>
            </a:r>
          </a:p>
          <a:p>
            <a:r>
              <a:t>着眼点は「攻撃者は必ず証拠隠しをする。なら、消す行為そのものを検知すればいい」。代表的な 4 つが、ログの消去、復元データの削除、監視の無効化、パスワードの抜き取りです。</a:t>
            </a:r>
          </a:p>
          <a:p>
            <a:r>
              <a:t>誤検知を減らすため、1 つの特徴では鳴らさず、複数の特徴が同時に揃ったときだけ警告する設計にしています。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では、これらが実際にログの“どこ”を見ているか。</a:t>
            </a:r>
          </a:p>
          <a:p>
            <a:r>
              <a:t>例えばログの消去なら、プロセス起動ログで wevtutil.exe が cl (クリア) 付きで実行されたかを見ます。復元データ削除なら vssadmin の delete shadows ── これはランサムウェアの前兆です。監視の無効化は監査ポリシー変更のイベント 4719、パスワード抜き取りは rundll32 が comsvcs と MiniDump を使ったか。</a:t>
            </a:r>
          </a:p>
          <a:p>
            <a:r>
              <a:t>共通しているのは、マルウェア本体は姿を変えられても、これらの“目的に直結した行為”は変えにくい、という点。だからそこを見るんです。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つ目、結果を読めるようにする GUI をゼロから開発しました。</a:t>
            </a:r>
          </a:p>
          <a:p>
            <a:r>
              <a:t>検知をクリックすると「何が起きて、次にどうするか」を日本語で表示。どの PC から調べるべきかを自動採点して並べ替え、全体像はグラフで俯瞰できます。</a:t>
            </a:r>
          </a:p>
          <a:p>
            <a:r>
              <a:t>右が実際の画面です。すべてブラウザで動き、データは外部に送りません。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さらに、ルールでは書けない「いつもと違う」も検出できるよう、統計分析を自作しました。</a:t>
            </a:r>
          </a:p>
          <a:p>
            <a:r>
              <a:t>急増、複数 PC への拡散、急に静かになる、時間外の活動、の 4 種類です。</a:t>
            </a:r>
          </a:p>
          <a:p>
            <a:r>
              <a:t>ルールは既知の手口に強い一方、振る舞い分析は“未知の手口への気づき”になる。両者を組み合わせるのが狙いです。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研究として大事な「で、効果は?」にお答えします。</a:t>
            </a:r>
          </a:p>
          <a:p>
            <a:r>
              <a:t>まず核心の自作 lookup 拡張です。既知の悪用ドライバのハッシュを仕込んだ検証用ログを読み込ませると、critical で検知できました。ルール本文は 1 行も変えず、外部のリスト側だけで検知できる ── この仕組みが狙いどおり動くことを確認できた、ということです。</a:t>
            </a:r>
          </a:p>
          <a:p>
            <a:r>
              <a:t>次に、公開されている攻撃サンプル 6 種で試すと、5 種で脅威を検知できました。ひとつ正直にお伝えすると、ここで鳴っているのは上流ルールと自作分の合算で、自作 13 ルールは対応する痕跡が出たときに鳴る設計です。ですので「すべてを自作ルールで捕まえた」とは申しません。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ここから実際の画面でお見せします。サンプルログを読み込んで、調査の流れを見ていただきます。</a:t>
            </a:r>
          </a:p>
          <a:p>
            <a:r>
              <a:t>(デモ: スキャン実行 → ダッシュボードで全体把握 → 検知の日本語解説 → ホスト別の危険度ランキング、の順に見せる)</a:t>
            </a:r>
          </a:p>
          <a:p>
            <a:r>
              <a:t>※ ライブが不調なときは、スライド中央の動画をクリックすれば同じ流れの録画 (約 38 秒・字幕つき) が再生されます。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まとめます。エンジンに lookup という新しい文法を追加し、検知ルールを 13 本自作、結果を読み解く GUI を新たに開発し、悪いものリスト約 8 万件を自動で取り込んで照合できるようにしました。</a:t>
            </a:r>
          </a:p>
          <a:p>
            <a:r>
              <a:t>今後は、時間の流れを追った相関分析 (「A の後に B が起きたら怪しい」) や、AI による検知ルールの自動生成に進めたいと考えています。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以上です。ありがとうございました。</a:t>
            </a:r>
          </a:p>
          <a:p>
            <a:r>
              <a:t>成果物はすべて GitHub で公開しているので、お手元の Windows PC のログでぜひ一度試してみてください。ご質問・フィードバックをお願いします。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(付録・Q&amp;A 用) 「13 本って具体的には?」と聞かれたら、このスライドを出してください。</a:t>
            </a:r>
          </a:p>
          <a:p>
            <a:r>
              <a:t>本編では代表的な 4 種類を紹介しましたが、実際は攻撃の流れに沿って 13 本を用意しています。「①外から入って動く → ②盗んで住み着く → ③監視を無力化 → ④証拠を消す」という順番で、それぞれの段階で出る特徴を捕まえます。</a:t>
            </a:r>
          </a:p>
          <a:p>
            <a:r>
              <a:t>赤が critical、橙が high です。気になるルールがあれば個別に説明できます。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5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0"/>
            <a:ext cx="10972800" cy="548640"/>
          </a:xfrm>
          <a:prstGeom prst="rect">
            <a:avLst/>
          </a:prstGeom>
          <a:noFill/>
        </p:spPr>
        <p:txBody>
          <a:bodyPr wrap="square" lIns="0" rIns="0" tIns="0" bIns="0" anchor="t">
            <a:spAutoFit/>
          </a:bodyPr>
          <a:lstStyle/>
          <a:p>
            <a:pPr algn="ctr">
              <a:lnSpc>
                <a:spcPct val="130000"/>
              </a:lnSpc>
            </a:pPr>
            <a:r>
              <a:rPr sz="2600" b="0" i="0">
                <a:solidFill>
                  <a:srgbClr val="CADCFC"/>
                </a:solidFill>
                <a:latin typeface="Cambria"/>
              </a:rPr>
              <a:t>OSS 解析エンジン「Hayabusa」の拡張による</a:t>
            </a:r>
          </a:p>
        </p:txBody>
      </p:sp>
      <p:sp>
        <p:nvSpPr>
          <p:cNvPr id="4" name="TextBox 3"/>
          <p:cNvSpPr txBox="1"/>
          <p:nvPr/>
        </p:nvSpPr>
        <p:spPr>
          <a:xfrm>
            <a:off x="548640" y="1965960"/>
            <a:ext cx="10972800" cy="914400"/>
          </a:xfrm>
          <a:prstGeom prst="rect">
            <a:avLst/>
          </a:prstGeom>
          <a:noFill/>
        </p:spPr>
        <p:txBody>
          <a:bodyPr wrap="square" lIns="0" rIns="0" tIns="0" bIns="0" anchor="t">
            <a:spAutoFit/>
          </a:bodyPr>
          <a:lstStyle/>
          <a:p>
            <a:pPr algn="ctr">
              <a:lnSpc>
                <a:spcPct val="130000"/>
              </a:lnSpc>
            </a:pPr>
            <a:r>
              <a:rPr sz="4000" b="1" i="0">
                <a:solidFill>
                  <a:srgbClr val="FFFFFF"/>
                </a:solidFill>
                <a:latin typeface="Cambria"/>
              </a:rPr>
              <a:t>誰でも使えるサイバー攻撃調査ツールの開発</a:t>
            </a:r>
          </a:p>
        </p:txBody>
      </p:sp>
      <p:sp>
        <p:nvSpPr>
          <p:cNvPr id="5" name="TextBox 4"/>
          <p:cNvSpPr txBox="1"/>
          <p:nvPr/>
        </p:nvSpPr>
        <p:spPr>
          <a:xfrm>
            <a:off x="548640" y="3246120"/>
            <a:ext cx="10972800" cy="548640"/>
          </a:xfrm>
          <a:prstGeom prst="rect">
            <a:avLst/>
          </a:prstGeom>
          <a:noFill/>
        </p:spPr>
        <p:txBody>
          <a:bodyPr wrap="square" lIns="0" rIns="0" tIns="0" bIns="0" anchor="t">
            <a:spAutoFit/>
          </a:bodyPr>
          <a:lstStyle/>
          <a:p>
            <a:pPr algn="ctr">
              <a:lnSpc>
                <a:spcPct val="130000"/>
              </a:lnSpc>
            </a:pPr>
            <a:r>
              <a:rPr sz="2000" b="0" i="1">
                <a:solidFill>
                  <a:srgbClr val="CADCFC"/>
                </a:solidFill>
                <a:latin typeface="Calibri"/>
              </a:rPr>
              <a:t>— サイバー攻撃の痕跡を、誰でも読めるように —</a:t>
            </a:r>
          </a:p>
        </p:txBody>
      </p:sp>
      <p:sp>
        <p:nvSpPr>
          <p:cNvPr id="6" name="Rounded Rectangle 5"/>
          <p:cNvSpPr/>
          <p:nvPr/>
        </p:nvSpPr>
        <p:spPr>
          <a:xfrm>
            <a:off x="2651760" y="4206240"/>
            <a:ext cx="6858000" cy="1554480"/>
          </a:xfrm>
          <a:prstGeom prst="roundRect">
            <a:avLst/>
          </a:prstGeom>
          <a:solidFill>
            <a:srgbClr val="273366"/>
          </a:solidFill>
          <a:ln w="9525">
            <a:solidFill>
              <a:srgbClr val="2733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63240" y="4370832"/>
            <a:ext cx="6217920" cy="411480"/>
          </a:xfrm>
          <a:prstGeom prst="rect">
            <a:avLst/>
          </a:prstGeom>
          <a:noFill/>
        </p:spPr>
        <p:txBody>
          <a:bodyPr wrap="square" lIns="0" rIns="0" tIns="0" bIns="0" anchor="t">
            <a:spAutoFit/>
          </a:bodyPr>
          <a:lstStyle/>
          <a:p>
            <a:pPr algn="l">
              <a:lnSpc>
                <a:spcPct val="130000"/>
              </a:lnSpc>
            </a:pPr>
            <a:r>
              <a:rPr sz="1400" b="0" i="0">
                <a:solidFill>
                  <a:srgbClr val="FFFFFF"/>
                </a:solidFill>
                <a:latin typeface="Calibri"/>
              </a:rPr>
              <a:t>🦀 エンジン本体 (Rust) に新しい検知機能を追加</a:t>
            </a:r>
          </a:p>
        </p:txBody>
      </p:sp>
      <p:sp>
        <p:nvSpPr>
          <p:cNvPr id="8" name="TextBox 7"/>
          <p:cNvSpPr txBox="1"/>
          <p:nvPr/>
        </p:nvSpPr>
        <p:spPr>
          <a:xfrm>
            <a:off x="3063240" y="4791456"/>
            <a:ext cx="6217920" cy="411480"/>
          </a:xfrm>
          <a:prstGeom prst="rect">
            <a:avLst/>
          </a:prstGeom>
          <a:noFill/>
        </p:spPr>
        <p:txBody>
          <a:bodyPr wrap="square" lIns="0" rIns="0" tIns="0" bIns="0" anchor="t">
            <a:spAutoFit/>
          </a:bodyPr>
          <a:lstStyle/>
          <a:p>
            <a:pPr algn="l">
              <a:lnSpc>
                <a:spcPct val="130000"/>
              </a:lnSpc>
            </a:pPr>
            <a:r>
              <a:rPr sz="1400" b="0" i="0">
                <a:solidFill>
                  <a:srgbClr val="FFFFFF"/>
                </a:solidFill>
                <a:latin typeface="Calibri"/>
              </a:rPr>
              <a:t>📜 攻撃を見抜く検知ルールを 13 本自作</a:t>
            </a:r>
          </a:p>
        </p:txBody>
      </p:sp>
      <p:sp>
        <p:nvSpPr>
          <p:cNvPr id="9" name="TextBox 8"/>
          <p:cNvSpPr txBox="1"/>
          <p:nvPr/>
        </p:nvSpPr>
        <p:spPr>
          <a:xfrm>
            <a:off x="3063240" y="5212080"/>
            <a:ext cx="6217920" cy="411480"/>
          </a:xfrm>
          <a:prstGeom prst="rect">
            <a:avLst/>
          </a:prstGeom>
          <a:noFill/>
        </p:spPr>
        <p:txBody>
          <a:bodyPr wrap="square" lIns="0" rIns="0" tIns="0" bIns="0" anchor="t">
            <a:spAutoFit/>
          </a:bodyPr>
          <a:lstStyle/>
          <a:p>
            <a:pPr algn="l">
              <a:lnSpc>
                <a:spcPct val="130000"/>
              </a:lnSpc>
            </a:pPr>
            <a:r>
              <a:rPr sz="1400" b="0" i="0">
                <a:solidFill>
                  <a:srgbClr val="FFFFFF"/>
                </a:solidFill>
                <a:latin typeface="Calibri"/>
              </a:rPr>
              <a:t>🖥️ 結果を読み解ける GUI をゼロから開発</a:t>
            </a:r>
          </a:p>
        </p:txBody>
      </p:sp>
      <p:sp>
        <p:nvSpPr>
          <p:cNvPr id="10" name="TextBox 9"/>
          <p:cNvSpPr txBox="1"/>
          <p:nvPr/>
        </p:nvSpPr>
        <p:spPr>
          <a:xfrm>
            <a:off x="548640" y="5943600"/>
            <a:ext cx="10972800" cy="365760"/>
          </a:xfrm>
          <a:prstGeom prst="rect">
            <a:avLst/>
          </a:prstGeom>
          <a:noFill/>
        </p:spPr>
        <p:txBody>
          <a:bodyPr wrap="square" lIns="0" rIns="0" tIns="0" bIns="0" anchor="t">
            <a:spAutoFit/>
          </a:bodyPr>
          <a:lstStyle/>
          <a:p>
            <a:pPr algn="ctr">
              <a:lnSpc>
                <a:spcPct val="130000"/>
              </a:lnSpc>
            </a:pPr>
            <a:r>
              <a:rPr sz="1600" b="0" i="0">
                <a:solidFill>
                  <a:srgbClr val="FFFFFF"/>
                </a:solidFill>
                <a:latin typeface="Calibri"/>
              </a:rPr>
              <a:t>発表者: 島崎朝日   ・   所属: 小林研究室</a:t>
            </a:r>
          </a:p>
        </p:txBody>
      </p:sp>
      <p:sp>
        <p:nvSpPr>
          <p:cNvPr id="11" name="TextBox 10"/>
          <p:cNvSpPr txBox="1"/>
          <p:nvPr/>
        </p:nvSpPr>
        <p:spPr>
          <a:xfrm>
            <a:off x="548640" y="6355080"/>
            <a:ext cx="10972800" cy="320040"/>
          </a:xfrm>
          <a:prstGeom prst="rect">
            <a:avLst/>
          </a:prstGeom>
          <a:noFill/>
        </p:spPr>
        <p:txBody>
          <a:bodyPr wrap="square" lIns="0" rIns="0" tIns="0" bIns="0" anchor="t">
            <a:spAutoFit/>
          </a:bodyPr>
          <a:lstStyle/>
          <a:p>
            <a:pPr algn="ctr">
              <a:lnSpc>
                <a:spcPct val="130000"/>
              </a:lnSpc>
            </a:pPr>
            <a:r>
              <a:rPr sz="1200" b="0" i="0">
                <a:solidFill>
                  <a:srgbClr val="CADCFC"/>
                </a:solidFill>
                <a:latin typeface="Consolas"/>
              </a:rPr>
              <a:t>プロジェクト名: hayabusa-plus   /   github.com/Assy2005/hayabusa-plus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5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2743200" cy="411480"/>
          </a:xfrm>
          <a:prstGeom prst="rect">
            <a:avLst/>
          </a:prstGeom>
          <a:noFill/>
        </p:spPr>
        <p:txBody>
          <a:bodyPr wrap="square" lIns="0" rIns="0" tIns="0" bIns="0" anchor="t">
            <a:spAutoFit/>
          </a:bodyPr>
          <a:lstStyle/>
          <a:p>
            <a:pPr algn="l">
              <a:lnSpc>
                <a:spcPct val="130000"/>
              </a:lnSpc>
            </a:pPr>
            <a:r>
              <a:rPr sz="1500" b="1" i="0">
                <a:solidFill>
                  <a:srgbClr val="CADCFC"/>
                </a:solidFill>
                <a:latin typeface="Calibri"/>
              </a:rPr>
              <a:t>背景</a:t>
            </a:r>
          </a:p>
        </p:txBody>
      </p:sp>
      <p:sp>
        <p:nvSpPr>
          <p:cNvPr id="4" name="TextBox 3"/>
          <p:cNvSpPr txBox="1"/>
          <p:nvPr/>
        </p:nvSpPr>
        <p:spPr>
          <a:xfrm>
            <a:off x="548640" y="1188720"/>
            <a:ext cx="10972800" cy="731520"/>
          </a:xfrm>
          <a:prstGeom prst="rect">
            <a:avLst/>
          </a:prstGeom>
          <a:noFill/>
        </p:spPr>
        <p:txBody>
          <a:bodyPr wrap="square" lIns="0" rIns="0" tIns="0" bIns="0" anchor="t">
            <a:spAutoFit/>
          </a:bodyPr>
          <a:lstStyle/>
          <a:p>
            <a:pPr algn="ctr">
              <a:lnSpc>
                <a:spcPct val="130000"/>
              </a:lnSpc>
            </a:pPr>
            <a:r>
              <a:rPr sz="3000" b="0" i="0">
                <a:solidFill>
                  <a:srgbClr val="CADCFC"/>
                </a:solidFill>
                <a:latin typeface="Calibri"/>
              </a:rPr>
              <a:t>もし、あなたの会社が</a:t>
            </a:r>
          </a:p>
        </p:txBody>
      </p:sp>
      <p:sp>
        <p:nvSpPr>
          <p:cNvPr id="5" name="TextBox 4"/>
          <p:cNvSpPr txBox="1"/>
          <p:nvPr/>
        </p:nvSpPr>
        <p:spPr>
          <a:xfrm>
            <a:off x="548640" y="1828800"/>
            <a:ext cx="10972800" cy="822960"/>
          </a:xfrm>
          <a:prstGeom prst="rect">
            <a:avLst/>
          </a:prstGeom>
          <a:noFill/>
        </p:spPr>
        <p:txBody>
          <a:bodyPr wrap="square" lIns="0" rIns="0" tIns="0" bIns="0" anchor="t">
            <a:spAutoFit/>
          </a:bodyPr>
          <a:lstStyle/>
          <a:p>
            <a:pPr algn="ctr">
              <a:lnSpc>
                <a:spcPct val="130000"/>
              </a:lnSpc>
            </a:pPr>
            <a:r>
              <a:rPr sz="4400" b="1" i="0">
                <a:solidFill>
                  <a:srgbClr val="FFFFFF"/>
                </a:solidFill>
                <a:latin typeface="Cambria"/>
              </a:rPr>
              <a:t>サイバー攻撃を受けたら</a:t>
            </a:r>
          </a:p>
        </p:txBody>
      </p:sp>
      <p:sp>
        <p:nvSpPr>
          <p:cNvPr id="6" name="TextBox 5"/>
          <p:cNvSpPr txBox="1"/>
          <p:nvPr/>
        </p:nvSpPr>
        <p:spPr>
          <a:xfrm>
            <a:off x="548640" y="2743200"/>
            <a:ext cx="10972800" cy="731520"/>
          </a:xfrm>
          <a:prstGeom prst="rect">
            <a:avLst/>
          </a:prstGeom>
          <a:noFill/>
        </p:spPr>
        <p:txBody>
          <a:bodyPr wrap="square" lIns="0" rIns="0" tIns="0" bIns="0" anchor="t">
            <a:spAutoFit/>
          </a:bodyPr>
          <a:lstStyle/>
          <a:p>
            <a:pPr algn="ctr">
              <a:lnSpc>
                <a:spcPct val="130000"/>
              </a:lnSpc>
            </a:pPr>
            <a:r>
              <a:rPr sz="3000" b="0" i="0">
                <a:solidFill>
                  <a:srgbClr val="CADCFC"/>
                </a:solidFill>
                <a:latin typeface="Calibri"/>
              </a:rPr>
              <a:t>...どうしますか?</a:t>
            </a:r>
          </a:p>
        </p:txBody>
      </p:sp>
      <p:sp>
        <p:nvSpPr>
          <p:cNvPr id="7" name="Rounded Rectangle 6"/>
          <p:cNvSpPr/>
          <p:nvPr/>
        </p:nvSpPr>
        <p:spPr>
          <a:xfrm>
            <a:off x="1280160" y="4069080"/>
            <a:ext cx="3200400" cy="1645920"/>
          </a:xfrm>
          <a:prstGeom prst="roundRect">
            <a:avLst/>
          </a:prstGeom>
          <a:solidFill>
            <a:srgbClr val="273366"/>
          </a:solidFill>
          <a:ln w="9525">
            <a:solidFill>
              <a:srgbClr val="2733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4297680"/>
            <a:ext cx="3200400" cy="502920"/>
          </a:xfrm>
          <a:prstGeom prst="rect">
            <a:avLst/>
          </a:prstGeom>
          <a:noFill/>
        </p:spPr>
        <p:txBody>
          <a:bodyPr wrap="square" lIns="0" rIns="0" tIns="0" bIns="0" anchor="t">
            <a:spAutoFit/>
          </a:bodyPr>
          <a:lstStyle/>
          <a:p>
            <a:pPr algn="ctr">
              <a:lnSpc>
                <a:spcPct val="130000"/>
              </a:lnSpc>
            </a:pPr>
            <a:r>
              <a:rPr sz="1800" b="1" i="0">
                <a:solidFill>
                  <a:srgbClr val="CADCFC"/>
                </a:solidFill>
                <a:latin typeface="Cambria"/>
              </a:rPr>
              <a:t>どこから</a:t>
            </a:r>
          </a:p>
        </p:txBody>
      </p:sp>
      <p:sp>
        <p:nvSpPr>
          <p:cNvPr id="9" name="TextBox 8"/>
          <p:cNvSpPr txBox="1"/>
          <p:nvPr/>
        </p:nvSpPr>
        <p:spPr>
          <a:xfrm>
            <a:off x="1280160" y="4846320"/>
            <a:ext cx="3200400" cy="548640"/>
          </a:xfrm>
          <a:prstGeom prst="rect">
            <a:avLst/>
          </a:prstGeom>
          <a:noFill/>
        </p:spPr>
        <p:txBody>
          <a:bodyPr wrap="square" lIns="0" rIns="0" tIns="0" bIns="0" anchor="t">
            <a:spAutoFit/>
          </a:bodyPr>
          <a:lstStyle/>
          <a:p>
            <a:pPr algn="ctr">
              <a:lnSpc>
                <a:spcPct val="130000"/>
              </a:lnSpc>
            </a:pPr>
            <a:r>
              <a:rPr sz="2200" b="1" i="0">
                <a:solidFill>
                  <a:srgbClr val="FFFFFF"/>
                </a:solidFill>
                <a:latin typeface="Cambria"/>
              </a:rPr>
              <a:t>侵入された?</a:t>
            </a:r>
          </a:p>
        </p:txBody>
      </p:sp>
      <p:sp>
        <p:nvSpPr>
          <p:cNvPr id="10" name="Rounded Rectangle 9"/>
          <p:cNvSpPr/>
          <p:nvPr/>
        </p:nvSpPr>
        <p:spPr>
          <a:xfrm>
            <a:off x="4846320" y="4069080"/>
            <a:ext cx="3200400" cy="1645920"/>
          </a:xfrm>
          <a:prstGeom prst="roundRect">
            <a:avLst/>
          </a:prstGeom>
          <a:solidFill>
            <a:srgbClr val="273366"/>
          </a:solidFill>
          <a:ln w="9525">
            <a:solidFill>
              <a:srgbClr val="2733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4297680"/>
            <a:ext cx="3200400" cy="502920"/>
          </a:xfrm>
          <a:prstGeom prst="rect">
            <a:avLst/>
          </a:prstGeom>
          <a:noFill/>
        </p:spPr>
        <p:txBody>
          <a:bodyPr wrap="square" lIns="0" rIns="0" tIns="0" bIns="0" anchor="t">
            <a:spAutoFit/>
          </a:bodyPr>
          <a:lstStyle/>
          <a:p>
            <a:pPr algn="ctr">
              <a:lnSpc>
                <a:spcPct val="130000"/>
              </a:lnSpc>
            </a:pPr>
            <a:r>
              <a:rPr sz="1800" b="1" i="0">
                <a:solidFill>
                  <a:srgbClr val="CADCFC"/>
                </a:solidFill>
                <a:latin typeface="Cambria"/>
              </a:rPr>
              <a:t>誰が</a:t>
            </a:r>
          </a:p>
        </p:txBody>
      </p:sp>
      <p:sp>
        <p:nvSpPr>
          <p:cNvPr id="12" name="TextBox 11"/>
          <p:cNvSpPr txBox="1"/>
          <p:nvPr/>
        </p:nvSpPr>
        <p:spPr>
          <a:xfrm>
            <a:off x="4846320" y="4846320"/>
            <a:ext cx="3200400" cy="548640"/>
          </a:xfrm>
          <a:prstGeom prst="rect">
            <a:avLst/>
          </a:prstGeom>
          <a:noFill/>
        </p:spPr>
        <p:txBody>
          <a:bodyPr wrap="square" lIns="0" rIns="0" tIns="0" bIns="0" anchor="t">
            <a:spAutoFit/>
          </a:bodyPr>
          <a:lstStyle/>
          <a:p>
            <a:pPr algn="ctr">
              <a:lnSpc>
                <a:spcPct val="130000"/>
              </a:lnSpc>
            </a:pPr>
            <a:r>
              <a:rPr sz="2200" b="1" i="0">
                <a:solidFill>
                  <a:srgbClr val="FFFFFF"/>
                </a:solidFill>
                <a:latin typeface="Cambria"/>
              </a:rPr>
              <a:t>何をされた?</a:t>
            </a:r>
          </a:p>
        </p:txBody>
      </p:sp>
      <p:sp>
        <p:nvSpPr>
          <p:cNvPr id="13" name="Rounded Rectangle 12"/>
          <p:cNvSpPr/>
          <p:nvPr/>
        </p:nvSpPr>
        <p:spPr>
          <a:xfrm>
            <a:off x="8412480" y="4069080"/>
            <a:ext cx="3200400" cy="1645920"/>
          </a:xfrm>
          <a:prstGeom prst="roundRect">
            <a:avLst/>
          </a:prstGeom>
          <a:solidFill>
            <a:srgbClr val="273366"/>
          </a:solidFill>
          <a:ln w="9525">
            <a:solidFill>
              <a:srgbClr val="2733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4297680"/>
            <a:ext cx="3200400" cy="502920"/>
          </a:xfrm>
          <a:prstGeom prst="rect">
            <a:avLst/>
          </a:prstGeom>
          <a:noFill/>
        </p:spPr>
        <p:txBody>
          <a:bodyPr wrap="square" lIns="0" rIns="0" tIns="0" bIns="0" anchor="t">
            <a:spAutoFit/>
          </a:bodyPr>
          <a:lstStyle/>
          <a:p>
            <a:pPr algn="ctr">
              <a:lnSpc>
                <a:spcPct val="130000"/>
              </a:lnSpc>
            </a:pPr>
            <a:r>
              <a:rPr sz="1800" b="1" i="0">
                <a:solidFill>
                  <a:srgbClr val="CADCFC"/>
                </a:solidFill>
                <a:latin typeface="Cambria"/>
              </a:rPr>
              <a:t>被害は</a:t>
            </a:r>
          </a:p>
        </p:txBody>
      </p:sp>
      <p:sp>
        <p:nvSpPr>
          <p:cNvPr id="15" name="TextBox 14"/>
          <p:cNvSpPr txBox="1"/>
          <p:nvPr/>
        </p:nvSpPr>
        <p:spPr>
          <a:xfrm>
            <a:off x="8412480" y="4846320"/>
            <a:ext cx="3200400" cy="548640"/>
          </a:xfrm>
          <a:prstGeom prst="rect">
            <a:avLst/>
          </a:prstGeom>
          <a:noFill/>
        </p:spPr>
        <p:txBody>
          <a:bodyPr wrap="square" lIns="0" rIns="0" tIns="0" bIns="0" anchor="t">
            <a:spAutoFit/>
          </a:bodyPr>
          <a:lstStyle/>
          <a:p>
            <a:pPr algn="ctr">
              <a:lnSpc>
                <a:spcPct val="130000"/>
              </a:lnSpc>
            </a:pPr>
            <a:r>
              <a:rPr sz="2200" b="1" i="0">
                <a:solidFill>
                  <a:srgbClr val="FFFFFF"/>
                </a:solidFill>
                <a:latin typeface="Cambria"/>
              </a:rPr>
              <a:t>どこまで広がった?</a:t>
            </a:r>
          </a:p>
        </p:txBody>
      </p:sp>
      <p:sp>
        <p:nvSpPr>
          <p:cNvPr id="16" name="TextBox 15"/>
          <p:cNvSpPr txBox="1"/>
          <p:nvPr/>
        </p:nvSpPr>
        <p:spPr>
          <a:xfrm>
            <a:off x="548640" y="6126480"/>
            <a:ext cx="10972800" cy="365760"/>
          </a:xfrm>
          <a:prstGeom prst="rect">
            <a:avLst/>
          </a:prstGeom>
          <a:noFill/>
        </p:spPr>
        <p:txBody>
          <a:bodyPr wrap="square" lIns="0" rIns="0" tIns="0" bIns="0" anchor="t">
            <a:spAutoFit/>
          </a:bodyPr>
          <a:lstStyle/>
          <a:p>
            <a:pPr algn="ctr">
              <a:lnSpc>
                <a:spcPct val="130000"/>
              </a:lnSpc>
            </a:pPr>
            <a:r>
              <a:rPr sz="1400" b="0" i="1">
                <a:solidFill>
                  <a:srgbClr val="CADCFC"/>
                </a:solidFill>
                <a:latin typeface="Calibri"/>
              </a:rPr>
              <a:t>これを 素早く 知る必要があります</a:t>
            </a:r>
          </a:p>
        </p:txBody>
      </p:sp>
      <p:sp>
        <p:nvSpPr>
          <p:cNvPr id="17" name="TextBox 16"/>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CADCFC"/>
                </a:solidFill>
                <a:latin typeface="Calibri"/>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背景</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答えは Windows のログの中にある</a:t>
            </a:r>
          </a:p>
        </p:txBody>
      </p:sp>
      <p:sp>
        <p:nvSpPr>
          <p:cNvPr id="5" name="Rounded Rectangle 4"/>
          <p:cNvSpPr/>
          <p:nvPr/>
        </p:nvSpPr>
        <p:spPr>
          <a:xfrm>
            <a:off x="548640" y="1600200"/>
            <a:ext cx="5852160" cy="4663440"/>
          </a:xfrm>
          <a:prstGeom prst="roundRect">
            <a:avLst/>
          </a:prstGeom>
          <a:solidFill>
            <a:srgbClr val="0F172A"/>
          </a:solidFill>
          <a:ln w="95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5303520" cy="274320"/>
          </a:xfrm>
          <a:prstGeom prst="rect">
            <a:avLst/>
          </a:prstGeom>
          <a:noFill/>
        </p:spPr>
        <p:txBody>
          <a:bodyPr wrap="square" lIns="0" rIns="0" tIns="0" bIns="0" anchor="t">
            <a:spAutoFit/>
          </a:bodyPr>
          <a:lstStyle/>
          <a:p>
            <a:pPr algn="l">
              <a:lnSpc>
                <a:spcPct val="130000"/>
              </a:lnSpc>
            </a:pPr>
            <a:r>
              <a:rPr sz="1000" b="0" i="0">
                <a:solidFill>
                  <a:srgbClr val="94A3B8"/>
                </a:solidFill>
                <a:latin typeface="Consolas"/>
              </a:rPr>
              <a:t>Windows のログ (実例)</a:t>
            </a:r>
          </a:p>
        </p:txBody>
      </p:sp>
      <p:sp>
        <p:nvSpPr>
          <p:cNvPr id="7" name="TextBox 6"/>
          <p:cNvSpPr txBox="1"/>
          <p:nvPr/>
        </p:nvSpPr>
        <p:spPr>
          <a:xfrm>
            <a:off x="914400" y="2240280"/>
            <a:ext cx="5303520" cy="292608"/>
          </a:xfrm>
          <a:prstGeom prst="rect">
            <a:avLst/>
          </a:prstGeom>
          <a:noFill/>
        </p:spPr>
        <p:txBody>
          <a:bodyPr wrap="square" lIns="0" rIns="0" tIns="0" bIns="0" anchor="t">
            <a:spAutoFit/>
          </a:bodyPr>
          <a:lstStyle/>
          <a:p>
            <a:pPr algn="l">
              <a:lnSpc>
                <a:spcPct val="130000"/>
              </a:lnSpc>
            </a:pPr>
            <a:r>
              <a:rPr sz="1000" b="0" i="0">
                <a:solidFill>
                  <a:srgbClr val="CBD5E1"/>
                </a:solidFill>
                <a:latin typeface="Consolas"/>
              </a:rPr>
              <a:t>2026-05-21 13:42:15  EID 4624  Logon Type 3  user=alice</a:t>
            </a:r>
          </a:p>
        </p:txBody>
      </p:sp>
      <p:sp>
        <p:nvSpPr>
          <p:cNvPr id="8" name="TextBox 7"/>
          <p:cNvSpPr txBox="1"/>
          <p:nvPr/>
        </p:nvSpPr>
        <p:spPr>
          <a:xfrm>
            <a:off x="914400" y="2615184"/>
            <a:ext cx="5303520" cy="292608"/>
          </a:xfrm>
          <a:prstGeom prst="rect">
            <a:avLst/>
          </a:prstGeom>
          <a:noFill/>
        </p:spPr>
        <p:txBody>
          <a:bodyPr wrap="square" lIns="0" rIns="0" tIns="0" bIns="0" anchor="t">
            <a:spAutoFit/>
          </a:bodyPr>
          <a:lstStyle/>
          <a:p>
            <a:pPr algn="l">
              <a:lnSpc>
                <a:spcPct val="130000"/>
              </a:lnSpc>
            </a:pPr>
            <a:r>
              <a:rPr sz="1000" b="0" i="0">
                <a:solidFill>
                  <a:srgbClr val="CBD5E1"/>
                </a:solidFill>
                <a:latin typeface="Consolas"/>
              </a:rPr>
              <a:t>2026-05-21 13:42:16  EID 4688  rundll32.exe  comsvcs.dll, ...</a:t>
            </a:r>
          </a:p>
        </p:txBody>
      </p:sp>
      <p:sp>
        <p:nvSpPr>
          <p:cNvPr id="9" name="TextBox 8"/>
          <p:cNvSpPr txBox="1"/>
          <p:nvPr/>
        </p:nvSpPr>
        <p:spPr>
          <a:xfrm>
            <a:off x="914400" y="2990088"/>
            <a:ext cx="5303520" cy="292608"/>
          </a:xfrm>
          <a:prstGeom prst="rect">
            <a:avLst/>
          </a:prstGeom>
          <a:noFill/>
        </p:spPr>
        <p:txBody>
          <a:bodyPr wrap="square" lIns="0" rIns="0" tIns="0" bIns="0" anchor="t">
            <a:spAutoFit/>
          </a:bodyPr>
          <a:lstStyle/>
          <a:p>
            <a:pPr algn="l">
              <a:lnSpc>
                <a:spcPct val="130000"/>
              </a:lnSpc>
            </a:pPr>
            <a:r>
              <a:rPr sz="1000" b="0" i="0">
                <a:solidFill>
                  <a:srgbClr val="CBD5E1"/>
                </a:solidFill>
                <a:latin typeface="Consolas"/>
              </a:rPr>
              <a:t>2026-05-21 13:42:17  EID 1     ProcessGuid {6BBF237A-CAFB...</a:t>
            </a:r>
          </a:p>
        </p:txBody>
      </p:sp>
      <p:sp>
        <p:nvSpPr>
          <p:cNvPr id="10" name="TextBox 9"/>
          <p:cNvSpPr txBox="1"/>
          <p:nvPr/>
        </p:nvSpPr>
        <p:spPr>
          <a:xfrm>
            <a:off x="914400" y="3364992"/>
            <a:ext cx="5303520" cy="292608"/>
          </a:xfrm>
          <a:prstGeom prst="rect">
            <a:avLst/>
          </a:prstGeom>
          <a:noFill/>
        </p:spPr>
        <p:txBody>
          <a:bodyPr wrap="square" lIns="0" rIns="0" tIns="0" bIns="0" anchor="t">
            <a:spAutoFit/>
          </a:bodyPr>
          <a:lstStyle/>
          <a:p>
            <a:pPr algn="l">
              <a:lnSpc>
                <a:spcPct val="130000"/>
              </a:lnSpc>
            </a:pPr>
            <a:r>
              <a:rPr sz="1000" b="0" i="0">
                <a:solidFill>
                  <a:srgbClr val="CBD5E1"/>
                </a:solidFill>
                <a:latin typeface="Consolas"/>
              </a:rPr>
              <a:t>2026-05-21 13:42:17  EID 10    TargetImage lsass.exe  Acc...</a:t>
            </a:r>
          </a:p>
        </p:txBody>
      </p:sp>
      <p:sp>
        <p:nvSpPr>
          <p:cNvPr id="11" name="TextBox 10"/>
          <p:cNvSpPr txBox="1"/>
          <p:nvPr/>
        </p:nvSpPr>
        <p:spPr>
          <a:xfrm>
            <a:off x="914400" y="3739896"/>
            <a:ext cx="5303520" cy="292608"/>
          </a:xfrm>
          <a:prstGeom prst="rect">
            <a:avLst/>
          </a:prstGeom>
          <a:noFill/>
        </p:spPr>
        <p:txBody>
          <a:bodyPr wrap="square" lIns="0" rIns="0" tIns="0" bIns="0" anchor="t">
            <a:spAutoFit/>
          </a:bodyPr>
          <a:lstStyle/>
          <a:p>
            <a:pPr algn="l">
              <a:lnSpc>
                <a:spcPct val="130000"/>
              </a:lnSpc>
            </a:pPr>
            <a:r>
              <a:rPr sz="1000" b="0" i="0">
                <a:solidFill>
                  <a:srgbClr val="CBD5E1"/>
                </a:solidFill>
                <a:latin typeface="Consolas"/>
              </a:rPr>
              <a:t>2026-05-21 13:42:18  EID 4104  $ScriptBlockText FromBase6...</a:t>
            </a:r>
          </a:p>
        </p:txBody>
      </p:sp>
      <p:sp>
        <p:nvSpPr>
          <p:cNvPr id="12" name="TextBox 11"/>
          <p:cNvSpPr txBox="1"/>
          <p:nvPr/>
        </p:nvSpPr>
        <p:spPr>
          <a:xfrm>
            <a:off x="914400" y="4114800"/>
            <a:ext cx="5303520" cy="292608"/>
          </a:xfrm>
          <a:prstGeom prst="rect">
            <a:avLst/>
          </a:prstGeom>
          <a:noFill/>
        </p:spPr>
        <p:txBody>
          <a:bodyPr wrap="square" lIns="0" rIns="0" tIns="0" bIns="0" anchor="t">
            <a:spAutoFit/>
          </a:bodyPr>
          <a:lstStyle/>
          <a:p>
            <a:pPr algn="l">
              <a:lnSpc>
                <a:spcPct val="130000"/>
              </a:lnSpc>
            </a:pPr>
            <a:r>
              <a:rPr sz="1000" b="0" i="0">
                <a:solidFill>
                  <a:srgbClr val="CBD5E1"/>
                </a:solidFill>
                <a:latin typeface="Consolas"/>
              </a:rPr>
              <a:t>2026-05-21 13:42:18  EID 7045  ServiceName UpdaterSvc  Img...</a:t>
            </a:r>
          </a:p>
        </p:txBody>
      </p:sp>
      <p:sp>
        <p:nvSpPr>
          <p:cNvPr id="13" name="TextBox 12"/>
          <p:cNvSpPr txBox="1"/>
          <p:nvPr/>
        </p:nvSpPr>
        <p:spPr>
          <a:xfrm>
            <a:off x="914400" y="4489704"/>
            <a:ext cx="5303520" cy="292608"/>
          </a:xfrm>
          <a:prstGeom prst="rect">
            <a:avLst/>
          </a:prstGeom>
          <a:noFill/>
        </p:spPr>
        <p:txBody>
          <a:bodyPr wrap="square" lIns="0" rIns="0" tIns="0" bIns="0" anchor="t">
            <a:spAutoFit/>
          </a:bodyPr>
          <a:lstStyle/>
          <a:p>
            <a:pPr algn="l">
              <a:lnSpc>
                <a:spcPct val="130000"/>
              </a:lnSpc>
            </a:pPr>
            <a:r>
              <a:rPr sz="1000" b="0" i="0">
                <a:solidFill>
                  <a:srgbClr val="CBD5E1"/>
                </a:solidFill>
                <a:latin typeface="Consolas"/>
              </a:rPr>
              <a:t>2026-05-21 13:42:19  EID 22    QueryName malicious-site.c...</a:t>
            </a:r>
          </a:p>
        </p:txBody>
      </p:sp>
      <p:sp>
        <p:nvSpPr>
          <p:cNvPr id="14" name="TextBox 13"/>
          <p:cNvSpPr txBox="1"/>
          <p:nvPr/>
        </p:nvSpPr>
        <p:spPr>
          <a:xfrm>
            <a:off x="914400" y="4864608"/>
            <a:ext cx="5303520" cy="292608"/>
          </a:xfrm>
          <a:prstGeom prst="rect">
            <a:avLst/>
          </a:prstGeom>
          <a:noFill/>
        </p:spPr>
        <p:txBody>
          <a:bodyPr wrap="square" lIns="0" rIns="0" tIns="0" bIns="0" anchor="t">
            <a:spAutoFit/>
          </a:bodyPr>
          <a:lstStyle/>
          <a:p>
            <a:pPr algn="l">
              <a:lnSpc>
                <a:spcPct val="130000"/>
              </a:lnSpc>
            </a:pPr>
            <a:r>
              <a:rPr sz="1000" b="0" i="0">
                <a:solidFill>
                  <a:srgbClr val="CBD5E1"/>
                </a:solidFill>
                <a:latin typeface="Consolas"/>
              </a:rPr>
              <a:t>2026-05-21 13:42:20  EID 3     DestinationIp 185.220.101....</a:t>
            </a:r>
          </a:p>
        </p:txBody>
      </p:sp>
      <p:sp>
        <p:nvSpPr>
          <p:cNvPr id="15" name="TextBox 14"/>
          <p:cNvSpPr txBox="1"/>
          <p:nvPr/>
        </p:nvSpPr>
        <p:spPr>
          <a:xfrm>
            <a:off x="914400" y="5239512"/>
            <a:ext cx="5303520" cy="292608"/>
          </a:xfrm>
          <a:prstGeom prst="rect">
            <a:avLst/>
          </a:prstGeom>
          <a:noFill/>
        </p:spPr>
        <p:txBody>
          <a:bodyPr wrap="square" lIns="0" rIns="0" tIns="0" bIns="0" anchor="t">
            <a:spAutoFit/>
          </a:bodyPr>
          <a:lstStyle/>
          <a:p>
            <a:pPr algn="l">
              <a:lnSpc>
                <a:spcPct val="130000"/>
              </a:lnSpc>
            </a:pPr>
            <a:r>
              <a:rPr sz="1000" b="0" i="0">
                <a:solidFill>
                  <a:srgbClr val="CBD5E1"/>
                </a:solidFill>
                <a:latin typeface="Consolas"/>
              </a:rPr>
              <a:t>2026-05-21 13:42:21  EID 8     CreateRemoteThread  source...</a:t>
            </a:r>
          </a:p>
        </p:txBody>
      </p:sp>
      <p:sp>
        <p:nvSpPr>
          <p:cNvPr id="16" name="TextBox 15"/>
          <p:cNvSpPr txBox="1"/>
          <p:nvPr/>
        </p:nvSpPr>
        <p:spPr>
          <a:xfrm>
            <a:off x="914400" y="5614416"/>
            <a:ext cx="5303520" cy="292608"/>
          </a:xfrm>
          <a:prstGeom prst="rect">
            <a:avLst/>
          </a:prstGeom>
          <a:noFill/>
        </p:spPr>
        <p:txBody>
          <a:bodyPr wrap="square" lIns="0" rIns="0" tIns="0" bIns="0" anchor="t">
            <a:spAutoFit/>
          </a:bodyPr>
          <a:lstStyle/>
          <a:p>
            <a:pPr algn="l">
              <a:lnSpc>
                <a:spcPct val="130000"/>
              </a:lnSpc>
            </a:pPr>
            <a:r>
              <a:rPr sz="1000" b="0" i="0">
                <a:solidFill>
                  <a:srgbClr val="CBD5E1"/>
                </a:solidFill>
                <a:latin typeface="Consolas"/>
              </a:rPr>
              <a:t>...                          (このあと数万件続く)</a:t>
            </a:r>
          </a:p>
        </p:txBody>
      </p:sp>
      <p:sp>
        <p:nvSpPr>
          <p:cNvPr id="17" name="TextBox 16"/>
          <p:cNvSpPr txBox="1"/>
          <p:nvPr/>
        </p:nvSpPr>
        <p:spPr>
          <a:xfrm>
            <a:off x="6766560" y="1874519"/>
            <a:ext cx="5029200" cy="457200"/>
          </a:xfrm>
          <a:prstGeom prst="rect">
            <a:avLst/>
          </a:prstGeom>
          <a:noFill/>
        </p:spPr>
        <p:txBody>
          <a:bodyPr wrap="square" lIns="0" rIns="0" tIns="0" bIns="0" anchor="t">
            <a:spAutoFit/>
          </a:bodyPr>
          <a:lstStyle/>
          <a:p>
            <a:pPr algn="l">
              <a:lnSpc>
                <a:spcPct val="130000"/>
              </a:lnSpc>
            </a:pPr>
            <a:r>
              <a:rPr sz="2200" b="0" i="0">
                <a:solidFill>
                  <a:srgbClr val="1F2937"/>
                </a:solidFill>
                <a:latin typeface="Calibri"/>
              </a:rPr>
              <a:t>1 台の PC で</a:t>
            </a:r>
          </a:p>
        </p:txBody>
      </p:sp>
      <p:sp>
        <p:nvSpPr>
          <p:cNvPr id="18" name="TextBox 17"/>
          <p:cNvSpPr txBox="1"/>
          <p:nvPr/>
        </p:nvSpPr>
        <p:spPr>
          <a:xfrm>
            <a:off x="6766560" y="2377440"/>
            <a:ext cx="5029200" cy="914400"/>
          </a:xfrm>
          <a:prstGeom prst="rect">
            <a:avLst/>
          </a:prstGeom>
          <a:noFill/>
        </p:spPr>
        <p:txBody>
          <a:bodyPr wrap="square" lIns="0" rIns="0" tIns="0" bIns="0" anchor="t">
            <a:spAutoFit/>
          </a:bodyPr>
          <a:lstStyle/>
          <a:p>
            <a:pPr algn="l">
              <a:lnSpc>
                <a:spcPct val="130000"/>
              </a:lnSpc>
            </a:pPr>
            <a:r>
              <a:rPr sz="6800" b="1" i="0">
                <a:solidFill>
                  <a:srgbClr val="2563EB"/>
                </a:solidFill>
                <a:latin typeface="Cambria"/>
              </a:rPr>
              <a:t>数万件</a:t>
            </a:r>
          </a:p>
        </p:txBody>
      </p:sp>
      <p:sp>
        <p:nvSpPr>
          <p:cNvPr id="19" name="TextBox 18"/>
          <p:cNvSpPr txBox="1"/>
          <p:nvPr/>
        </p:nvSpPr>
        <p:spPr>
          <a:xfrm>
            <a:off x="6766560" y="3611880"/>
            <a:ext cx="5029200" cy="457200"/>
          </a:xfrm>
          <a:prstGeom prst="rect">
            <a:avLst/>
          </a:prstGeom>
          <a:noFill/>
        </p:spPr>
        <p:txBody>
          <a:bodyPr wrap="square" lIns="0" rIns="0" tIns="0" bIns="0" anchor="t">
            <a:spAutoFit/>
          </a:bodyPr>
          <a:lstStyle/>
          <a:p>
            <a:pPr algn="l">
              <a:lnSpc>
                <a:spcPct val="130000"/>
              </a:lnSpc>
            </a:pPr>
            <a:r>
              <a:rPr sz="2200" b="0" i="0">
                <a:solidFill>
                  <a:srgbClr val="1F2937"/>
                </a:solidFill>
                <a:latin typeface="Calibri"/>
              </a:rPr>
              <a:t>のログが残っています</a:t>
            </a:r>
          </a:p>
        </p:txBody>
      </p:sp>
      <p:sp>
        <p:nvSpPr>
          <p:cNvPr id="20" name="Rounded Rectangle 19"/>
          <p:cNvSpPr/>
          <p:nvPr/>
        </p:nvSpPr>
        <p:spPr>
          <a:xfrm>
            <a:off x="6766560" y="4480560"/>
            <a:ext cx="5029200" cy="178308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66560" y="4480560"/>
            <a:ext cx="73152" cy="178308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4663440"/>
            <a:ext cx="4663440" cy="411480"/>
          </a:xfrm>
          <a:prstGeom prst="rect">
            <a:avLst/>
          </a:prstGeom>
          <a:noFill/>
        </p:spPr>
        <p:txBody>
          <a:bodyPr wrap="square" lIns="0" rIns="0" tIns="0" bIns="0" anchor="t">
            <a:spAutoFit/>
          </a:bodyPr>
          <a:lstStyle/>
          <a:p>
            <a:pPr algn="l">
              <a:lnSpc>
                <a:spcPct val="130000"/>
              </a:lnSpc>
            </a:pPr>
            <a:r>
              <a:rPr sz="1500" b="0" i="0">
                <a:solidFill>
                  <a:srgbClr val="1F2937"/>
                </a:solidFill>
                <a:latin typeface="Calibri"/>
              </a:rPr>
              <a:t>これを 1 件ずつ読むのは</a:t>
            </a:r>
          </a:p>
        </p:txBody>
      </p:sp>
      <p:sp>
        <p:nvSpPr>
          <p:cNvPr id="23" name="TextBox 22"/>
          <p:cNvSpPr txBox="1"/>
          <p:nvPr/>
        </p:nvSpPr>
        <p:spPr>
          <a:xfrm>
            <a:off x="6995160" y="5120640"/>
            <a:ext cx="4663440" cy="548640"/>
          </a:xfrm>
          <a:prstGeom prst="rect">
            <a:avLst/>
          </a:prstGeom>
          <a:noFill/>
        </p:spPr>
        <p:txBody>
          <a:bodyPr wrap="square" lIns="0" rIns="0" tIns="0" bIns="0" anchor="t">
            <a:spAutoFit/>
          </a:bodyPr>
          <a:lstStyle/>
          <a:p>
            <a:pPr algn="l">
              <a:lnSpc>
                <a:spcPct val="130000"/>
              </a:lnSpc>
            </a:pPr>
            <a:r>
              <a:rPr sz="2400" b="1" i="0">
                <a:solidFill>
                  <a:srgbClr val="DC2626"/>
                </a:solidFill>
                <a:latin typeface="Cambria"/>
              </a:rPr>
              <a:t>現実的に不可能。</a:t>
            </a:r>
          </a:p>
        </p:txBody>
      </p:sp>
      <p:sp>
        <p:nvSpPr>
          <p:cNvPr id="24" name="TextBox 23"/>
          <p:cNvSpPr txBox="1"/>
          <p:nvPr/>
        </p:nvSpPr>
        <p:spPr>
          <a:xfrm>
            <a:off x="6995160" y="5760720"/>
            <a:ext cx="4663440" cy="365760"/>
          </a:xfrm>
          <a:prstGeom prst="rect">
            <a:avLst/>
          </a:prstGeom>
          <a:noFill/>
        </p:spPr>
        <p:txBody>
          <a:bodyPr wrap="square" lIns="0" rIns="0" tIns="0" bIns="0" anchor="t">
            <a:spAutoFit/>
          </a:bodyPr>
          <a:lstStyle/>
          <a:p>
            <a:pPr algn="l">
              <a:lnSpc>
                <a:spcPct val="130000"/>
              </a:lnSpc>
            </a:pPr>
            <a:r>
              <a:rPr sz="1200" b="0" i="1">
                <a:solidFill>
                  <a:srgbClr val="5B6472"/>
                </a:solidFill>
                <a:latin typeface="Calibri"/>
              </a:rPr>
              <a:t>→ 専門家が時間をかけても見落とす。</a:t>
            </a:r>
          </a:p>
        </p:txBody>
      </p:sp>
      <p:sp>
        <p:nvSpPr>
          <p:cNvPr id="25" name="TextBox 24"/>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既存技術</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土台にした既存ツール: Hayabusa</a:t>
            </a:r>
          </a:p>
        </p:txBody>
      </p:sp>
      <p:sp>
        <p:nvSpPr>
          <p:cNvPr id="5" name="TextBox 4"/>
          <p:cNvSpPr txBox="1"/>
          <p:nvPr/>
        </p:nvSpPr>
        <p:spPr>
          <a:xfrm>
            <a:off x="548640" y="1554480"/>
            <a:ext cx="11064240" cy="411480"/>
          </a:xfrm>
          <a:prstGeom prst="rect">
            <a:avLst/>
          </a:prstGeom>
          <a:noFill/>
        </p:spPr>
        <p:txBody>
          <a:bodyPr wrap="square" lIns="0" rIns="0" tIns="0" bIns="0" anchor="t">
            <a:spAutoFit/>
          </a:bodyPr>
          <a:lstStyle/>
          <a:p>
            <a:pPr algn="l">
              <a:lnSpc>
                <a:spcPct val="130000"/>
              </a:lnSpc>
            </a:pPr>
            <a:r>
              <a:rPr sz="1500" b="0" i="1">
                <a:solidFill>
                  <a:srgbClr val="5B6472"/>
                </a:solidFill>
                <a:latin typeface="Calibri"/>
              </a:rPr>
              <a:t>日本のセキュリティチーム Yamato Security が公開している無料ツール (OSS)。</a:t>
            </a:r>
          </a:p>
        </p:txBody>
      </p:sp>
      <p:sp>
        <p:nvSpPr>
          <p:cNvPr id="6" name="Rounded Rectangle 5"/>
          <p:cNvSpPr/>
          <p:nvPr/>
        </p:nvSpPr>
        <p:spPr>
          <a:xfrm>
            <a:off x="548640" y="2103120"/>
            <a:ext cx="5486400" cy="402336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03120"/>
            <a:ext cx="73152" cy="402336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5029200" cy="411480"/>
          </a:xfrm>
          <a:prstGeom prst="rect">
            <a:avLst/>
          </a:prstGeom>
          <a:noFill/>
        </p:spPr>
        <p:txBody>
          <a:bodyPr wrap="square" lIns="0" rIns="0" tIns="0" bIns="0" anchor="t">
            <a:spAutoFit/>
          </a:bodyPr>
          <a:lstStyle/>
          <a:p>
            <a:pPr algn="l">
              <a:lnSpc>
                <a:spcPct val="130000"/>
              </a:lnSpc>
            </a:pPr>
            <a:r>
              <a:rPr sz="1700" b="1" i="0">
                <a:solidFill>
                  <a:srgbClr val="1F2937"/>
                </a:solidFill>
                <a:latin typeface="Cambria"/>
              </a:rPr>
              <a:t>✅ Hayabusa ができること</a:t>
            </a:r>
          </a:p>
        </p:txBody>
      </p:sp>
      <p:sp>
        <p:nvSpPr>
          <p:cNvPr id="9" name="TextBox 8"/>
          <p:cNvSpPr txBox="1"/>
          <p:nvPr/>
        </p:nvSpPr>
        <p:spPr>
          <a:xfrm>
            <a:off x="822960" y="2926080"/>
            <a:ext cx="4937760" cy="411480"/>
          </a:xfrm>
          <a:prstGeom prst="rect">
            <a:avLst/>
          </a:prstGeom>
          <a:noFill/>
        </p:spPr>
        <p:txBody>
          <a:bodyPr wrap="square" lIns="0" rIns="0" tIns="0" bIns="0" anchor="t">
            <a:spAutoFit/>
          </a:bodyPr>
          <a:lstStyle/>
          <a:p>
            <a:pPr algn="l">
              <a:lnSpc>
                <a:spcPct val="130000"/>
              </a:lnSpc>
            </a:pPr>
            <a:r>
              <a:rPr sz="1300" b="0" i="0">
                <a:solidFill>
                  <a:srgbClr val="1F2937"/>
                </a:solidFill>
                <a:latin typeface="Calibri"/>
              </a:rPr>
              <a:t>• 世界中の研究者が作った「攻撃の特徴パターン」</a:t>
            </a:r>
          </a:p>
        </p:txBody>
      </p:sp>
      <p:sp>
        <p:nvSpPr>
          <p:cNvPr id="10" name="TextBox 9"/>
          <p:cNvSpPr txBox="1"/>
          <p:nvPr/>
        </p:nvSpPr>
        <p:spPr>
          <a:xfrm>
            <a:off x="822960" y="3310128"/>
            <a:ext cx="4937760" cy="365760"/>
          </a:xfrm>
          <a:prstGeom prst="rect">
            <a:avLst/>
          </a:prstGeom>
          <a:noFill/>
        </p:spPr>
        <p:txBody>
          <a:bodyPr wrap="square" lIns="0" rIns="0" tIns="0" bIns="0" anchor="t">
            <a:spAutoFit/>
          </a:bodyPr>
          <a:lstStyle/>
          <a:p>
            <a:pPr algn="l">
              <a:lnSpc>
                <a:spcPct val="130000"/>
              </a:lnSpc>
            </a:pPr>
            <a:r>
              <a:rPr sz="1150" b="0" i="0">
                <a:solidFill>
                  <a:srgbClr val="5B6472"/>
                </a:solidFill>
                <a:latin typeface="Calibri"/>
              </a:rPr>
              <a:t>   (Sigma ルール・約 5,000 本) と照合</a:t>
            </a:r>
          </a:p>
        </p:txBody>
      </p:sp>
      <p:sp>
        <p:nvSpPr>
          <p:cNvPr id="11" name="TextBox 10"/>
          <p:cNvSpPr txBox="1"/>
          <p:nvPr/>
        </p:nvSpPr>
        <p:spPr>
          <a:xfrm>
            <a:off x="822960" y="3794760"/>
            <a:ext cx="4937760" cy="411480"/>
          </a:xfrm>
          <a:prstGeom prst="rect">
            <a:avLst/>
          </a:prstGeom>
          <a:noFill/>
        </p:spPr>
        <p:txBody>
          <a:bodyPr wrap="square" lIns="0" rIns="0" tIns="0" bIns="0" anchor="t">
            <a:spAutoFit/>
          </a:bodyPr>
          <a:lstStyle/>
          <a:p>
            <a:pPr algn="l">
              <a:lnSpc>
                <a:spcPct val="130000"/>
              </a:lnSpc>
            </a:pPr>
            <a:r>
              <a:rPr sz="1300" b="0" i="0">
                <a:solidFill>
                  <a:srgbClr val="1F2937"/>
                </a:solidFill>
                <a:latin typeface="Calibri"/>
              </a:rPr>
              <a:t>• 数万件のログを数十秒〜数分で全チェック</a:t>
            </a:r>
          </a:p>
        </p:txBody>
      </p:sp>
      <p:sp>
        <p:nvSpPr>
          <p:cNvPr id="12" name="TextBox 11"/>
          <p:cNvSpPr txBox="1"/>
          <p:nvPr/>
        </p:nvSpPr>
        <p:spPr>
          <a:xfrm>
            <a:off x="822960" y="4178808"/>
            <a:ext cx="4937760" cy="365760"/>
          </a:xfrm>
          <a:prstGeom prst="rect">
            <a:avLst/>
          </a:prstGeom>
          <a:noFill/>
        </p:spPr>
        <p:txBody>
          <a:bodyPr wrap="square" lIns="0" rIns="0" tIns="0" bIns="0" anchor="t">
            <a:spAutoFit/>
          </a:bodyPr>
          <a:lstStyle/>
          <a:p>
            <a:pPr algn="l">
              <a:lnSpc>
                <a:spcPct val="130000"/>
              </a:lnSpc>
            </a:pPr>
            <a:r>
              <a:rPr sz="1150" b="0" i="0">
                <a:solidFill>
                  <a:srgbClr val="5B6472"/>
                </a:solidFill>
                <a:latin typeface="Calibri"/>
              </a:rPr>
              <a:t>   (Rust 製で高速)</a:t>
            </a:r>
          </a:p>
        </p:txBody>
      </p:sp>
      <p:sp>
        <p:nvSpPr>
          <p:cNvPr id="13" name="TextBox 12"/>
          <p:cNvSpPr txBox="1"/>
          <p:nvPr/>
        </p:nvSpPr>
        <p:spPr>
          <a:xfrm>
            <a:off x="822960" y="4663440"/>
            <a:ext cx="4937760" cy="411480"/>
          </a:xfrm>
          <a:prstGeom prst="rect">
            <a:avLst/>
          </a:prstGeom>
          <a:noFill/>
        </p:spPr>
        <p:txBody>
          <a:bodyPr wrap="square" lIns="0" rIns="0" tIns="0" bIns="0" anchor="t">
            <a:spAutoFit/>
          </a:bodyPr>
          <a:lstStyle/>
          <a:p>
            <a:pPr algn="l">
              <a:lnSpc>
                <a:spcPct val="130000"/>
              </a:lnSpc>
            </a:pPr>
            <a:r>
              <a:rPr sz="1300" b="0" i="0">
                <a:solidFill>
                  <a:srgbClr val="1F2937"/>
                </a:solidFill>
                <a:latin typeface="Calibri"/>
              </a:rPr>
              <a:t>• 世界中の調査現場で使われている実績</a:t>
            </a:r>
          </a:p>
        </p:txBody>
      </p:sp>
      <p:sp>
        <p:nvSpPr>
          <p:cNvPr id="14" name="Rounded Rectangle 13"/>
          <p:cNvSpPr/>
          <p:nvPr/>
        </p:nvSpPr>
        <p:spPr>
          <a:xfrm>
            <a:off x="6263640" y="2103120"/>
            <a:ext cx="5486400" cy="402336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103120"/>
            <a:ext cx="73152" cy="402336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331720"/>
            <a:ext cx="5120640" cy="411480"/>
          </a:xfrm>
          <a:prstGeom prst="rect">
            <a:avLst/>
          </a:prstGeom>
          <a:noFill/>
        </p:spPr>
        <p:txBody>
          <a:bodyPr wrap="square" lIns="0" rIns="0" tIns="0" bIns="0" anchor="t">
            <a:spAutoFit/>
          </a:bodyPr>
          <a:lstStyle/>
          <a:p>
            <a:pPr algn="l">
              <a:lnSpc>
                <a:spcPct val="130000"/>
              </a:lnSpc>
            </a:pPr>
            <a:r>
              <a:rPr sz="1700" b="1" i="0">
                <a:solidFill>
                  <a:srgbClr val="1F2937"/>
                </a:solidFill>
                <a:latin typeface="Cambria"/>
              </a:rPr>
              <a:t>⚠ そのままでは専門家にしか使えない</a:t>
            </a:r>
          </a:p>
        </p:txBody>
      </p:sp>
      <p:sp>
        <p:nvSpPr>
          <p:cNvPr id="17" name="TextBox 16"/>
          <p:cNvSpPr txBox="1"/>
          <p:nvPr/>
        </p:nvSpPr>
        <p:spPr>
          <a:xfrm>
            <a:off x="6537960" y="2926080"/>
            <a:ext cx="5029200" cy="457200"/>
          </a:xfrm>
          <a:prstGeom prst="rect">
            <a:avLst/>
          </a:prstGeom>
          <a:noFill/>
        </p:spPr>
        <p:txBody>
          <a:bodyPr wrap="square" lIns="0" rIns="0" tIns="0" bIns="0" anchor="t">
            <a:spAutoFit/>
          </a:bodyPr>
          <a:lstStyle/>
          <a:p>
            <a:pPr algn="l">
              <a:lnSpc>
                <a:spcPct val="130000"/>
              </a:lnSpc>
            </a:pPr>
            <a:r>
              <a:rPr sz="1300" b="0" i="0">
                <a:solidFill>
                  <a:srgbClr val="1F2937"/>
                </a:solidFill>
                <a:latin typeface="Calibri"/>
              </a:rPr>
              <a:t>• 黒い画面でコマンドを打つ必要がある</a:t>
            </a:r>
          </a:p>
        </p:txBody>
      </p:sp>
      <p:sp>
        <p:nvSpPr>
          <p:cNvPr id="18" name="TextBox 17"/>
          <p:cNvSpPr txBox="1"/>
          <p:nvPr/>
        </p:nvSpPr>
        <p:spPr>
          <a:xfrm>
            <a:off x="6537960" y="3493008"/>
            <a:ext cx="5029200" cy="457200"/>
          </a:xfrm>
          <a:prstGeom prst="rect">
            <a:avLst/>
          </a:prstGeom>
          <a:noFill/>
        </p:spPr>
        <p:txBody>
          <a:bodyPr wrap="square" lIns="0" rIns="0" tIns="0" bIns="0" anchor="t">
            <a:spAutoFit/>
          </a:bodyPr>
          <a:lstStyle/>
          <a:p>
            <a:pPr algn="l">
              <a:lnSpc>
                <a:spcPct val="130000"/>
              </a:lnSpc>
            </a:pPr>
            <a:r>
              <a:rPr sz="1300" b="0" i="0">
                <a:solidFill>
                  <a:srgbClr val="1F2937"/>
                </a:solidFill>
                <a:latin typeface="Calibri"/>
              </a:rPr>
              <a:t>• 結果は CSV ファイル数万行 — 結局「読めない」</a:t>
            </a:r>
          </a:p>
        </p:txBody>
      </p:sp>
      <p:sp>
        <p:nvSpPr>
          <p:cNvPr id="19" name="TextBox 18"/>
          <p:cNvSpPr txBox="1"/>
          <p:nvPr/>
        </p:nvSpPr>
        <p:spPr>
          <a:xfrm>
            <a:off x="6537960" y="4059936"/>
            <a:ext cx="5029200" cy="457200"/>
          </a:xfrm>
          <a:prstGeom prst="rect">
            <a:avLst/>
          </a:prstGeom>
          <a:noFill/>
        </p:spPr>
        <p:txBody>
          <a:bodyPr wrap="square" lIns="0" rIns="0" tIns="0" bIns="0" anchor="t">
            <a:spAutoFit/>
          </a:bodyPr>
          <a:lstStyle/>
          <a:p>
            <a:pPr algn="l">
              <a:lnSpc>
                <a:spcPct val="130000"/>
              </a:lnSpc>
            </a:pPr>
            <a:r>
              <a:rPr sz="1300" b="0" i="0">
                <a:solidFill>
                  <a:srgbClr val="1F2937"/>
                </a:solidFill>
                <a:latin typeface="Calibri"/>
              </a:rPr>
              <a:t>• 出力は英語 + 専門用語だらけ</a:t>
            </a:r>
          </a:p>
        </p:txBody>
      </p:sp>
      <p:sp>
        <p:nvSpPr>
          <p:cNvPr id="20" name="TextBox 19"/>
          <p:cNvSpPr txBox="1"/>
          <p:nvPr/>
        </p:nvSpPr>
        <p:spPr>
          <a:xfrm>
            <a:off x="6537960" y="4626864"/>
            <a:ext cx="5029200" cy="457200"/>
          </a:xfrm>
          <a:prstGeom prst="rect">
            <a:avLst/>
          </a:prstGeom>
          <a:noFill/>
        </p:spPr>
        <p:txBody>
          <a:bodyPr wrap="square" lIns="0" rIns="0" tIns="0" bIns="0" anchor="t">
            <a:spAutoFit/>
          </a:bodyPr>
          <a:lstStyle/>
          <a:p>
            <a:pPr algn="l">
              <a:lnSpc>
                <a:spcPct val="130000"/>
              </a:lnSpc>
            </a:pPr>
            <a:r>
              <a:rPr sz="1300" b="0" i="0">
                <a:solidFill>
                  <a:srgbClr val="1F2937"/>
                </a:solidFill>
                <a:latin typeface="Calibri"/>
              </a:rPr>
              <a:t>• 「で、次にどうすれば?」を教えてくれない</a:t>
            </a:r>
          </a:p>
        </p:txBody>
      </p:sp>
      <p:sp>
        <p:nvSpPr>
          <p:cNvPr id="21" name="TextBox 20"/>
          <p:cNvSpPr txBox="1"/>
          <p:nvPr/>
        </p:nvSpPr>
        <p:spPr>
          <a:xfrm>
            <a:off x="548640" y="6263640"/>
            <a:ext cx="11064240" cy="365760"/>
          </a:xfrm>
          <a:prstGeom prst="rect">
            <a:avLst/>
          </a:prstGeom>
          <a:noFill/>
        </p:spPr>
        <p:txBody>
          <a:bodyPr wrap="square" lIns="0" rIns="0" tIns="0" bIns="0" anchor="t">
            <a:spAutoFit/>
          </a:bodyPr>
          <a:lstStyle/>
          <a:p>
            <a:pPr algn="ctr">
              <a:lnSpc>
                <a:spcPct val="130000"/>
              </a:lnSpc>
            </a:pPr>
            <a:r>
              <a:rPr sz="1400" b="1" i="0">
                <a:solidFill>
                  <a:srgbClr val="1D4ED8"/>
                </a:solidFill>
                <a:latin typeface="Calibri"/>
              </a:rPr>
              <a:t>→ この「強力だが使いにくい」を出発点にしました</a:t>
            </a:r>
          </a:p>
        </p:txBody>
      </p:sp>
      <p:sp>
        <p:nvSpPr>
          <p:cNvPr id="22" name="TextBox 21"/>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この開発で目指したこと</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目的</a:t>
            </a:r>
          </a:p>
        </p:txBody>
      </p:sp>
      <p:sp>
        <p:nvSpPr>
          <p:cNvPr id="5" name="TextBox 4"/>
          <p:cNvSpPr txBox="1"/>
          <p:nvPr/>
        </p:nvSpPr>
        <p:spPr>
          <a:xfrm>
            <a:off x="548640" y="1737360"/>
            <a:ext cx="10972800" cy="548640"/>
          </a:xfrm>
          <a:prstGeom prst="rect">
            <a:avLst/>
          </a:prstGeom>
          <a:noFill/>
        </p:spPr>
        <p:txBody>
          <a:bodyPr wrap="square" lIns="0" rIns="0" tIns="0" bIns="0" anchor="t">
            <a:spAutoFit/>
          </a:bodyPr>
          <a:lstStyle/>
          <a:p>
            <a:pPr algn="ctr">
              <a:lnSpc>
                <a:spcPct val="130000"/>
              </a:lnSpc>
            </a:pPr>
            <a:r>
              <a:rPr sz="2400" b="0" i="0">
                <a:solidFill>
                  <a:srgbClr val="5B6472"/>
                </a:solidFill>
                <a:latin typeface="Calibri"/>
              </a:rPr>
              <a:t>「専門家の道具」を</a:t>
            </a:r>
          </a:p>
        </p:txBody>
      </p:sp>
      <p:sp>
        <p:nvSpPr>
          <p:cNvPr id="6" name="TextBox 5"/>
          <p:cNvSpPr txBox="1"/>
          <p:nvPr/>
        </p:nvSpPr>
        <p:spPr>
          <a:xfrm>
            <a:off x="548640" y="2286000"/>
            <a:ext cx="10972800" cy="731520"/>
          </a:xfrm>
          <a:prstGeom prst="rect">
            <a:avLst/>
          </a:prstGeom>
          <a:noFill/>
        </p:spPr>
        <p:txBody>
          <a:bodyPr wrap="square" lIns="0" rIns="0" tIns="0" bIns="0" anchor="t">
            <a:spAutoFit/>
          </a:bodyPr>
          <a:lstStyle/>
          <a:p>
            <a:pPr algn="ctr">
              <a:lnSpc>
                <a:spcPct val="130000"/>
              </a:lnSpc>
            </a:pPr>
            <a:r>
              <a:rPr sz="3200" b="1" i="0">
                <a:solidFill>
                  <a:srgbClr val="1F2937"/>
                </a:solidFill>
                <a:latin typeface="Cambria"/>
              </a:rPr>
              <a:t>「誰でも使える調査プラットフォーム」に</a:t>
            </a:r>
          </a:p>
        </p:txBody>
      </p:sp>
      <p:sp>
        <p:nvSpPr>
          <p:cNvPr id="7" name="Rounded Rectangle 6"/>
          <p:cNvSpPr/>
          <p:nvPr/>
        </p:nvSpPr>
        <p:spPr>
          <a:xfrm>
            <a:off x="548640" y="3474720"/>
            <a:ext cx="3566160" cy="246888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74720"/>
            <a:ext cx="73152" cy="2468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657600"/>
            <a:ext cx="640080" cy="548640"/>
          </a:xfrm>
          <a:prstGeom prst="rect">
            <a:avLst/>
          </a:prstGeom>
          <a:noFill/>
        </p:spPr>
        <p:txBody>
          <a:bodyPr wrap="square" lIns="0" rIns="0" tIns="0" bIns="0" anchor="t">
            <a:spAutoFit/>
          </a:bodyPr>
          <a:lstStyle/>
          <a:p>
            <a:pPr algn="l">
              <a:lnSpc>
                <a:spcPct val="130000"/>
              </a:lnSpc>
            </a:pPr>
            <a:r>
              <a:rPr sz="2800" b="1" i="0">
                <a:solidFill>
                  <a:srgbClr val="2563EB"/>
                </a:solidFill>
                <a:latin typeface="Cambria"/>
              </a:rPr>
              <a:t>①</a:t>
            </a:r>
          </a:p>
        </p:txBody>
      </p:sp>
      <p:sp>
        <p:nvSpPr>
          <p:cNvPr id="10" name="TextBox 9"/>
          <p:cNvSpPr txBox="1"/>
          <p:nvPr/>
        </p:nvSpPr>
        <p:spPr>
          <a:xfrm>
            <a:off x="1371600" y="3730752"/>
            <a:ext cx="2560320" cy="457200"/>
          </a:xfrm>
          <a:prstGeom prst="rect">
            <a:avLst/>
          </a:prstGeom>
          <a:noFill/>
        </p:spPr>
        <p:txBody>
          <a:bodyPr wrap="square" lIns="0" rIns="0" tIns="0" bIns="0" anchor="t">
            <a:spAutoFit/>
          </a:bodyPr>
          <a:lstStyle/>
          <a:p>
            <a:pPr algn="l">
              <a:lnSpc>
                <a:spcPct val="130000"/>
              </a:lnSpc>
            </a:pPr>
            <a:r>
              <a:rPr sz="1600" b="1" i="0">
                <a:solidFill>
                  <a:srgbClr val="1F2937"/>
                </a:solidFill>
                <a:latin typeface="Cambria"/>
              </a:rPr>
              <a:t>見つける力を強くする</a:t>
            </a:r>
          </a:p>
        </p:txBody>
      </p:sp>
      <p:sp>
        <p:nvSpPr>
          <p:cNvPr id="11" name="TextBox 10"/>
          <p:cNvSpPr txBox="1"/>
          <p:nvPr/>
        </p:nvSpPr>
        <p:spPr>
          <a:xfrm>
            <a:off x="822959" y="4343400"/>
            <a:ext cx="3063239" cy="1463040"/>
          </a:xfrm>
          <a:prstGeom prst="rect">
            <a:avLst/>
          </a:prstGeom>
          <a:noFill/>
        </p:spPr>
        <p:txBody>
          <a:bodyPr wrap="square" lIns="0" rIns="0" tIns="0" bIns="0" anchor="t">
            <a:spAutoFit/>
          </a:bodyPr>
          <a:lstStyle/>
          <a:p>
            <a:pPr algn="l">
              <a:lnSpc>
                <a:spcPct val="145000"/>
              </a:lnSpc>
            </a:pPr>
            <a:r>
              <a:rPr sz="1200" b="0" i="0">
                <a:solidFill>
                  <a:srgbClr val="5B6472"/>
                </a:solidFill>
                <a:latin typeface="Calibri"/>
              </a:rPr>
              <a:t>エンジン本体を改造して
新しい検知機能を追加 +
検知ルールを自作</a:t>
            </a:r>
          </a:p>
        </p:txBody>
      </p:sp>
      <p:sp>
        <p:nvSpPr>
          <p:cNvPr id="12" name="Rounded Rectangle 11"/>
          <p:cNvSpPr/>
          <p:nvPr/>
        </p:nvSpPr>
        <p:spPr>
          <a:xfrm>
            <a:off x="4343400" y="3474720"/>
            <a:ext cx="3566160" cy="246888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3474720"/>
            <a:ext cx="73152" cy="2468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657600"/>
            <a:ext cx="640080" cy="548640"/>
          </a:xfrm>
          <a:prstGeom prst="rect">
            <a:avLst/>
          </a:prstGeom>
          <a:noFill/>
        </p:spPr>
        <p:txBody>
          <a:bodyPr wrap="square" lIns="0" rIns="0" tIns="0" bIns="0" anchor="t">
            <a:spAutoFit/>
          </a:bodyPr>
          <a:lstStyle/>
          <a:p>
            <a:pPr algn="l">
              <a:lnSpc>
                <a:spcPct val="130000"/>
              </a:lnSpc>
            </a:pPr>
            <a:r>
              <a:rPr sz="2800" b="1" i="0">
                <a:solidFill>
                  <a:srgbClr val="2563EB"/>
                </a:solidFill>
                <a:latin typeface="Cambria"/>
              </a:rPr>
              <a:t>②</a:t>
            </a:r>
          </a:p>
        </p:txBody>
      </p:sp>
      <p:sp>
        <p:nvSpPr>
          <p:cNvPr id="15" name="TextBox 14"/>
          <p:cNvSpPr txBox="1"/>
          <p:nvPr/>
        </p:nvSpPr>
        <p:spPr>
          <a:xfrm>
            <a:off x="5166360" y="3730752"/>
            <a:ext cx="2560320" cy="457200"/>
          </a:xfrm>
          <a:prstGeom prst="rect">
            <a:avLst/>
          </a:prstGeom>
          <a:noFill/>
        </p:spPr>
        <p:txBody>
          <a:bodyPr wrap="square" lIns="0" rIns="0" tIns="0" bIns="0" anchor="t">
            <a:spAutoFit/>
          </a:bodyPr>
          <a:lstStyle/>
          <a:p>
            <a:pPr algn="l">
              <a:lnSpc>
                <a:spcPct val="130000"/>
              </a:lnSpc>
            </a:pPr>
            <a:r>
              <a:rPr sz="1600" b="1" i="0">
                <a:solidFill>
                  <a:srgbClr val="1F2937"/>
                </a:solidFill>
                <a:latin typeface="Cambria"/>
              </a:rPr>
              <a:t>結果を読めるようにする</a:t>
            </a:r>
          </a:p>
        </p:txBody>
      </p:sp>
      <p:sp>
        <p:nvSpPr>
          <p:cNvPr id="16" name="TextBox 15"/>
          <p:cNvSpPr txBox="1"/>
          <p:nvPr/>
        </p:nvSpPr>
        <p:spPr>
          <a:xfrm>
            <a:off x="4617720" y="4343400"/>
            <a:ext cx="3063239" cy="1463040"/>
          </a:xfrm>
          <a:prstGeom prst="rect">
            <a:avLst/>
          </a:prstGeom>
          <a:noFill/>
        </p:spPr>
        <p:txBody>
          <a:bodyPr wrap="square" lIns="0" rIns="0" tIns="0" bIns="0" anchor="t">
            <a:spAutoFit/>
          </a:bodyPr>
          <a:lstStyle/>
          <a:p>
            <a:pPr algn="l">
              <a:lnSpc>
                <a:spcPct val="145000"/>
              </a:lnSpc>
            </a:pPr>
            <a:r>
              <a:rPr sz="1200" b="0" i="0">
                <a:solidFill>
                  <a:srgbClr val="5B6472"/>
                </a:solidFill>
                <a:latin typeface="Calibri"/>
              </a:rPr>
              <a:t>ブラウザで見られる GUI を
ゼロから開発。日本語解説と
「次にすべきこと」を表示</a:t>
            </a:r>
          </a:p>
        </p:txBody>
      </p:sp>
      <p:sp>
        <p:nvSpPr>
          <p:cNvPr id="17" name="Rounded Rectangle 16"/>
          <p:cNvSpPr/>
          <p:nvPr/>
        </p:nvSpPr>
        <p:spPr>
          <a:xfrm>
            <a:off x="8138160" y="3474720"/>
            <a:ext cx="3566160" cy="246888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3474720"/>
            <a:ext cx="73152" cy="2468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657600"/>
            <a:ext cx="640080" cy="548640"/>
          </a:xfrm>
          <a:prstGeom prst="rect">
            <a:avLst/>
          </a:prstGeom>
          <a:noFill/>
        </p:spPr>
        <p:txBody>
          <a:bodyPr wrap="square" lIns="0" rIns="0" tIns="0" bIns="0" anchor="t">
            <a:spAutoFit/>
          </a:bodyPr>
          <a:lstStyle/>
          <a:p>
            <a:pPr algn="l">
              <a:lnSpc>
                <a:spcPct val="130000"/>
              </a:lnSpc>
            </a:pPr>
            <a:r>
              <a:rPr sz="2800" b="1" i="0">
                <a:solidFill>
                  <a:srgbClr val="2563EB"/>
                </a:solidFill>
                <a:latin typeface="Cambria"/>
              </a:rPr>
              <a:t>③</a:t>
            </a:r>
          </a:p>
        </p:txBody>
      </p:sp>
      <p:sp>
        <p:nvSpPr>
          <p:cNvPr id="20" name="TextBox 19"/>
          <p:cNvSpPr txBox="1"/>
          <p:nvPr/>
        </p:nvSpPr>
        <p:spPr>
          <a:xfrm>
            <a:off x="8961120" y="3730752"/>
            <a:ext cx="2560320" cy="457200"/>
          </a:xfrm>
          <a:prstGeom prst="rect">
            <a:avLst/>
          </a:prstGeom>
          <a:noFill/>
        </p:spPr>
        <p:txBody>
          <a:bodyPr wrap="square" lIns="0" rIns="0" tIns="0" bIns="0" anchor="t">
            <a:spAutoFit/>
          </a:bodyPr>
          <a:lstStyle/>
          <a:p>
            <a:pPr algn="l">
              <a:lnSpc>
                <a:spcPct val="130000"/>
              </a:lnSpc>
            </a:pPr>
            <a:r>
              <a:rPr sz="1600" b="1" i="0">
                <a:solidFill>
                  <a:srgbClr val="1F2937"/>
                </a:solidFill>
                <a:latin typeface="Cambria"/>
              </a:rPr>
              <a:t>手元だけで完結させる</a:t>
            </a:r>
          </a:p>
        </p:txBody>
      </p:sp>
      <p:sp>
        <p:nvSpPr>
          <p:cNvPr id="21" name="TextBox 20"/>
          <p:cNvSpPr txBox="1"/>
          <p:nvPr/>
        </p:nvSpPr>
        <p:spPr>
          <a:xfrm>
            <a:off x="8412480" y="4343400"/>
            <a:ext cx="3063239" cy="1463040"/>
          </a:xfrm>
          <a:prstGeom prst="rect">
            <a:avLst/>
          </a:prstGeom>
          <a:noFill/>
        </p:spPr>
        <p:txBody>
          <a:bodyPr wrap="square" lIns="0" rIns="0" tIns="0" bIns="0" anchor="t">
            <a:spAutoFit/>
          </a:bodyPr>
          <a:lstStyle/>
          <a:p>
            <a:pPr algn="l">
              <a:lnSpc>
                <a:spcPct val="145000"/>
              </a:lnSpc>
            </a:pPr>
            <a:r>
              <a:rPr sz="1200" b="0" i="0">
                <a:solidFill>
                  <a:srgbClr val="5B6472"/>
                </a:solidFill>
                <a:latin typeface="Calibri"/>
              </a:rPr>
              <a:t>データを外部に送らない。
追加ソフト無しで動く
(オフライン・依存ゼロ)</a:t>
            </a:r>
          </a:p>
        </p:txBody>
      </p:sp>
      <p:sp>
        <p:nvSpPr>
          <p:cNvPr id="22" name="TextBox 21"/>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どこを開発したか</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作ったものの全体像</a:t>
            </a:r>
          </a:p>
        </p:txBody>
      </p:sp>
      <p:sp>
        <p:nvSpPr>
          <p:cNvPr id="5" name="Rectangle 4"/>
          <p:cNvSpPr/>
          <p:nvPr/>
        </p:nvSpPr>
        <p:spPr>
          <a:xfrm>
            <a:off x="7680960" y="457200"/>
            <a:ext cx="256032" cy="256032"/>
          </a:xfrm>
          <a:prstGeom prst="rect">
            <a:avLst/>
          </a:prstGeom>
          <a:solidFill>
            <a:srgbClr val="E9ECF2"/>
          </a:solidFill>
          <a:ln>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0" y="457200"/>
            <a:ext cx="1645920" cy="274320"/>
          </a:xfrm>
          <a:prstGeom prst="rect">
            <a:avLst/>
          </a:prstGeom>
          <a:noFill/>
        </p:spPr>
        <p:txBody>
          <a:bodyPr wrap="square" lIns="0" rIns="0" tIns="0" bIns="0" anchor="ctr">
            <a:spAutoFit/>
          </a:bodyPr>
          <a:lstStyle/>
          <a:p>
            <a:pPr algn="l">
              <a:lnSpc>
                <a:spcPct val="130000"/>
              </a:lnSpc>
            </a:pPr>
            <a:r>
              <a:rPr sz="1100" b="0" i="0">
                <a:solidFill>
                  <a:srgbClr val="5B6472"/>
                </a:solidFill>
                <a:latin typeface="Calibri"/>
              </a:rPr>
              <a:t>= 既存 OSS (土台)</a:t>
            </a:r>
          </a:p>
        </p:txBody>
      </p:sp>
      <p:sp>
        <p:nvSpPr>
          <p:cNvPr id="7" name="Rectangle 6"/>
          <p:cNvSpPr/>
          <p:nvPr/>
        </p:nvSpPr>
        <p:spPr>
          <a:xfrm>
            <a:off x="9692640" y="457200"/>
            <a:ext cx="256032" cy="256032"/>
          </a:xfrm>
          <a:prstGeom prst="rect">
            <a:avLst/>
          </a:prstGeom>
          <a:solidFill>
            <a:srgbClr val="E8F0FE"/>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12680" y="457200"/>
            <a:ext cx="1828800" cy="274320"/>
          </a:xfrm>
          <a:prstGeom prst="rect">
            <a:avLst/>
          </a:prstGeom>
          <a:noFill/>
        </p:spPr>
        <p:txBody>
          <a:bodyPr wrap="square" lIns="0" rIns="0" tIns="0" bIns="0" anchor="ctr">
            <a:spAutoFit/>
          </a:bodyPr>
          <a:lstStyle/>
          <a:p>
            <a:pPr algn="l">
              <a:lnSpc>
                <a:spcPct val="130000"/>
              </a:lnSpc>
            </a:pPr>
            <a:r>
              <a:rPr sz="1100" b="1" i="0">
                <a:solidFill>
                  <a:srgbClr val="1D4ED8"/>
                </a:solidFill>
                <a:latin typeface="Calibri"/>
              </a:rPr>
              <a:t>= 今回開発した部分</a:t>
            </a:r>
          </a:p>
        </p:txBody>
      </p:sp>
      <p:sp>
        <p:nvSpPr>
          <p:cNvPr id="9" name="Rounded Rectangle 8"/>
          <p:cNvSpPr/>
          <p:nvPr/>
        </p:nvSpPr>
        <p:spPr>
          <a:xfrm>
            <a:off x="548640" y="2103120"/>
            <a:ext cx="2194560" cy="173736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286000"/>
            <a:ext cx="2194560" cy="548640"/>
          </a:xfrm>
          <a:prstGeom prst="rect">
            <a:avLst/>
          </a:prstGeom>
          <a:noFill/>
        </p:spPr>
        <p:txBody>
          <a:bodyPr wrap="square" lIns="0" rIns="0" tIns="0" bIns="0" anchor="t">
            <a:spAutoFit/>
          </a:bodyPr>
          <a:lstStyle/>
          <a:p>
            <a:pPr algn="ctr">
              <a:lnSpc>
                <a:spcPct val="130000"/>
              </a:lnSpc>
            </a:pPr>
            <a:r>
              <a:rPr sz="2800" b="0" i="0">
                <a:solidFill>
                  <a:srgbClr val="1F2937"/>
                </a:solidFill>
                <a:latin typeface="Calibri"/>
              </a:rPr>
              <a:t>📄</a:t>
            </a:r>
          </a:p>
        </p:txBody>
      </p:sp>
      <p:sp>
        <p:nvSpPr>
          <p:cNvPr id="11" name="TextBox 10"/>
          <p:cNvSpPr txBox="1"/>
          <p:nvPr/>
        </p:nvSpPr>
        <p:spPr>
          <a:xfrm>
            <a:off x="548640" y="2880360"/>
            <a:ext cx="2194560" cy="365760"/>
          </a:xfrm>
          <a:prstGeom prst="rect">
            <a:avLst/>
          </a:prstGeom>
          <a:noFill/>
        </p:spPr>
        <p:txBody>
          <a:bodyPr wrap="square" lIns="0" rIns="0" tIns="0" bIns="0" anchor="t">
            <a:spAutoFit/>
          </a:bodyPr>
          <a:lstStyle/>
          <a:p>
            <a:pPr algn="ctr">
              <a:lnSpc>
                <a:spcPct val="130000"/>
              </a:lnSpc>
            </a:pPr>
            <a:r>
              <a:rPr sz="1300" b="1" i="0">
                <a:solidFill>
                  <a:srgbClr val="1F2937"/>
                </a:solidFill>
                <a:latin typeface="Calibri"/>
              </a:rPr>
              <a:t>Windows のログ</a:t>
            </a:r>
          </a:p>
        </p:txBody>
      </p:sp>
      <p:sp>
        <p:nvSpPr>
          <p:cNvPr id="12" name="TextBox 11"/>
          <p:cNvSpPr txBox="1"/>
          <p:nvPr/>
        </p:nvSpPr>
        <p:spPr>
          <a:xfrm>
            <a:off x="548640" y="3246120"/>
            <a:ext cx="2194560" cy="320040"/>
          </a:xfrm>
          <a:prstGeom prst="rect">
            <a:avLst/>
          </a:prstGeom>
          <a:noFill/>
        </p:spPr>
        <p:txBody>
          <a:bodyPr wrap="square" lIns="0" rIns="0" tIns="0" bIns="0" anchor="t">
            <a:spAutoFit/>
          </a:bodyPr>
          <a:lstStyle/>
          <a:p>
            <a:pPr algn="ctr">
              <a:lnSpc>
                <a:spcPct val="130000"/>
              </a:lnSpc>
            </a:pPr>
            <a:r>
              <a:rPr sz="1100" b="0" i="0">
                <a:solidFill>
                  <a:srgbClr val="5B6472"/>
                </a:solidFill>
                <a:latin typeface="Calibri"/>
              </a:rPr>
              <a:t>数万件</a:t>
            </a:r>
          </a:p>
        </p:txBody>
      </p:sp>
      <p:sp>
        <p:nvSpPr>
          <p:cNvPr id="13" name="Right Arrow 12"/>
          <p:cNvSpPr/>
          <p:nvPr/>
        </p:nvSpPr>
        <p:spPr>
          <a:xfrm>
            <a:off x="2880360" y="2788920"/>
            <a:ext cx="502920" cy="365760"/>
          </a:xfrm>
          <a:prstGeom prst="rightArrow">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20440" y="2103120"/>
            <a:ext cx="3291840" cy="1737360"/>
          </a:xfrm>
          <a:prstGeom prst="roundRect">
            <a:avLst/>
          </a:prstGeom>
          <a:solidFill>
            <a:srgbClr val="E9ECF2"/>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0440" y="2304288"/>
            <a:ext cx="3291840" cy="365760"/>
          </a:xfrm>
          <a:prstGeom prst="rect">
            <a:avLst/>
          </a:prstGeom>
          <a:noFill/>
        </p:spPr>
        <p:txBody>
          <a:bodyPr wrap="square" lIns="0" rIns="0" tIns="0" bIns="0" anchor="t">
            <a:spAutoFit/>
          </a:bodyPr>
          <a:lstStyle/>
          <a:p>
            <a:pPr algn="ctr">
              <a:lnSpc>
                <a:spcPct val="130000"/>
              </a:lnSpc>
            </a:pPr>
            <a:r>
              <a:rPr sz="1400" b="1" i="0">
                <a:solidFill>
                  <a:srgbClr val="1F2937"/>
                </a:solidFill>
                <a:latin typeface="Calibri"/>
              </a:rPr>
              <a:t>Hayabusa エンジン</a:t>
            </a:r>
          </a:p>
        </p:txBody>
      </p:sp>
      <p:sp>
        <p:nvSpPr>
          <p:cNvPr id="16" name="TextBox 15"/>
          <p:cNvSpPr txBox="1"/>
          <p:nvPr/>
        </p:nvSpPr>
        <p:spPr>
          <a:xfrm>
            <a:off x="3520440" y="2651760"/>
            <a:ext cx="3291840" cy="320040"/>
          </a:xfrm>
          <a:prstGeom prst="rect">
            <a:avLst/>
          </a:prstGeom>
          <a:noFill/>
        </p:spPr>
        <p:txBody>
          <a:bodyPr wrap="square" lIns="0" rIns="0" tIns="0" bIns="0" anchor="t">
            <a:spAutoFit/>
          </a:bodyPr>
          <a:lstStyle/>
          <a:p>
            <a:pPr algn="ctr">
              <a:lnSpc>
                <a:spcPct val="130000"/>
              </a:lnSpc>
            </a:pPr>
            <a:r>
              <a:rPr sz="1100" b="0" i="0">
                <a:solidFill>
                  <a:srgbClr val="5B6472"/>
                </a:solidFill>
                <a:latin typeface="Calibri"/>
              </a:rPr>
              <a:t>(既存 OSS・Rust 製)</a:t>
            </a:r>
          </a:p>
        </p:txBody>
      </p:sp>
      <p:sp>
        <p:nvSpPr>
          <p:cNvPr id="17" name="Rounded Rectangle 16"/>
          <p:cNvSpPr/>
          <p:nvPr/>
        </p:nvSpPr>
        <p:spPr>
          <a:xfrm>
            <a:off x="3794760" y="3063239"/>
            <a:ext cx="2743200" cy="548640"/>
          </a:xfrm>
          <a:prstGeom prst="roundRect">
            <a:avLst/>
          </a:prstGeom>
          <a:solidFill>
            <a:srgbClr val="E8F0FE"/>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94760" y="3063239"/>
            <a:ext cx="2743200" cy="548640"/>
          </a:xfrm>
          <a:prstGeom prst="rect">
            <a:avLst/>
          </a:prstGeom>
          <a:noFill/>
        </p:spPr>
        <p:txBody>
          <a:bodyPr wrap="square" lIns="0" rIns="0" tIns="0" bIns="0" anchor="ctr">
            <a:spAutoFit/>
          </a:bodyPr>
          <a:lstStyle/>
          <a:p>
            <a:pPr algn="ctr">
              <a:lnSpc>
                <a:spcPct val="130000"/>
              </a:lnSpc>
            </a:pPr>
            <a:r>
              <a:rPr sz="1150" b="1" i="0">
                <a:solidFill>
                  <a:srgbClr val="1D4ED8"/>
                </a:solidFill>
                <a:latin typeface="Calibri"/>
              </a:rPr>
              <a:t>★ 中身を改造して新機能を追加</a:t>
            </a:r>
          </a:p>
        </p:txBody>
      </p:sp>
      <p:sp>
        <p:nvSpPr>
          <p:cNvPr id="19" name="Right Arrow 18"/>
          <p:cNvSpPr/>
          <p:nvPr/>
        </p:nvSpPr>
        <p:spPr>
          <a:xfrm>
            <a:off x="6949440" y="2788920"/>
            <a:ext cx="502920" cy="365760"/>
          </a:xfrm>
          <a:prstGeom prst="rightArrow">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589520" y="2103120"/>
            <a:ext cx="2743200" cy="1737360"/>
          </a:xfrm>
          <a:prstGeom prst="roundRect">
            <a:avLst/>
          </a:prstGeom>
          <a:solidFill>
            <a:srgbClr val="E8F0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0" y="2267712"/>
            <a:ext cx="2743200" cy="502920"/>
          </a:xfrm>
          <a:prstGeom prst="rect">
            <a:avLst/>
          </a:prstGeom>
          <a:noFill/>
        </p:spPr>
        <p:txBody>
          <a:bodyPr wrap="square" lIns="0" rIns="0" tIns="0" bIns="0" anchor="t">
            <a:spAutoFit/>
          </a:bodyPr>
          <a:lstStyle/>
          <a:p>
            <a:pPr algn="ctr">
              <a:lnSpc>
                <a:spcPct val="130000"/>
              </a:lnSpc>
            </a:pPr>
            <a:r>
              <a:rPr sz="2400" b="0" i="0">
                <a:solidFill>
                  <a:srgbClr val="1F2937"/>
                </a:solidFill>
                <a:latin typeface="Calibri"/>
              </a:rPr>
              <a:t>🖥️</a:t>
            </a:r>
          </a:p>
        </p:txBody>
      </p:sp>
      <p:sp>
        <p:nvSpPr>
          <p:cNvPr id="22" name="TextBox 21"/>
          <p:cNvSpPr txBox="1"/>
          <p:nvPr/>
        </p:nvSpPr>
        <p:spPr>
          <a:xfrm>
            <a:off x="7589520" y="2816352"/>
            <a:ext cx="2743200" cy="365760"/>
          </a:xfrm>
          <a:prstGeom prst="rect">
            <a:avLst/>
          </a:prstGeom>
          <a:noFill/>
        </p:spPr>
        <p:txBody>
          <a:bodyPr wrap="square" lIns="0" rIns="0" tIns="0" bIns="0" anchor="t">
            <a:spAutoFit/>
          </a:bodyPr>
          <a:lstStyle/>
          <a:p>
            <a:pPr algn="ctr">
              <a:lnSpc>
                <a:spcPct val="130000"/>
              </a:lnSpc>
            </a:pPr>
            <a:r>
              <a:rPr sz="1400" b="1" i="0">
                <a:solidFill>
                  <a:srgbClr val="1D4ED8"/>
                </a:solidFill>
                <a:latin typeface="Calibri"/>
              </a:rPr>
              <a:t>調査用 GUI</a:t>
            </a:r>
          </a:p>
        </p:txBody>
      </p:sp>
      <p:sp>
        <p:nvSpPr>
          <p:cNvPr id="23" name="TextBox 22"/>
          <p:cNvSpPr txBox="1"/>
          <p:nvPr/>
        </p:nvSpPr>
        <p:spPr>
          <a:xfrm>
            <a:off x="7589520" y="3200400"/>
            <a:ext cx="2743200" cy="320040"/>
          </a:xfrm>
          <a:prstGeom prst="rect">
            <a:avLst/>
          </a:prstGeom>
          <a:noFill/>
        </p:spPr>
        <p:txBody>
          <a:bodyPr wrap="square" lIns="0" rIns="0" tIns="0" bIns="0" anchor="t">
            <a:spAutoFit/>
          </a:bodyPr>
          <a:lstStyle/>
          <a:p>
            <a:pPr algn="ctr">
              <a:lnSpc>
                <a:spcPct val="130000"/>
              </a:lnSpc>
            </a:pPr>
            <a:r>
              <a:rPr sz="1100" b="0" i="0">
                <a:solidFill>
                  <a:srgbClr val="5B6472"/>
                </a:solidFill>
                <a:latin typeface="Calibri"/>
              </a:rPr>
              <a:t>ゼロから開発</a:t>
            </a:r>
          </a:p>
        </p:txBody>
      </p:sp>
      <p:sp>
        <p:nvSpPr>
          <p:cNvPr id="24" name="Right Arrow 23"/>
          <p:cNvSpPr/>
          <p:nvPr/>
        </p:nvSpPr>
        <p:spPr>
          <a:xfrm>
            <a:off x="10469880" y="2788920"/>
            <a:ext cx="502920" cy="365760"/>
          </a:xfrm>
          <a:prstGeom prst="rightArrow">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27080" y="2423160"/>
            <a:ext cx="914400" cy="640080"/>
          </a:xfrm>
          <a:prstGeom prst="rect">
            <a:avLst/>
          </a:prstGeom>
          <a:noFill/>
        </p:spPr>
        <p:txBody>
          <a:bodyPr wrap="square" lIns="0" rIns="0" tIns="0" bIns="0" anchor="t">
            <a:spAutoFit/>
          </a:bodyPr>
          <a:lstStyle/>
          <a:p>
            <a:pPr algn="ctr">
              <a:lnSpc>
                <a:spcPct val="130000"/>
              </a:lnSpc>
            </a:pPr>
            <a:r>
              <a:rPr sz="3400" b="0" i="0">
                <a:solidFill>
                  <a:srgbClr val="1F2937"/>
                </a:solidFill>
                <a:latin typeface="Calibri"/>
              </a:rPr>
              <a:t>🧑‍💻</a:t>
            </a:r>
          </a:p>
        </p:txBody>
      </p:sp>
      <p:sp>
        <p:nvSpPr>
          <p:cNvPr id="26" name="TextBox 25"/>
          <p:cNvSpPr txBox="1"/>
          <p:nvPr/>
        </p:nvSpPr>
        <p:spPr>
          <a:xfrm>
            <a:off x="10835640" y="3108960"/>
            <a:ext cx="1097280" cy="365760"/>
          </a:xfrm>
          <a:prstGeom prst="rect">
            <a:avLst/>
          </a:prstGeom>
          <a:noFill/>
        </p:spPr>
        <p:txBody>
          <a:bodyPr wrap="square" lIns="0" rIns="0" tIns="0" bIns="0" anchor="t">
            <a:spAutoFit/>
          </a:bodyPr>
          <a:lstStyle/>
          <a:p>
            <a:pPr algn="ctr">
              <a:lnSpc>
                <a:spcPct val="130000"/>
              </a:lnSpc>
            </a:pPr>
            <a:r>
              <a:rPr sz="1200" b="1" i="0">
                <a:solidFill>
                  <a:srgbClr val="1F2937"/>
                </a:solidFill>
                <a:latin typeface="Calibri"/>
              </a:rPr>
              <a:t>調べる人</a:t>
            </a:r>
          </a:p>
        </p:txBody>
      </p:sp>
      <p:sp>
        <p:nvSpPr>
          <p:cNvPr id="27" name="Rounded Rectangle 26"/>
          <p:cNvSpPr/>
          <p:nvPr/>
        </p:nvSpPr>
        <p:spPr>
          <a:xfrm>
            <a:off x="2286000" y="4846320"/>
            <a:ext cx="2743200" cy="1371600"/>
          </a:xfrm>
          <a:prstGeom prst="roundRect">
            <a:avLst/>
          </a:prstGeom>
          <a:solidFill>
            <a:srgbClr val="E8F0FE"/>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286000" y="5029200"/>
            <a:ext cx="2743200" cy="365760"/>
          </a:xfrm>
          <a:prstGeom prst="rect">
            <a:avLst/>
          </a:prstGeom>
          <a:noFill/>
        </p:spPr>
        <p:txBody>
          <a:bodyPr wrap="square" lIns="0" rIns="0" tIns="0" bIns="0" anchor="t">
            <a:spAutoFit/>
          </a:bodyPr>
          <a:lstStyle/>
          <a:p>
            <a:pPr algn="ctr">
              <a:lnSpc>
                <a:spcPct val="130000"/>
              </a:lnSpc>
            </a:pPr>
            <a:r>
              <a:rPr sz="1300" b="1" i="0">
                <a:solidFill>
                  <a:srgbClr val="1D4ED8"/>
                </a:solidFill>
                <a:latin typeface="Calibri"/>
              </a:rPr>
              <a:t>📜 自作の検知ルール</a:t>
            </a:r>
          </a:p>
        </p:txBody>
      </p:sp>
      <p:sp>
        <p:nvSpPr>
          <p:cNvPr id="29" name="TextBox 28"/>
          <p:cNvSpPr txBox="1"/>
          <p:nvPr/>
        </p:nvSpPr>
        <p:spPr>
          <a:xfrm>
            <a:off x="2286000" y="5440680"/>
            <a:ext cx="2743200" cy="365760"/>
          </a:xfrm>
          <a:prstGeom prst="rect">
            <a:avLst/>
          </a:prstGeom>
          <a:noFill/>
        </p:spPr>
        <p:txBody>
          <a:bodyPr wrap="square" lIns="0" rIns="0" tIns="0" bIns="0" anchor="t">
            <a:spAutoFit/>
          </a:bodyPr>
          <a:lstStyle/>
          <a:p>
            <a:pPr algn="ctr">
              <a:lnSpc>
                <a:spcPct val="130000"/>
              </a:lnSpc>
            </a:pPr>
            <a:r>
              <a:rPr sz="1100" b="0" i="0">
                <a:solidFill>
                  <a:srgbClr val="5B6472"/>
                </a:solidFill>
                <a:latin typeface="Calibri"/>
              </a:rPr>
              <a:t>13 本 (痕跡隠蔽の検知など)</a:t>
            </a:r>
          </a:p>
        </p:txBody>
      </p:sp>
      <p:sp>
        <p:nvSpPr>
          <p:cNvPr id="30" name="Rounded Rectangle 29"/>
          <p:cNvSpPr/>
          <p:nvPr/>
        </p:nvSpPr>
        <p:spPr>
          <a:xfrm>
            <a:off x="5394960" y="4846320"/>
            <a:ext cx="2743200" cy="1371600"/>
          </a:xfrm>
          <a:prstGeom prst="roundRect">
            <a:avLst/>
          </a:prstGeom>
          <a:solidFill>
            <a:srgbClr val="E8F0FE"/>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94960" y="5029200"/>
            <a:ext cx="2743200" cy="365760"/>
          </a:xfrm>
          <a:prstGeom prst="rect">
            <a:avLst/>
          </a:prstGeom>
          <a:noFill/>
        </p:spPr>
        <p:txBody>
          <a:bodyPr wrap="square" lIns="0" rIns="0" tIns="0" bIns="0" anchor="t">
            <a:spAutoFit/>
          </a:bodyPr>
          <a:lstStyle/>
          <a:p>
            <a:pPr algn="ctr">
              <a:lnSpc>
                <a:spcPct val="130000"/>
              </a:lnSpc>
            </a:pPr>
            <a:r>
              <a:rPr sz="1300" b="1" i="0">
                <a:solidFill>
                  <a:srgbClr val="1D4ED8"/>
                </a:solidFill>
                <a:latin typeface="Calibri"/>
              </a:rPr>
              <a:t>🌐 悪いものリスト</a:t>
            </a:r>
          </a:p>
        </p:txBody>
      </p:sp>
      <p:sp>
        <p:nvSpPr>
          <p:cNvPr id="32" name="TextBox 31"/>
          <p:cNvSpPr txBox="1"/>
          <p:nvPr/>
        </p:nvSpPr>
        <p:spPr>
          <a:xfrm>
            <a:off x="5394960" y="5440680"/>
            <a:ext cx="2743200" cy="365760"/>
          </a:xfrm>
          <a:prstGeom prst="rect">
            <a:avLst/>
          </a:prstGeom>
          <a:noFill/>
        </p:spPr>
        <p:txBody>
          <a:bodyPr wrap="square" lIns="0" rIns="0" tIns="0" bIns="0" anchor="t">
            <a:spAutoFit/>
          </a:bodyPr>
          <a:lstStyle/>
          <a:p>
            <a:pPr algn="ctr">
              <a:lnSpc>
                <a:spcPct val="130000"/>
              </a:lnSpc>
            </a:pPr>
            <a:r>
              <a:rPr sz="1100" b="0" i="0">
                <a:solidFill>
                  <a:srgbClr val="5B6472"/>
                </a:solidFill>
                <a:latin typeface="Calibri"/>
              </a:rPr>
              <a:t>約 8 万件を自動で取り込み</a:t>
            </a:r>
          </a:p>
        </p:txBody>
      </p:sp>
      <p:sp>
        <p:nvSpPr>
          <p:cNvPr id="33" name="Up Arrow 32"/>
          <p:cNvSpPr/>
          <p:nvPr/>
        </p:nvSpPr>
        <p:spPr>
          <a:xfrm>
            <a:off x="3474720" y="4069080"/>
            <a:ext cx="365760" cy="457200"/>
          </a:xfrm>
          <a:prstGeom prst="up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6583680" y="4069080"/>
            <a:ext cx="365760" cy="457200"/>
          </a:xfrm>
          <a:prstGeom prst="up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開発内容 1 / 3   (Rust)</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①  エンジン本体の改造 — 新しい文法を追加</a:t>
            </a:r>
          </a:p>
        </p:txBody>
      </p:sp>
      <p:sp>
        <p:nvSpPr>
          <p:cNvPr id="5" name="TextBox 4"/>
          <p:cNvSpPr txBox="1"/>
          <p:nvPr/>
        </p:nvSpPr>
        <p:spPr>
          <a:xfrm>
            <a:off x="548640" y="1691640"/>
            <a:ext cx="5760720" cy="457200"/>
          </a:xfrm>
          <a:prstGeom prst="rect">
            <a:avLst/>
          </a:prstGeom>
          <a:noFill/>
        </p:spPr>
        <p:txBody>
          <a:bodyPr wrap="square" lIns="0" rIns="0" tIns="0" bIns="0" anchor="t">
            <a:spAutoFit/>
          </a:bodyPr>
          <a:lstStyle/>
          <a:p>
            <a:pPr algn="l">
              <a:lnSpc>
                <a:spcPct val="130000"/>
              </a:lnSpc>
            </a:pPr>
            <a:r>
              <a:rPr sz="1600" b="1" i="0">
                <a:solidFill>
                  <a:srgbClr val="1F2937"/>
                </a:solidFill>
                <a:latin typeface="Calibri"/>
              </a:rPr>
              <a:t>Hayabusa の「ルールの書き方」自体を拡張しました。</a:t>
            </a:r>
          </a:p>
        </p:txBody>
      </p:sp>
      <p:sp>
        <p:nvSpPr>
          <p:cNvPr id="6" name="TextBox 5"/>
          <p:cNvSpPr txBox="1"/>
          <p:nvPr/>
        </p:nvSpPr>
        <p:spPr>
          <a:xfrm>
            <a:off x="548640" y="2377440"/>
            <a:ext cx="5760720" cy="411480"/>
          </a:xfrm>
          <a:prstGeom prst="rect">
            <a:avLst/>
          </a:prstGeom>
          <a:noFill/>
        </p:spPr>
        <p:txBody>
          <a:bodyPr wrap="square" lIns="0" rIns="0" tIns="0" bIns="0" anchor="t">
            <a:spAutoFit/>
          </a:bodyPr>
          <a:lstStyle/>
          <a:p>
            <a:pPr algn="l">
              <a:lnSpc>
                <a:spcPct val="130000"/>
              </a:lnSpc>
            </a:pPr>
            <a:r>
              <a:rPr sz="1500" b="0" i="0">
                <a:solidFill>
                  <a:srgbClr val="1F2937"/>
                </a:solidFill>
                <a:latin typeface="Calibri"/>
              </a:rPr>
              <a:t>ルールに 1 行、</a:t>
            </a:r>
          </a:p>
        </p:txBody>
      </p:sp>
      <p:sp>
        <p:nvSpPr>
          <p:cNvPr id="7" name="TextBox 6"/>
          <p:cNvSpPr txBox="1"/>
          <p:nvPr/>
        </p:nvSpPr>
        <p:spPr>
          <a:xfrm>
            <a:off x="548640" y="2788920"/>
            <a:ext cx="5760720" cy="548640"/>
          </a:xfrm>
          <a:prstGeom prst="rect">
            <a:avLst/>
          </a:prstGeom>
          <a:noFill/>
        </p:spPr>
        <p:txBody>
          <a:bodyPr wrap="square" lIns="0" rIns="0" tIns="0" bIns="0" anchor="t">
            <a:spAutoFit/>
          </a:bodyPr>
          <a:lstStyle/>
          <a:p>
            <a:pPr algn="l">
              <a:lnSpc>
                <a:spcPct val="130000"/>
              </a:lnSpc>
            </a:pPr>
            <a:r>
              <a:rPr sz="2100" b="1" i="0">
                <a:solidFill>
                  <a:srgbClr val="1D4ED8"/>
                </a:solidFill>
                <a:latin typeface="Cambria"/>
              </a:rPr>
              <a:t>「このリストに載っていたら警告して」</a:t>
            </a:r>
          </a:p>
        </p:txBody>
      </p:sp>
      <p:sp>
        <p:nvSpPr>
          <p:cNvPr id="8" name="TextBox 7"/>
          <p:cNvSpPr txBox="1"/>
          <p:nvPr/>
        </p:nvSpPr>
        <p:spPr>
          <a:xfrm>
            <a:off x="548640" y="3383280"/>
            <a:ext cx="5760720" cy="411480"/>
          </a:xfrm>
          <a:prstGeom prst="rect">
            <a:avLst/>
          </a:prstGeom>
          <a:noFill/>
        </p:spPr>
        <p:txBody>
          <a:bodyPr wrap="square" lIns="0" rIns="0" tIns="0" bIns="0" anchor="t">
            <a:spAutoFit/>
          </a:bodyPr>
          <a:lstStyle/>
          <a:p>
            <a:pPr algn="l">
              <a:lnSpc>
                <a:spcPct val="130000"/>
              </a:lnSpc>
            </a:pPr>
            <a:r>
              <a:rPr sz="1500" b="0" i="0">
                <a:solidFill>
                  <a:srgbClr val="1F2937"/>
                </a:solidFill>
                <a:latin typeface="Calibri"/>
              </a:rPr>
              <a:t>と書けるようにする機能 (lookup:) を、</a:t>
            </a:r>
          </a:p>
        </p:txBody>
      </p:sp>
      <p:sp>
        <p:nvSpPr>
          <p:cNvPr id="9" name="TextBox 8"/>
          <p:cNvSpPr txBox="1"/>
          <p:nvPr/>
        </p:nvSpPr>
        <p:spPr>
          <a:xfrm>
            <a:off x="548640" y="3794760"/>
            <a:ext cx="5760720" cy="411480"/>
          </a:xfrm>
          <a:prstGeom prst="rect">
            <a:avLst/>
          </a:prstGeom>
          <a:noFill/>
        </p:spPr>
        <p:txBody>
          <a:bodyPr wrap="square" lIns="0" rIns="0" tIns="0" bIns="0" anchor="t">
            <a:spAutoFit/>
          </a:bodyPr>
          <a:lstStyle/>
          <a:p>
            <a:pPr algn="l">
              <a:lnSpc>
                <a:spcPct val="130000"/>
              </a:lnSpc>
            </a:pPr>
            <a:r>
              <a:rPr sz="1500" b="0" i="0">
                <a:solidFill>
                  <a:srgbClr val="1F2937"/>
                </a:solidFill>
                <a:latin typeface="Calibri"/>
              </a:rPr>
              <a:t>エンジンのソースコード (Rust) に追加。</a:t>
            </a:r>
          </a:p>
        </p:txBody>
      </p:sp>
      <p:sp>
        <p:nvSpPr>
          <p:cNvPr id="10" name="Rounded Rectangle 9"/>
          <p:cNvSpPr/>
          <p:nvPr/>
        </p:nvSpPr>
        <p:spPr>
          <a:xfrm>
            <a:off x="548640" y="4572000"/>
            <a:ext cx="5760720" cy="1600200"/>
          </a:xfrm>
          <a:prstGeom prst="roundRect">
            <a:avLst/>
          </a:prstGeom>
          <a:solidFill>
            <a:srgbClr val="E8F0FE"/>
          </a:solidFill>
          <a:ln w="9525">
            <a:solidFill>
              <a:srgbClr val="E8F0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736592"/>
            <a:ext cx="5394960" cy="365760"/>
          </a:xfrm>
          <a:prstGeom prst="rect">
            <a:avLst/>
          </a:prstGeom>
          <a:noFill/>
        </p:spPr>
        <p:txBody>
          <a:bodyPr wrap="square" lIns="0" rIns="0" tIns="0" bIns="0" anchor="t">
            <a:spAutoFit/>
          </a:bodyPr>
          <a:lstStyle/>
          <a:p>
            <a:pPr algn="l">
              <a:lnSpc>
                <a:spcPct val="130000"/>
              </a:lnSpc>
            </a:pPr>
            <a:r>
              <a:rPr sz="1250" b="1" i="0">
                <a:solidFill>
                  <a:srgbClr val="1F2937"/>
                </a:solidFill>
                <a:latin typeface="Calibri"/>
              </a:rPr>
              <a:t>💡 これで何が嬉しい?</a:t>
            </a:r>
          </a:p>
        </p:txBody>
      </p:sp>
      <p:sp>
        <p:nvSpPr>
          <p:cNvPr id="12" name="TextBox 11"/>
          <p:cNvSpPr txBox="1"/>
          <p:nvPr/>
        </p:nvSpPr>
        <p:spPr>
          <a:xfrm>
            <a:off x="777240" y="5138928"/>
            <a:ext cx="5394960" cy="868680"/>
          </a:xfrm>
          <a:prstGeom prst="rect">
            <a:avLst/>
          </a:prstGeom>
          <a:noFill/>
        </p:spPr>
        <p:txBody>
          <a:bodyPr wrap="square" lIns="0" rIns="0" tIns="0" bIns="0" anchor="t">
            <a:spAutoFit/>
          </a:bodyPr>
          <a:lstStyle/>
          <a:p>
            <a:pPr algn="l">
              <a:lnSpc>
                <a:spcPct val="145000"/>
              </a:lnSpc>
            </a:pPr>
            <a:r>
              <a:rPr sz="1200" b="0" i="0">
                <a:solidFill>
                  <a:srgbClr val="5B6472"/>
                </a:solidFill>
                <a:latin typeface="Calibri"/>
              </a:rPr>
              <a:t>世界中で共有されている「悪いものリスト」(約 8 万件) を、
ルールを書き換えずにそのまま検知に使えるようになった。</a:t>
            </a:r>
          </a:p>
        </p:txBody>
      </p:sp>
      <p:sp>
        <p:nvSpPr>
          <p:cNvPr id="13" name="Rounded Rectangle 12"/>
          <p:cNvSpPr/>
          <p:nvPr/>
        </p:nvSpPr>
        <p:spPr>
          <a:xfrm>
            <a:off x="6675120" y="1691640"/>
            <a:ext cx="4983480" cy="3108960"/>
          </a:xfrm>
          <a:prstGeom prst="roundRect">
            <a:avLst/>
          </a:prstGeom>
          <a:solidFill>
            <a:srgbClr val="0F172A"/>
          </a:solidFill>
          <a:ln w="95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1874519"/>
            <a:ext cx="4480560" cy="274320"/>
          </a:xfrm>
          <a:prstGeom prst="rect">
            <a:avLst/>
          </a:prstGeom>
          <a:noFill/>
        </p:spPr>
        <p:txBody>
          <a:bodyPr wrap="square" lIns="0" rIns="0" tIns="0" bIns="0" anchor="t">
            <a:spAutoFit/>
          </a:bodyPr>
          <a:lstStyle/>
          <a:p>
            <a:pPr algn="l">
              <a:lnSpc>
                <a:spcPct val="130000"/>
              </a:lnSpc>
            </a:pPr>
            <a:r>
              <a:rPr sz="1000" b="0" i="0">
                <a:solidFill>
                  <a:srgbClr val="94A3B8"/>
                </a:solidFill>
                <a:latin typeface="Consolas"/>
              </a:rPr>
              <a:t>自作ルールの実例 (簡略化)</a:t>
            </a:r>
          </a:p>
        </p:txBody>
      </p:sp>
      <p:sp>
        <p:nvSpPr>
          <p:cNvPr id="15" name="TextBox 14"/>
          <p:cNvSpPr txBox="1"/>
          <p:nvPr/>
        </p:nvSpPr>
        <p:spPr>
          <a:xfrm>
            <a:off x="6949440" y="2240280"/>
            <a:ext cx="4480560" cy="310896"/>
          </a:xfrm>
          <a:prstGeom prst="rect">
            <a:avLst/>
          </a:prstGeom>
          <a:noFill/>
        </p:spPr>
        <p:txBody>
          <a:bodyPr wrap="square" lIns="0" rIns="0" tIns="0" bIns="0" anchor="t">
            <a:spAutoFit/>
          </a:bodyPr>
          <a:lstStyle/>
          <a:p>
            <a:pPr algn="l">
              <a:lnSpc>
                <a:spcPct val="130000"/>
              </a:lnSpc>
            </a:pPr>
            <a:r>
              <a:rPr sz="1150" b="0" i="0">
                <a:solidFill>
                  <a:srgbClr val="CBD5E1"/>
                </a:solidFill>
                <a:latin typeface="Consolas"/>
              </a:rPr>
              <a:t>title: 危険なドライバの読み込みを検知</a:t>
            </a:r>
          </a:p>
        </p:txBody>
      </p:sp>
      <p:sp>
        <p:nvSpPr>
          <p:cNvPr id="16" name="TextBox 15"/>
          <p:cNvSpPr txBox="1"/>
          <p:nvPr/>
        </p:nvSpPr>
        <p:spPr>
          <a:xfrm>
            <a:off x="6949440" y="2564892"/>
            <a:ext cx="4480560" cy="310896"/>
          </a:xfrm>
          <a:prstGeom prst="rect">
            <a:avLst/>
          </a:prstGeom>
          <a:noFill/>
        </p:spPr>
        <p:txBody>
          <a:bodyPr wrap="square" lIns="0" rIns="0" tIns="0" bIns="0" anchor="t">
            <a:spAutoFit/>
          </a:bodyPr>
          <a:lstStyle/>
          <a:p>
            <a:pPr algn="l">
              <a:lnSpc>
                <a:spcPct val="130000"/>
              </a:lnSpc>
            </a:pPr>
            <a:r>
              <a:rPr sz="1150" b="0" i="0">
                <a:solidFill>
                  <a:srgbClr val="7DD3FC"/>
                </a:solidFill>
                <a:latin typeface="Consolas"/>
              </a:rPr>
              <a:t>lookup:</a:t>
            </a:r>
          </a:p>
        </p:txBody>
      </p:sp>
      <p:sp>
        <p:nvSpPr>
          <p:cNvPr id="17" name="TextBox 16"/>
          <p:cNvSpPr txBox="1"/>
          <p:nvPr/>
        </p:nvSpPr>
        <p:spPr>
          <a:xfrm>
            <a:off x="6949440" y="2889504"/>
            <a:ext cx="4480560" cy="310896"/>
          </a:xfrm>
          <a:prstGeom prst="rect">
            <a:avLst/>
          </a:prstGeom>
          <a:noFill/>
        </p:spPr>
        <p:txBody>
          <a:bodyPr wrap="square" lIns="0" rIns="0" tIns="0" bIns="0" anchor="t">
            <a:spAutoFit/>
          </a:bodyPr>
          <a:lstStyle/>
          <a:p>
            <a:pPr algn="l">
              <a:lnSpc>
                <a:spcPct val="130000"/>
              </a:lnSpc>
            </a:pPr>
            <a:r>
              <a:rPr sz="1150" b="0" i="0">
                <a:solidFill>
                  <a:srgbClr val="7DD3FC"/>
                </a:solidFill>
                <a:latin typeface="Consolas"/>
              </a:rPr>
              <a:t>  - name: lol_drivers</a:t>
            </a:r>
          </a:p>
        </p:txBody>
      </p:sp>
      <p:sp>
        <p:nvSpPr>
          <p:cNvPr id="18" name="TextBox 17"/>
          <p:cNvSpPr txBox="1"/>
          <p:nvPr/>
        </p:nvSpPr>
        <p:spPr>
          <a:xfrm>
            <a:off x="6949440" y="3214116"/>
            <a:ext cx="4480560" cy="310896"/>
          </a:xfrm>
          <a:prstGeom prst="rect">
            <a:avLst/>
          </a:prstGeom>
          <a:noFill/>
        </p:spPr>
        <p:txBody>
          <a:bodyPr wrap="square" lIns="0" rIns="0" tIns="0" bIns="0" anchor="t">
            <a:spAutoFit/>
          </a:bodyPr>
          <a:lstStyle/>
          <a:p>
            <a:pPr algn="l">
              <a:lnSpc>
                <a:spcPct val="130000"/>
              </a:lnSpc>
            </a:pPr>
            <a:r>
              <a:rPr sz="1150" b="0" i="0">
                <a:solidFill>
                  <a:srgbClr val="7DD3FC"/>
                </a:solidFill>
                <a:latin typeface="Consolas"/>
              </a:rPr>
              <a:t>    file: loldrivers.txt  # 悪い指紋 1,929 件</a:t>
            </a:r>
          </a:p>
        </p:txBody>
      </p:sp>
      <p:sp>
        <p:nvSpPr>
          <p:cNvPr id="19" name="TextBox 18"/>
          <p:cNvSpPr txBox="1"/>
          <p:nvPr/>
        </p:nvSpPr>
        <p:spPr>
          <a:xfrm>
            <a:off x="6949440" y="3538728"/>
            <a:ext cx="4480560" cy="310896"/>
          </a:xfrm>
          <a:prstGeom prst="rect">
            <a:avLst/>
          </a:prstGeom>
          <a:noFill/>
        </p:spPr>
        <p:txBody>
          <a:bodyPr wrap="square" lIns="0" rIns="0" tIns="0" bIns="0" anchor="t">
            <a:spAutoFit/>
          </a:bodyPr>
          <a:lstStyle/>
          <a:p>
            <a:pPr algn="l">
              <a:lnSpc>
                <a:spcPct val="130000"/>
              </a:lnSpc>
            </a:pPr>
            <a:r>
              <a:rPr sz="1150" b="0" i="0">
                <a:solidFill>
                  <a:srgbClr val="CBD5E1"/>
                </a:solidFill>
                <a:latin typeface="Consolas"/>
              </a:rPr>
              <a:t>detection:</a:t>
            </a:r>
          </a:p>
        </p:txBody>
      </p:sp>
      <p:sp>
        <p:nvSpPr>
          <p:cNvPr id="20" name="TextBox 19"/>
          <p:cNvSpPr txBox="1"/>
          <p:nvPr/>
        </p:nvSpPr>
        <p:spPr>
          <a:xfrm>
            <a:off x="6949440" y="3863339"/>
            <a:ext cx="4480560" cy="310896"/>
          </a:xfrm>
          <a:prstGeom prst="rect">
            <a:avLst/>
          </a:prstGeom>
          <a:noFill/>
        </p:spPr>
        <p:txBody>
          <a:bodyPr wrap="square" lIns="0" rIns="0" tIns="0" bIns="0" anchor="t">
            <a:spAutoFit/>
          </a:bodyPr>
          <a:lstStyle/>
          <a:p>
            <a:pPr algn="l">
              <a:lnSpc>
                <a:spcPct val="130000"/>
              </a:lnSpc>
            </a:pPr>
            <a:r>
              <a:rPr sz="1150" b="0" i="0">
                <a:solidFill>
                  <a:srgbClr val="7DD3FC"/>
                </a:solidFill>
                <a:latin typeface="Consolas"/>
              </a:rPr>
              <a:t>  Hashes|lookup: lol_drivers</a:t>
            </a:r>
          </a:p>
        </p:txBody>
      </p:sp>
      <p:sp>
        <p:nvSpPr>
          <p:cNvPr id="21" name="TextBox 20"/>
          <p:cNvSpPr txBox="1"/>
          <p:nvPr/>
        </p:nvSpPr>
        <p:spPr>
          <a:xfrm>
            <a:off x="6949440" y="4187952"/>
            <a:ext cx="4480560" cy="310896"/>
          </a:xfrm>
          <a:prstGeom prst="rect">
            <a:avLst/>
          </a:prstGeom>
          <a:noFill/>
        </p:spPr>
        <p:txBody>
          <a:bodyPr wrap="square" lIns="0" rIns="0" tIns="0" bIns="0" anchor="t">
            <a:spAutoFit/>
          </a:bodyPr>
          <a:lstStyle/>
          <a:p>
            <a:pPr algn="l">
              <a:lnSpc>
                <a:spcPct val="130000"/>
              </a:lnSpc>
            </a:pPr>
            <a:r>
              <a:rPr sz="1150" b="0" i="0">
                <a:solidFill>
                  <a:srgbClr val="94A3B8"/>
                </a:solidFill>
                <a:latin typeface="Consolas"/>
              </a:rPr>
              <a:t>           ↑ 追加した新しい文法</a:t>
            </a:r>
          </a:p>
        </p:txBody>
      </p:sp>
      <p:sp>
        <p:nvSpPr>
          <p:cNvPr id="22" name="TextBox 21"/>
          <p:cNvSpPr txBox="1"/>
          <p:nvPr/>
        </p:nvSpPr>
        <p:spPr>
          <a:xfrm>
            <a:off x="6949440" y="4512564"/>
            <a:ext cx="4480560" cy="310896"/>
          </a:xfrm>
          <a:prstGeom prst="rect">
            <a:avLst/>
          </a:prstGeom>
          <a:noFill/>
        </p:spPr>
        <p:txBody>
          <a:bodyPr wrap="square" lIns="0" rIns="0" tIns="0" bIns="0" anchor="t">
            <a:spAutoFit/>
          </a:bodyPr>
          <a:lstStyle/>
          <a:p>
            <a:pPr algn="l">
              <a:lnSpc>
                <a:spcPct val="130000"/>
              </a:lnSpc>
            </a:pPr>
            <a:r>
              <a:rPr sz="1150" b="0" i="0">
                <a:solidFill>
                  <a:srgbClr val="CBD5E1"/>
                </a:solidFill>
                <a:latin typeface="Consolas"/>
              </a:rPr>
              <a:t>level: critical</a:t>
            </a:r>
          </a:p>
        </p:txBody>
      </p:sp>
      <p:sp>
        <p:nvSpPr>
          <p:cNvPr id="23" name="Rounded Rectangle 22"/>
          <p:cNvSpPr/>
          <p:nvPr/>
        </p:nvSpPr>
        <p:spPr>
          <a:xfrm>
            <a:off x="6675120" y="5029200"/>
            <a:ext cx="4983480" cy="114300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75120" y="5029200"/>
            <a:ext cx="73152"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5175504"/>
            <a:ext cx="4572000" cy="411480"/>
          </a:xfrm>
          <a:prstGeom prst="rect">
            <a:avLst/>
          </a:prstGeom>
          <a:noFill/>
        </p:spPr>
        <p:txBody>
          <a:bodyPr wrap="square" lIns="0" rIns="0" tIns="0" bIns="0" anchor="t">
            <a:spAutoFit/>
          </a:bodyPr>
          <a:lstStyle/>
          <a:p>
            <a:pPr algn="l">
              <a:lnSpc>
                <a:spcPct val="130000"/>
              </a:lnSpc>
            </a:pPr>
            <a:r>
              <a:rPr sz="1200" b="1" i="0">
                <a:solidFill>
                  <a:srgbClr val="1F2937"/>
                </a:solidFill>
                <a:latin typeface="Calibri"/>
              </a:rPr>
              <a:t>この「悪い指紋リスト」は世界中の研究者が集めた公開情報</a:t>
            </a:r>
          </a:p>
        </p:txBody>
      </p:sp>
      <p:sp>
        <p:nvSpPr>
          <p:cNvPr id="26" name="TextBox 25"/>
          <p:cNvSpPr txBox="1"/>
          <p:nvPr/>
        </p:nvSpPr>
        <p:spPr>
          <a:xfrm>
            <a:off x="6903720" y="5550408"/>
            <a:ext cx="4572000" cy="365760"/>
          </a:xfrm>
          <a:prstGeom prst="rect">
            <a:avLst/>
          </a:prstGeom>
          <a:noFill/>
        </p:spPr>
        <p:txBody>
          <a:bodyPr wrap="square" lIns="0" rIns="0" tIns="0" bIns="0" anchor="t">
            <a:spAutoFit/>
          </a:bodyPr>
          <a:lstStyle/>
          <a:p>
            <a:pPr algn="l">
              <a:lnSpc>
                <a:spcPct val="130000"/>
              </a:lnSpc>
            </a:pPr>
            <a:r>
              <a:rPr sz="1150" b="0" i="0">
                <a:solidFill>
                  <a:srgbClr val="5B6472"/>
                </a:solidFill>
                <a:latin typeface="Calibri"/>
              </a:rPr>
              <a:t>(例: loldrivers.io の悪用ドライバ一覧)。出どころと処理の</a:t>
            </a:r>
          </a:p>
        </p:txBody>
      </p:sp>
      <p:sp>
        <p:nvSpPr>
          <p:cNvPr id="27" name="TextBox 26"/>
          <p:cNvSpPr txBox="1"/>
          <p:nvPr/>
        </p:nvSpPr>
        <p:spPr>
          <a:xfrm>
            <a:off x="6903720" y="5861304"/>
            <a:ext cx="4572000" cy="365760"/>
          </a:xfrm>
          <a:prstGeom prst="rect">
            <a:avLst/>
          </a:prstGeom>
          <a:noFill/>
        </p:spPr>
        <p:txBody>
          <a:bodyPr wrap="square" lIns="0" rIns="0" tIns="0" bIns="0" anchor="t">
            <a:spAutoFit/>
          </a:bodyPr>
          <a:lstStyle/>
          <a:p>
            <a:pPr algn="l">
              <a:lnSpc>
                <a:spcPct val="130000"/>
              </a:lnSpc>
            </a:pPr>
            <a:r>
              <a:rPr sz="1150" b="0" i="0">
                <a:solidFill>
                  <a:srgbClr val="5B6472"/>
                </a:solidFill>
                <a:latin typeface="Calibri"/>
              </a:rPr>
              <a:t>流れは次ページで説明します。</a:t>
            </a:r>
          </a:p>
        </p:txBody>
      </p:sp>
      <p:sp>
        <p:nvSpPr>
          <p:cNvPr id="28" name="TextBox 27"/>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開発内容① の中身   (内部フロー)</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lookup の内部フロー — リストはどこから来て、どう照合されるか</a:t>
            </a:r>
          </a:p>
        </p:txBody>
      </p:sp>
      <p:sp>
        <p:nvSpPr>
          <p:cNvPr id="5" name="TextBox 4"/>
          <p:cNvSpPr txBox="1"/>
          <p:nvPr/>
        </p:nvSpPr>
        <p:spPr>
          <a:xfrm>
            <a:off x="548640" y="1627632"/>
            <a:ext cx="11064240" cy="411480"/>
          </a:xfrm>
          <a:prstGeom prst="rect">
            <a:avLst/>
          </a:prstGeom>
          <a:noFill/>
        </p:spPr>
        <p:txBody>
          <a:bodyPr wrap="square" lIns="0" rIns="0" tIns="0" bIns="0" anchor="t">
            <a:spAutoFit/>
          </a:bodyPr>
          <a:lstStyle/>
          <a:p>
            <a:pPr algn="l">
              <a:lnSpc>
                <a:spcPct val="130000"/>
              </a:lnSpc>
            </a:pPr>
            <a:r>
              <a:rPr sz="1400" b="0" i="1">
                <a:solidFill>
                  <a:srgbClr val="5B6472"/>
                </a:solidFill>
                <a:latin typeface="Calibri"/>
              </a:rPr>
              <a:t>具体例: 「悪用される脆弱ドライバの読み込み (BYOVD)」を検知するまでの流れ。</a:t>
            </a:r>
          </a:p>
        </p:txBody>
      </p:sp>
      <p:sp>
        <p:nvSpPr>
          <p:cNvPr id="6" name="Rounded Rectangle 5"/>
          <p:cNvSpPr/>
          <p:nvPr/>
        </p:nvSpPr>
        <p:spPr>
          <a:xfrm>
            <a:off x="548640" y="2103120"/>
            <a:ext cx="3200400" cy="1874519"/>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03120"/>
            <a:ext cx="73152"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249424"/>
            <a:ext cx="731520" cy="548640"/>
          </a:xfrm>
          <a:prstGeom prst="rect">
            <a:avLst/>
          </a:prstGeom>
          <a:noFill/>
        </p:spPr>
        <p:txBody>
          <a:bodyPr wrap="square" lIns="0" rIns="0" tIns="0" bIns="0" anchor="t">
            <a:spAutoFit/>
          </a:bodyPr>
          <a:lstStyle/>
          <a:p>
            <a:pPr algn="l">
              <a:lnSpc>
                <a:spcPct val="130000"/>
              </a:lnSpc>
            </a:pPr>
            <a:r>
              <a:rPr sz="2300" b="0" i="0">
                <a:solidFill>
                  <a:srgbClr val="2563EB"/>
                </a:solidFill>
                <a:latin typeface="Calibri"/>
              </a:rPr>
              <a:t>🌐</a:t>
            </a:r>
          </a:p>
        </p:txBody>
      </p:sp>
      <p:sp>
        <p:nvSpPr>
          <p:cNvPr id="9" name="TextBox 8"/>
          <p:cNvSpPr txBox="1"/>
          <p:nvPr/>
        </p:nvSpPr>
        <p:spPr>
          <a:xfrm>
            <a:off x="1389888" y="2286000"/>
            <a:ext cx="2240280" cy="457200"/>
          </a:xfrm>
          <a:prstGeom prst="rect">
            <a:avLst/>
          </a:prstGeom>
          <a:noFill/>
        </p:spPr>
        <p:txBody>
          <a:bodyPr wrap="square" lIns="0" rIns="0" tIns="0" bIns="0" anchor="t">
            <a:spAutoFit/>
          </a:bodyPr>
          <a:lstStyle/>
          <a:p>
            <a:pPr algn="l">
              <a:lnSpc>
                <a:spcPct val="130000"/>
              </a:lnSpc>
            </a:pPr>
            <a:r>
              <a:rPr sz="1450" b="1" i="0">
                <a:solidFill>
                  <a:srgbClr val="1F2937"/>
                </a:solidFill>
                <a:latin typeface="Cambria"/>
              </a:rPr>
              <a:t>loldrivers.io</a:t>
            </a:r>
          </a:p>
        </p:txBody>
      </p:sp>
      <p:sp>
        <p:nvSpPr>
          <p:cNvPr id="10" name="TextBox 9"/>
          <p:cNvSpPr txBox="1"/>
          <p:nvPr/>
        </p:nvSpPr>
        <p:spPr>
          <a:xfrm>
            <a:off x="768096" y="2834639"/>
            <a:ext cx="2788920" cy="777239"/>
          </a:xfrm>
          <a:prstGeom prst="rect">
            <a:avLst/>
          </a:prstGeom>
          <a:noFill/>
        </p:spPr>
        <p:txBody>
          <a:bodyPr wrap="square" lIns="0" rIns="0" tIns="0" bIns="0" anchor="t">
            <a:spAutoFit/>
          </a:bodyPr>
          <a:lstStyle/>
          <a:p>
            <a:pPr algn="l">
              <a:lnSpc>
                <a:spcPct val="132000"/>
              </a:lnSpc>
            </a:pPr>
            <a:r>
              <a:rPr sz="1100" b="0" i="0">
                <a:solidFill>
                  <a:srgbClr val="5B6472"/>
                </a:solidFill>
                <a:latin typeface="Calibri"/>
              </a:rPr>
              <a:t>世界中の研究者が集めた
「悪用される脆弱ドライバ」の
ハッシュ一覧 (誰でも入手可・無料)</a:t>
            </a:r>
          </a:p>
        </p:txBody>
      </p:sp>
      <p:sp>
        <p:nvSpPr>
          <p:cNvPr id="11" name="TextBox 10"/>
          <p:cNvSpPr txBox="1"/>
          <p:nvPr/>
        </p:nvSpPr>
        <p:spPr>
          <a:xfrm>
            <a:off x="768096" y="3630168"/>
            <a:ext cx="2788920" cy="292608"/>
          </a:xfrm>
          <a:prstGeom prst="rect">
            <a:avLst/>
          </a:prstGeom>
          <a:noFill/>
        </p:spPr>
        <p:txBody>
          <a:bodyPr wrap="square" lIns="0" rIns="0" tIns="0" bIns="0" anchor="t">
            <a:spAutoFit/>
          </a:bodyPr>
          <a:lstStyle/>
          <a:p>
            <a:pPr algn="l">
              <a:lnSpc>
                <a:spcPct val="130000"/>
              </a:lnSpc>
            </a:pPr>
            <a:r>
              <a:rPr sz="1000" b="1" i="0">
                <a:solidFill>
                  <a:srgbClr val="2563EB"/>
                </a:solidFill>
                <a:latin typeface="Consolas"/>
              </a:rPr>
              <a:t>出どころ (Source)</a:t>
            </a:r>
          </a:p>
        </p:txBody>
      </p:sp>
      <p:sp>
        <p:nvSpPr>
          <p:cNvPr id="12" name="Right Arrow 11"/>
          <p:cNvSpPr/>
          <p:nvPr/>
        </p:nvSpPr>
        <p:spPr>
          <a:xfrm>
            <a:off x="3803904" y="2852927"/>
            <a:ext cx="457200" cy="365760"/>
          </a:xfrm>
          <a:prstGeom prst="rightArrow">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15968" y="2103120"/>
            <a:ext cx="3200400" cy="1874519"/>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5968" y="2103120"/>
            <a:ext cx="73152"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7136" y="2249424"/>
            <a:ext cx="731520" cy="548640"/>
          </a:xfrm>
          <a:prstGeom prst="rect">
            <a:avLst/>
          </a:prstGeom>
          <a:noFill/>
        </p:spPr>
        <p:txBody>
          <a:bodyPr wrap="square" lIns="0" rIns="0" tIns="0" bIns="0" anchor="t">
            <a:spAutoFit/>
          </a:bodyPr>
          <a:lstStyle/>
          <a:p>
            <a:pPr algn="l">
              <a:lnSpc>
                <a:spcPct val="130000"/>
              </a:lnSpc>
            </a:pPr>
            <a:r>
              <a:rPr sz="2300" b="0" i="0">
                <a:solidFill>
                  <a:srgbClr val="2563EB"/>
                </a:solidFill>
                <a:latin typeface="Calibri"/>
              </a:rPr>
              <a:t>⬇</a:t>
            </a:r>
          </a:p>
        </p:txBody>
      </p:sp>
      <p:sp>
        <p:nvSpPr>
          <p:cNvPr id="16" name="TextBox 15"/>
          <p:cNvSpPr txBox="1"/>
          <p:nvPr/>
        </p:nvSpPr>
        <p:spPr>
          <a:xfrm>
            <a:off x="5157216" y="2286000"/>
            <a:ext cx="2240280" cy="457200"/>
          </a:xfrm>
          <a:prstGeom prst="rect">
            <a:avLst/>
          </a:prstGeom>
          <a:noFill/>
        </p:spPr>
        <p:txBody>
          <a:bodyPr wrap="square" lIns="0" rIns="0" tIns="0" bIns="0" anchor="t">
            <a:spAutoFit/>
          </a:bodyPr>
          <a:lstStyle/>
          <a:p>
            <a:pPr algn="l">
              <a:lnSpc>
                <a:spcPct val="130000"/>
              </a:lnSpc>
            </a:pPr>
            <a:r>
              <a:rPr sz="1450" b="1" i="0">
                <a:solidFill>
                  <a:srgbClr val="1F2937"/>
                </a:solidFill>
                <a:latin typeface="Cambria"/>
              </a:rPr>
              <a:t>取得して整形</a:t>
            </a:r>
          </a:p>
        </p:txBody>
      </p:sp>
      <p:sp>
        <p:nvSpPr>
          <p:cNvPr id="17" name="TextBox 16"/>
          <p:cNvSpPr txBox="1"/>
          <p:nvPr/>
        </p:nvSpPr>
        <p:spPr>
          <a:xfrm>
            <a:off x="4535424" y="2834639"/>
            <a:ext cx="2788920" cy="777239"/>
          </a:xfrm>
          <a:prstGeom prst="rect">
            <a:avLst/>
          </a:prstGeom>
          <a:noFill/>
        </p:spPr>
        <p:txBody>
          <a:bodyPr wrap="square" lIns="0" rIns="0" tIns="0" bIns="0" anchor="t">
            <a:spAutoFit/>
          </a:bodyPr>
          <a:lstStyle/>
          <a:p>
            <a:pPr algn="l">
              <a:lnSpc>
                <a:spcPct val="132000"/>
              </a:lnSpc>
            </a:pPr>
            <a:r>
              <a:rPr sz="1100" b="0" i="0">
                <a:solidFill>
                  <a:srgbClr val="5B6472"/>
                </a:solidFill>
                <a:latin typeface="Calibri"/>
              </a:rPr>
              <a:t>CSV を取得し、1 行 1 ハッシュの
テキストに変換して保存する
(GUI のボタン 1 つで実行)</a:t>
            </a:r>
          </a:p>
        </p:txBody>
      </p:sp>
      <p:sp>
        <p:nvSpPr>
          <p:cNvPr id="18" name="TextBox 17"/>
          <p:cNvSpPr txBox="1"/>
          <p:nvPr/>
        </p:nvSpPr>
        <p:spPr>
          <a:xfrm>
            <a:off x="4535424" y="3630168"/>
            <a:ext cx="2788920" cy="292608"/>
          </a:xfrm>
          <a:prstGeom prst="rect">
            <a:avLst/>
          </a:prstGeom>
          <a:noFill/>
        </p:spPr>
        <p:txBody>
          <a:bodyPr wrap="square" lIns="0" rIns="0" tIns="0" bIns="0" anchor="t">
            <a:spAutoFit/>
          </a:bodyPr>
          <a:lstStyle/>
          <a:p>
            <a:pPr algn="l">
              <a:lnSpc>
                <a:spcPct val="130000"/>
              </a:lnSpc>
            </a:pPr>
            <a:r>
              <a:rPr sz="1000" b="1" i="0">
                <a:solidFill>
                  <a:srgbClr val="2563EB"/>
                </a:solidFill>
                <a:latin typeface="Consolas"/>
              </a:rPr>
              <a:t>→ loldrivers.txt (1,929 件)</a:t>
            </a:r>
          </a:p>
        </p:txBody>
      </p:sp>
      <p:sp>
        <p:nvSpPr>
          <p:cNvPr id="19" name="Right Arrow 18"/>
          <p:cNvSpPr/>
          <p:nvPr/>
        </p:nvSpPr>
        <p:spPr>
          <a:xfrm>
            <a:off x="7571231" y="2852927"/>
            <a:ext cx="457200" cy="365760"/>
          </a:xfrm>
          <a:prstGeom prst="rightArrow">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83296" y="2103120"/>
            <a:ext cx="3200400" cy="1874519"/>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83296" y="2103120"/>
            <a:ext cx="73152"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84464" y="2249424"/>
            <a:ext cx="731520" cy="548640"/>
          </a:xfrm>
          <a:prstGeom prst="rect">
            <a:avLst/>
          </a:prstGeom>
          <a:noFill/>
        </p:spPr>
        <p:txBody>
          <a:bodyPr wrap="square" lIns="0" rIns="0" tIns="0" bIns="0" anchor="t">
            <a:spAutoFit/>
          </a:bodyPr>
          <a:lstStyle/>
          <a:p>
            <a:pPr algn="l">
              <a:lnSpc>
                <a:spcPct val="130000"/>
              </a:lnSpc>
            </a:pPr>
            <a:r>
              <a:rPr sz="2300" b="0" i="0">
                <a:solidFill>
                  <a:srgbClr val="2563EB"/>
                </a:solidFill>
                <a:latin typeface="Calibri"/>
              </a:rPr>
              <a:t>🦀</a:t>
            </a:r>
          </a:p>
        </p:txBody>
      </p:sp>
      <p:sp>
        <p:nvSpPr>
          <p:cNvPr id="23" name="TextBox 22"/>
          <p:cNvSpPr txBox="1"/>
          <p:nvPr/>
        </p:nvSpPr>
        <p:spPr>
          <a:xfrm>
            <a:off x="8924544" y="2286000"/>
            <a:ext cx="2240280" cy="457200"/>
          </a:xfrm>
          <a:prstGeom prst="rect">
            <a:avLst/>
          </a:prstGeom>
          <a:noFill/>
        </p:spPr>
        <p:txBody>
          <a:bodyPr wrap="square" lIns="0" rIns="0" tIns="0" bIns="0" anchor="t">
            <a:spAutoFit/>
          </a:bodyPr>
          <a:lstStyle/>
          <a:p>
            <a:pPr algn="l">
              <a:lnSpc>
                <a:spcPct val="130000"/>
              </a:lnSpc>
            </a:pPr>
            <a:r>
              <a:rPr sz="1450" b="1" i="0">
                <a:solidFill>
                  <a:srgbClr val="1F2937"/>
                </a:solidFill>
                <a:latin typeface="Cambria"/>
              </a:rPr>
              <a:t>起動時に記憶</a:t>
            </a:r>
          </a:p>
        </p:txBody>
      </p:sp>
      <p:sp>
        <p:nvSpPr>
          <p:cNvPr id="24" name="TextBox 23"/>
          <p:cNvSpPr txBox="1"/>
          <p:nvPr/>
        </p:nvSpPr>
        <p:spPr>
          <a:xfrm>
            <a:off x="8302752" y="2834639"/>
            <a:ext cx="2788920" cy="777239"/>
          </a:xfrm>
          <a:prstGeom prst="rect">
            <a:avLst/>
          </a:prstGeom>
          <a:noFill/>
        </p:spPr>
        <p:txBody>
          <a:bodyPr wrap="square" lIns="0" rIns="0" tIns="0" bIns="0" anchor="t">
            <a:spAutoFit/>
          </a:bodyPr>
          <a:lstStyle/>
          <a:p>
            <a:pPr algn="l">
              <a:lnSpc>
                <a:spcPct val="132000"/>
              </a:lnSpc>
            </a:pPr>
            <a:r>
              <a:rPr sz="1100" b="0" i="0">
                <a:solidFill>
                  <a:srgbClr val="5B6472"/>
                </a:solidFill>
                <a:latin typeface="Calibri"/>
              </a:rPr>
              <a:t>エンジン起動時に一度だけ読み込み、
メモリ上の高速な表に保持する
(RwLock&lt;HashMap&gt;)</a:t>
            </a:r>
          </a:p>
        </p:txBody>
      </p:sp>
      <p:sp>
        <p:nvSpPr>
          <p:cNvPr id="25" name="TextBox 24"/>
          <p:cNvSpPr txBox="1"/>
          <p:nvPr/>
        </p:nvSpPr>
        <p:spPr>
          <a:xfrm>
            <a:off x="8302752" y="3630168"/>
            <a:ext cx="2788920" cy="292608"/>
          </a:xfrm>
          <a:prstGeom prst="rect">
            <a:avLst/>
          </a:prstGeom>
          <a:noFill/>
        </p:spPr>
        <p:txBody>
          <a:bodyPr wrap="square" lIns="0" rIns="0" tIns="0" bIns="0" anchor="t">
            <a:spAutoFit/>
          </a:bodyPr>
          <a:lstStyle/>
          <a:p>
            <a:pPr algn="l">
              <a:lnSpc>
                <a:spcPct val="130000"/>
              </a:lnSpc>
            </a:pPr>
            <a:r>
              <a:rPr sz="1000" b="1" i="0">
                <a:solidFill>
                  <a:srgbClr val="2563EB"/>
                </a:solidFill>
                <a:latin typeface="Consolas"/>
              </a:rPr>
              <a:t>Rust・読み込みは起動時の 1 回だけ</a:t>
            </a:r>
          </a:p>
        </p:txBody>
      </p:sp>
      <p:sp>
        <p:nvSpPr>
          <p:cNvPr id="26" name="Down Arrow 25"/>
          <p:cNvSpPr/>
          <p:nvPr/>
        </p:nvSpPr>
        <p:spPr>
          <a:xfrm>
            <a:off x="5897880" y="4069080"/>
            <a:ext cx="411480" cy="384048"/>
          </a:xfrm>
          <a:prstGeom prst="down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4114800"/>
            <a:ext cx="5029200" cy="365760"/>
          </a:xfrm>
          <a:prstGeom prst="rect">
            <a:avLst/>
          </a:prstGeom>
          <a:noFill/>
        </p:spPr>
        <p:txBody>
          <a:bodyPr wrap="square" lIns="0" rIns="0" tIns="0" bIns="0" anchor="t">
            <a:spAutoFit/>
          </a:bodyPr>
          <a:lstStyle/>
          <a:p>
            <a:pPr algn="l">
              <a:lnSpc>
                <a:spcPct val="130000"/>
              </a:lnSpc>
            </a:pPr>
            <a:r>
              <a:rPr sz="1200" b="1" i="1">
                <a:solidFill>
                  <a:srgbClr val="1D4ED8"/>
                </a:solidFill>
                <a:latin typeface="Calibri"/>
              </a:rPr>
              <a:t>スキャン実行中 — ログを 1 件ずつ処理</a:t>
            </a:r>
          </a:p>
        </p:txBody>
      </p:sp>
      <p:sp>
        <p:nvSpPr>
          <p:cNvPr id="28" name="Rounded Rectangle 27"/>
          <p:cNvSpPr/>
          <p:nvPr/>
        </p:nvSpPr>
        <p:spPr>
          <a:xfrm>
            <a:off x="1280160" y="4526280"/>
            <a:ext cx="4297680" cy="141732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280160" y="4526280"/>
            <a:ext cx="73152"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81328" y="4672584"/>
            <a:ext cx="731520" cy="548640"/>
          </a:xfrm>
          <a:prstGeom prst="rect">
            <a:avLst/>
          </a:prstGeom>
          <a:noFill/>
        </p:spPr>
        <p:txBody>
          <a:bodyPr wrap="square" lIns="0" rIns="0" tIns="0" bIns="0" anchor="t">
            <a:spAutoFit/>
          </a:bodyPr>
          <a:lstStyle/>
          <a:p>
            <a:pPr algn="l">
              <a:lnSpc>
                <a:spcPct val="130000"/>
              </a:lnSpc>
            </a:pPr>
            <a:r>
              <a:rPr sz="2300" b="0" i="0">
                <a:solidFill>
                  <a:srgbClr val="2563EB"/>
                </a:solidFill>
                <a:latin typeface="Calibri"/>
              </a:rPr>
              <a:t>🔍</a:t>
            </a:r>
          </a:p>
        </p:txBody>
      </p:sp>
      <p:sp>
        <p:nvSpPr>
          <p:cNvPr id="31" name="TextBox 30"/>
          <p:cNvSpPr txBox="1"/>
          <p:nvPr/>
        </p:nvSpPr>
        <p:spPr>
          <a:xfrm>
            <a:off x="2121408" y="4709160"/>
            <a:ext cx="3337560" cy="457200"/>
          </a:xfrm>
          <a:prstGeom prst="rect">
            <a:avLst/>
          </a:prstGeom>
          <a:noFill/>
        </p:spPr>
        <p:txBody>
          <a:bodyPr wrap="square" lIns="0" rIns="0" tIns="0" bIns="0" anchor="t">
            <a:spAutoFit/>
          </a:bodyPr>
          <a:lstStyle/>
          <a:p>
            <a:pPr algn="l">
              <a:lnSpc>
                <a:spcPct val="130000"/>
              </a:lnSpc>
            </a:pPr>
            <a:r>
              <a:rPr sz="1450" b="1" i="0">
                <a:solidFill>
                  <a:srgbClr val="1F2937"/>
                </a:solidFill>
                <a:latin typeface="Cambria"/>
              </a:rPr>
              <a:t>ログ 1 件ごとに照合</a:t>
            </a:r>
          </a:p>
        </p:txBody>
      </p:sp>
      <p:sp>
        <p:nvSpPr>
          <p:cNvPr id="32" name="TextBox 31"/>
          <p:cNvSpPr txBox="1"/>
          <p:nvPr/>
        </p:nvSpPr>
        <p:spPr>
          <a:xfrm>
            <a:off x="1499616" y="5257800"/>
            <a:ext cx="3886200" cy="320040"/>
          </a:xfrm>
          <a:prstGeom prst="rect">
            <a:avLst/>
          </a:prstGeom>
          <a:noFill/>
        </p:spPr>
        <p:txBody>
          <a:bodyPr wrap="square" lIns="0" rIns="0" tIns="0" bIns="0" anchor="t">
            <a:spAutoFit/>
          </a:bodyPr>
          <a:lstStyle/>
          <a:p>
            <a:pPr algn="l">
              <a:lnSpc>
                <a:spcPct val="132000"/>
              </a:lnSpc>
            </a:pPr>
            <a:r>
              <a:rPr sz="1100" b="0" i="0">
                <a:solidFill>
                  <a:srgbClr val="5B6472"/>
                </a:solidFill>
                <a:latin typeface="Calibri"/>
              </a:rPr>
              <a:t>Sysmon EID 6 (ドライバ読込) の
ハッシュを、記憶した表と突合。
1 件あたりほぼ一瞬 (O(1))</a:t>
            </a:r>
          </a:p>
        </p:txBody>
      </p:sp>
      <p:sp>
        <p:nvSpPr>
          <p:cNvPr id="33" name="Right Arrow 32"/>
          <p:cNvSpPr/>
          <p:nvPr/>
        </p:nvSpPr>
        <p:spPr>
          <a:xfrm>
            <a:off x="5650992" y="5029200"/>
            <a:ext cx="502920" cy="365760"/>
          </a:xfrm>
          <a:prstGeom prst="rightArrow">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355080" y="4526280"/>
            <a:ext cx="4297680" cy="141732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55080" y="4526280"/>
            <a:ext cx="7315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56248" y="4672584"/>
            <a:ext cx="731520" cy="548640"/>
          </a:xfrm>
          <a:prstGeom prst="rect">
            <a:avLst/>
          </a:prstGeom>
          <a:noFill/>
        </p:spPr>
        <p:txBody>
          <a:bodyPr wrap="square" lIns="0" rIns="0" tIns="0" bIns="0" anchor="t">
            <a:spAutoFit/>
          </a:bodyPr>
          <a:lstStyle/>
          <a:p>
            <a:pPr algn="l">
              <a:lnSpc>
                <a:spcPct val="130000"/>
              </a:lnSpc>
            </a:pPr>
            <a:r>
              <a:rPr sz="2300" b="0" i="0">
                <a:solidFill>
                  <a:srgbClr val="DC2626"/>
                </a:solidFill>
                <a:latin typeface="Calibri"/>
              </a:rPr>
              <a:t>🚨</a:t>
            </a:r>
          </a:p>
        </p:txBody>
      </p:sp>
      <p:sp>
        <p:nvSpPr>
          <p:cNvPr id="37" name="TextBox 36"/>
          <p:cNvSpPr txBox="1"/>
          <p:nvPr/>
        </p:nvSpPr>
        <p:spPr>
          <a:xfrm>
            <a:off x="7196328" y="4709160"/>
            <a:ext cx="3337560" cy="457200"/>
          </a:xfrm>
          <a:prstGeom prst="rect">
            <a:avLst/>
          </a:prstGeom>
          <a:noFill/>
        </p:spPr>
        <p:txBody>
          <a:bodyPr wrap="square" lIns="0" rIns="0" tIns="0" bIns="0" anchor="t">
            <a:spAutoFit/>
          </a:bodyPr>
          <a:lstStyle/>
          <a:p>
            <a:pPr algn="l">
              <a:lnSpc>
                <a:spcPct val="130000"/>
              </a:lnSpc>
            </a:pPr>
            <a:r>
              <a:rPr sz="1450" b="1" i="0">
                <a:solidFill>
                  <a:srgbClr val="DC2626"/>
                </a:solidFill>
                <a:latin typeface="Cambria"/>
              </a:rPr>
              <a:t>一致したら critical 通知</a:t>
            </a:r>
          </a:p>
        </p:txBody>
      </p:sp>
      <p:sp>
        <p:nvSpPr>
          <p:cNvPr id="38" name="TextBox 37"/>
          <p:cNvSpPr txBox="1"/>
          <p:nvPr/>
        </p:nvSpPr>
        <p:spPr>
          <a:xfrm>
            <a:off x="6574536" y="5257800"/>
            <a:ext cx="3886200" cy="320040"/>
          </a:xfrm>
          <a:prstGeom prst="rect">
            <a:avLst/>
          </a:prstGeom>
          <a:noFill/>
        </p:spPr>
        <p:txBody>
          <a:bodyPr wrap="square" lIns="0" rIns="0" tIns="0" bIns="0" anchor="t">
            <a:spAutoFit/>
          </a:bodyPr>
          <a:lstStyle/>
          <a:p>
            <a:pPr algn="l">
              <a:lnSpc>
                <a:spcPct val="132000"/>
              </a:lnSpc>
            </a:pPr>
            <a:r>
              <a:rPr sz="1100" b="0" i="0">
                <a:solidFill>
                  <a:srgbClr val="5B6472"/>
                </a:solidFill>
                <a:latin typeface="Calibri"/>
              </a:rPr>
              <a:t>既知の悪用ドライバが読み込まれた
= BYOVD 攻撃の痕跡。
最高レベル (critical) で警告。</a:t>
            </a:r>
          </a:p>
        </p:txBody>
      </p:sp>
      <p:sp>
        <p:nvSpPr>
          <p:cNvPr id="39" name="TextBox 38"/>
          <p:cNvSpPr txBox="1"/>
          <p:nvPr/>
        </p:nvSpPr>
        <p:spPr>
          <a:xfrm>
            <a:off x="548640" y="6053328"/>
            <a:ext cx="11064240" cy="365760"/>
          </a:xfrm>
          <a:prstGeom prst="rect">
            <a:avLst/>
          </a:prstGeom>
          <a:noFill/>
        </p:spPr>
        <p:txBody>
          <a:bodyPr wrap="square" lIns="0" rIns="0" tIns="0" bIns="0" anchor="t">
            <a:spAutoFit/>
          </a:bodyPr>
          <a:lstStyle/>
          <a:p>
            <a:pPr algn="l">
              <a:lnSpc>
                <a:spcPct val="130000"/>
              </a:lnSpc>
            </a:pPr>
            <a:r>
              <a:rPr sz="1150" b="1" i="0">
                <a:solidFill>
                  <a:srgbClr val="1D4ED8"/>
                </a:solidFill>
                <a:latin typeface="Calibri"/>
              </a:rPr>
              <a:t>ポイント:  リストが何万件に増えても照合速度は一定。ルール本文は 1 行のまま、リスト側を更新するだけで最新の脅威に追従できる。</a:t>
            </a:r>
          </a:p>
        </p:txBody>
      </p:sp>
      <p:sp>
        <p:nvSpPr>
          <p:cNvPr id="40" name="TextBox 39"/>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開発内容 2 / 3   (検知ルール)</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②  攻撃を見抜く検知ルールを 13 本自作</a:t>
            </a:r>
          </a:p>
        </p:txBody>
      </p:sp>
      <p:sp>
        <p:nvSpPr>
          <p:cNvPr id="5" name="TextBox 4"/>
          <p:cNvSpPr txBox="1"/>
          <p:nvPr/>
        </p:nvSpPr>
        <p:spPr>
          <a:xfrm>
            <a:off x="548640" y="1645920"/>
            <a:ext cx="11064240" cy="457200"/>
          </a:xfrm>
          <a:prstGeom prst="rect">
            <a:avLst/>
          </a:prstGeom>
          <a:noFill/>
        </p:spPr>
        <p:txBody>
          <a:bodyPr wrap="square" lIns="0" rIns="0" tIns="0" bIns="0" anchor="t">
            <a:spAutoFit/>
          </a:bodyPr>
          <a:lstStyle/>
          <a:p>
            <a:pPr algn="l">
              <a:lnSpc>
                <a:spcPct val="130000"/>
              </a:lnSpc>
            </a:pPr>
            <a:r>
              <a:rPr sz="1500" b="1" i="1">
                <a:solidFill>
                  <a:srgbClr val="1D4ED8"/>
                </a:solidFill>
                <a:latin typeface="Calibri"/>
              </a:rPr>
              <a:t>着眼点: 攻撃者は必ず「証拠隠し」をする。なら、消す行為そのものを検知すればいい。</a:t>
            </a:r>
          </a:p>
        </p:txBody>
      </p:sp>
      <p:sp>
        <p:nvSpPr>
          <p:cNvPr id="6" name="Rounded Rectangle 5"/>
          <p:cNvSpPr/>
          <p:nvPr/>
        </p:nvSpPr>
        <p:spPr>
          <a:xfrm>
            <a:off x="548640" y="2286000"/>
            <a:ext cx="2697480" cy="292608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286000"/>
            <a:ext cx="73152" cy="2926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468880"/>
            <a:ext cx="914400" cy="640080"/>
          </a:xfrm>
          <a:prstGeom prst="rect">
            <a:avLst/>
          </a:prstGeom>
          <a:noFill/>
        </p:spPr>
        <p:txBody>
          <a:bodyPr wrap="square" lIns="0" rIns="0" tIns="0" bIns="0" anchor="t">
            <a:spAutoFit/>
          </a:bodyPr>
          <a:lstStyle/>
          <a:p>
            <a:pPr algn="l">
              <a:lnSpc>
                <a:spcPct val="130000"/>
              </a:lnSpc>
            </a:pPr>
            <a:r>
              <a:rPr sz="3000" b="0" i="0">
                <a:solidFill>
                  <a:srgbClr val="2563EB"/>
                </a:solidFill>
                <a:latin typeface="Calibri"/>
              </a:rPr>
              <a:t>🧹</a:t>
            </a:r>
          </a:p>
        </p:txBody>
      </p:sp>
      <p:sp>
        <p:nvSpPr>
          <p:cNvPr id="9" name="TextBox 8"/>
          <p:cNvSpPr txBox="1"/>
          <p:nvPr/>
        </p:nvSpPr>
        <p:spPr>
          <a:xfrm>
            <a:off x="731520" y="3154680"/>
            <a:ext cx="2423160" cy="457200"/>
          </a:xfrm>
          <a:prstGeom prst="rect">
            <a:avLst/>
          </a:prstGeom>
          <a:noFill/>
        </p:spPr>
        <p:txBody>
          <a:bodyPr wrap="square" lIns="0" rIns="0" tIns="0" bIns="0" anchor="t">
            <a:spAutoFit/>
          </a:bodyPr>
          <a:lstStyle/>
          <a:p>
            <a:pPr algn="l">
              <a:lnSpc>
                <a:spcPct val="130000"/>
              </a:lnSpc>
            </a:pPr>
            <a:r>
              <a:rPr sz="1700" b="1" i="0">
                <a:solidFill>
                  <a:srgbClr val="1F2937"/>
                </a:solidFill>
                <a:latin typeface="Cambria"/>
              </a:rPr>
              <a:t>ログの消去</a:t>
            </a:r>
          </a:p>
        </p:txBody>
      </p:sp>
      <p:sp>
        <p:nvSpPr>
          <p:cNvPr id="10" name="TextBox 9"/>
          <p:cNvSpPr txBox="1"/>
          <p:nvPr/>
        </p:nvSpPr>
        <p:spPr>
          <a:xfrm>
            <a:off x="731520" y="3657600"/>
            <a:ext cx="2331720" cy="868680"/>
          </a:xfrm>
          <a:prstGeom prst="rect">
            <a:avLst/>
          </a:prstGeom>
          <a:noFill/>
        </p:spPr>
        <p:txBody>
          <a:bodyPr wrap="square" lIns="0" rIns="0" tIns="0" bIns="0" anchor="t">
            <a:spAutoFit/>
          </a:bodyPr>
          <a:lstStyle/>
          <a:p>
            <a:pPr algn="l">
              <a:lnSpc>
                <a:spcPct val="140000"/>
              </a:lnSpc>
            </a:pPr>
            <a:r>
              <a:rPr sz="1100" b="0" i="0">
                <a:solidFill>
                  <a:srgbClr val="1F2937"/>
                </a:solidFill>
                <a:latin typeface="Calibri"/>
              </a:rPr>
              <a:t>調査の手がかりになる
ログを消すコマンドの実行</a:t>
            </a:r>
          </a:p>
        </p:txBody>
      </p:sp>
      <p:sp>
        <p:nvSpPr>
          <p:cNvPr id="11" name="TextBox 10"/>
          <p:cNvSpPr txBox="1"/>
          <p:nvPr/>
        </p:nvSpPr>
        <p:spPr>
          <a:xfrm>
            <a:off x="731520" y="4617720"/>
            <a:ext cx="2331720" cy="365760"/>
          </a:xfrm>
          <a:prstGeom prst="rect">
            <a:avLst/>
          </a:prstGeom>
          <a:noFill/>
        </p:spPr>
        <p:txBody>
          <a:bodyPr wrap="square" lIns="0" rIns="0" tIns="0" bIns="0" anchor="t">
            <a:spAutoFit/>
          </a:bodyPr>
          <a:lstStyle/>
          <a:p>
            <a:pPr algn="l">
              <a:lnSpc>
                <a:spcPct val="130000"/>
              </a:lnSpc>
            </a:pPr>
            <a:r>
              <a:rPr sz="1000" b="0" i="1">
                <a:solidFill>
                  <a:srgbClr val="5B6472"/>
                </a:solidFill>
                <a:latin typeface="Calibri"/>
              </a:rPr>
              <a:t>(wevtutil 等)</a:t>
            </a:r>
          </a:p>
        </p:txBody>
      </p:sp>
      <p:sp>
        <p:nvSpPr>
          <p:cNvPr id="12" name="Rounded Rectangle 11"/>
          <p:cNvSpPr/>
          <p:nvPr/>
        </p:nvSpPr>
        <p:spPr>
          <a:xfrm>
            <a:off x="3429000" y="2286000"/>
            <a:ext cx="2697480" cy="292608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29000" y="2286000"/>
            <a:ext cx="73152" cy="2926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468880"/>
            <a:ext cx="914400" cy="640080"/>
          </a:xfrm>
          <a:prstGeom prst="rect">
            <a:avLst/>
          </a:prstGeom>
          <a:noFill/>
        </p:spPr>
        <p:txBody>
          <a:bodyPr wrap="square" lIns="0" rIns="0" tIns="0" bIns="0" anchor="t">
            <a:spAutoFit/>
          </a:bodyPr>
          <a:lstStyle/>
          <a:p>
            <a:pPr algn="l">
              <a:lnSpc>
                <a:spcPct val="130000"/>
              </a:lnSpc>
            </a:pPr>
            <a:r>
              <a:rPr sz="3000" b="0" i="0">
                <a:solidFill>
                  <a:srgbClr val="2563EB"/>
                </a:solidFill>
                <a:latin typeface="Calibri"/>
              </a:rPr>
              <a:t>💣</a:t>
            </a:r>
          </a:p>
        </p:txBody>
      </p:sp>
      <p:sp>
        <p:nvSpPr>
          <p:cNvPr id="15" name="TextBox 14"/>
          <p:cNvSpPr txBox="1"/>
          <p:nvPr/>
        </p:nvSpPr>
        <p:spPr>
          <a:xfrm>
            <a:off x="3611880" y="3154680"/>
            <a:ext cx="2423160" cy="457200"/>
          </a:xfrm>
          <a:prstGeom prst="rect">
            <a:avLst/>
          </a:prstGeom>
          <a:noFill/>
        </p:spPr>
        <p:txBody>
          <a:bodyPr wrap="square" lIns="0" rIns="0" tIns="0" bIns="0" anchor="t">
            <a:spAutoFit/>
          </a:bodyPr>
          <a:lstStyle/>
          <a:p>
            <a:pPr algn="l">
              <a:lnSpc>
                <a:spcPct val="130000"/>
              </a:lnSpc>
            </a:pPr>
            <a:r>
              <a:rPr sz="1700" b="1" i="0">
                <a:solidFill>
                  <a:srgbClr val="1F2937"/>
                </a:solidFill>
                <a:latin typeface="Cambria"/>
              </a:rPr>
              <a:t>復元データの削除</a:t>
            </a:r>
          </a:p>
        </p:txBody>
      </p:sp>
      <p:sp>
        <p:nvSpPr>
          <p:cNvPr id="16" name="TextBox 15"/>
          <p:cNvSpPr txBox="1"/>
          <p:nvPr/>
        </p:nvSpPr>
        <p:spPr>
          <a:xfrm>
            <a:off x="3611880" y="3657600"/>
            <a:ext cx="2331720" cy="868680"/>
          </a:xfrm>
          <a:prstGeom prst="rect">
            <a:avLst/>
          </a:prstGeom>
          <a:noFill/>
        </p:spPr>
        <p:txBody>
          <a:bodyPr wrap="square" lIns="0" rIns="0" tIns="0" bIns="0" anchor="t">
            <a:spAutoFit/>
          </a:bodyPr>
          <a:lstStyle/>
          <a:p>
            <a:pPr algn="l">
              <a:lnSpc>
                <a:spcPct val="140000"/>
              </a:lnSpc>
            </a:pPr>
            <a:r>
              <a:rPr sz="1100" b="0" i="0">
                <a:solidFill>
                  <a:srgbClr val="1F2937"/>
                </a:solidFill>
                <a:latin typeface="Calibri"/>
              </a:rPr>
              <a:t>バックアップを消す行為
(ランサムウェアの前兆)</a:t>
            </a:r>
          </a:p>
        </p:txBody>
      </p:sp>
      <p:sp>
        <p:nvSpPr>
          <p:cNvPr id="17" name="TextBox 16"/>
          <p:cNvSpPr txBox="1"/>
          <p:nvPr/>
        </p:nvSpPr>
        <p:spPr>
          <a:xfrm>
            <a:off x="3611880" y="4617720"/>
            <a:ext cx="2331720" cy="365760"/>
          </a:xfrm>
          <a:prstGeom prst="rect">
            <a:avLst/>
          </a:prstGeom>
          <a:noFill/>
        </p:spPr>
        <p:txBody>
          <a:bodyPr wrap="square" lIns="0" rIns="0" tIns="0" bIns="0" anchor="t">
            <a:spAutoFit/>
          </a:bodyPr>
          <a:lstStyle/>
          <a:p>
            <a:pPr algn="l">
              <a:lnSpc>
                <a:spcPct val="130000"/>
              </a:lnSpc>
            </a:pPr>
            <a:r>
              <a:rPr sz="1000" b="0" i="1">
                <a:solidFill>
                  <a:srgbClr val="5B6472"/>
                </a:solidFill>
                <a:latin typeface="Calibri"/>
              </a:rPr>
              <a:t>(シャドウコピー削除)</a:t>
            </a:r>
          </a:p>
        </p:txBody>
      </p:sp>
      <p:sp>
        <p:nvSpPr>
          <p:cNvPr id="18" name="Rounded Rectangle 17"/>
          <p:cNvSpPr/>
          <p:nvPr/>
        </p:nvSpPr>
        <p:spPr>
          <a:xfrm>
            <a:off x="6309360" y="2286000"/>
            <a:ext cx="2697480" cy="292608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286000"/>
            <a:ext cx="73152" cy="2926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2468880"/>
            <a:ext cx="914400" cy="640080"/>
          </a:xfrm>
          <a:prstGeom prst="rect">
            <a:avLst/>
          </a:prstGeom>
          <a:noFill/>
        </p:spPr>
        <p:txBody>
          <a:bodyPr wrap="square" lIns="0" rIns="0" tIns="0" bIns="0" anchor="t">
            <a:spAutoFit/>
          </a:bodyPr>
          <a:lstStyle/>
          <a:p>
            <a:pPr algn="l">
              <a:lnSpc>
                <a:spcPct val="130000"/>
              </a:lnSpc>
            </a:pPr>
            <a:r>
              <a:rPr sz="3000" b="0" i="0">
                <a:solidFill>
                  <a:srgbClr val="2563EB"/>
                </a:solidFill>
                <a:latin typeface="Calibri"/>
              </a:rPr>
              <a:t>🙈</a:t>
            </a:r>
          </a:p>
        </p:txBody>
      </p:sp>
      <p:sp>
        <p:nvSpPr>
          <p:cNvPr id="21" name="TextBox 20"/>
          <p:cNvSpPr txBox="1"/>
          <p:nvPr/>
        </p:nvSpPr>
        <p:spPr>
          <a:xfrm>
            <a:off x="6492240" y="3154680"/>
            <a:ext cx="2423160" cy="457200"/>
          </a:xfrm>
          <a:prstGeom prst="rect">
            <a:avLst/>
          </a:prstGeom>
          <a:noFill/>
        </p:spPr>
        <p:txBody>
          <a:bodyPr wrap="square" lIns="0" rIns="0" tIns="0" bIns="0" anchor="t">
            <a:spAutoFit/>
          </a:bodyPr>
          <a:lstStyle/>
          <a:p>
            <a:pPr algn="l">
              <a:lnSpc>
                <a:spcPct val="130000"/>
              </a:lnSpc>
            </a:pPr>
            <a:r>
              <a:rPr sz="1700" b="1" i="0">
                <a:solidFill>
                  <a:srgbClr val="1F2937"/>
                </a:solidFill>
                <a:latin typeface="Cambria"/>
              </a:rPr>
              <a:t>監視の無効化</a:t>
            </a:r>
          </a:p>
        </p:txBody>
      </p:sp>
      <p:sp>
        <p:nvSpPr>
          <p:cNvPr id="22" name="TextBox 21"/>
          <p:cNvSpPr txBox="1"/>
          <p:nvPr/>
        </p:nvSpPr>
        <p:spPr>
          <a:xfrm>
            <a:off x="6492240" y="3657600"/>
            <a:ext cx="2331720" cy="868680"/>
          </a:xfrm>
          <a:prstGeom prst="rect">
            <a:avLst/>
          </a:prstGeom>
          <a:noFill/>
        </p:spPr>
        <p:txBody>
          <a:bodyPr wrap="square" lIns="0" rIns="0" tIns="0" bIns="0" anchor="t">
            <a:spAutoFit/>
          </a:bodyPr>
          <a:lstStyle/>
          <a:p>
            <a:pPr algn="l">
              <a:lnSpc>
                <a:spcPct val="140000"/>
              </a:lnSpc>
            </a:pPr>
            <a:r>
              <a:rPr sz="1100" b="0" i="0">
                <a:solidFill>
                  <a:srgbClr val="1F2937"/>
                </a:solidFill>
                <a:latin typeface="Calibri"/>
              </a:rPr>
              <a:t>ログを記録する機能や
監査そのものを止める行為</a:t>
            </a:r>
          </a:p>
        </p:txBody>
      </p:sp>
      <p:sp>
        <p:nvSpPr>
          <p:cNvPr id="23" name="TextBox 22"/>
          <p:cNvSpPr txBox="1"/>
          <p:nvPr/>
        </p:nvSpPr>
        <p:spPr>
          <a:xfrm>
            <a:off x="6492240" y="4617720"/>
            <a:ext cx="2331720" cy="365760"/>
          </a:xfrm>
          <a:prstGeom prst="rect">
            <a:avLst/>
          </a:prstGeom>
          <a:noFill/>
        </p:spPr>
        <p:txBody>
          <a:bodyPr wrap="square" lIns="0" rIns="0" tIns="0" bIns="0" anchor="t">
            <a:spAutoFit/>
          </a:bodyPr>
          <a:lstStyle/>
          <a:p>
            <a:pPr algn="l">
              <a:lnSpc>
                <a:spcPct val="130000"/>
              </a:lnSpc>
            </a:pPr>
            <a:r>
              <a:rPr sz="1000" b="0" i="1">
                <a:solidFill>
                  <a:srgbClr val="5B6472"/>
                </a:solidFill>
                <a:latin typeface="Calibri"/>
              </a:rPr>
              <a:t>(監査ポリシー改変)</a:t>
            </a:r>
          </a:p>
        </p:txBody>
      </p:sp>
      <p:sp>
        <p:nvSpPr>
          <p:cNvPr id="24" name="Rounded Rectangle 23"/>
          <p:cNvSpPr/>
          <p:nvPr/>
        </p:nvSpPr>
        <p:spPr>
          <a:xfrm>
            <a:off x="9189720" y="2286000"/>
            <a:ext cx="2697480" cy="292608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2286000"/>
            <a:ext cx="73152" cy="2926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72600" y="2468880"/>
            <a:ext cx="914400" cy="640080"/>
          </a:xfrm>
          <a:prstGeom prst="rect">
            <a:avLst/>
          </a:prstGeom>
          <a:noFill/>
        </p:spPr>
        <p:txBody>
          <a:bodyPr wrap="square" lIns="0" rIns="0" tIns="0" bIns="0" anchor="t">
            <a:spAutoFit/>
          </a:bodyPr>
          <a:lstStyle/>
          <a:p>
            <a:pPr algn="l">
              <a:lnSpc>
                <a:spcPct val="130000"/>
              </a:lnSpc>
            </a:pPr>
            <a:r>
              <a:rPr sz="3000" b="0" i="0">
                <a:solidFill>
                  <a:srgbClr val="2563EB"/>
                </a:solidFill>
                <a:latin typeface="Calibri"/>
              </a:rPr>
              <a:t>🔑</a:t>
            </a:r>
          </a:p>
        </p:txBody>
      </p:sp>
      <p:sp>
        <p:nvSpPr>
          <p:cNvPr id="27" name="TextBox 26"/>
          <p:cNvSpPr txBox="1"/>
          <p:nvPr/>
        </p:nvSpPr>
        <p:spPr>
          <a:xfrm>
            <a:off x="9372600" y="3154680"/>
            <a:ext cx="2423160" cy="457200"/>
          </a:xfrm>
          <a:prstGeom prst="rect">
            <a:avLst/>
          </a:prstGeom>
          <a:noFill/>
        </p:spPr>
        <p:txBody>
          <a:bodyPr wrap="square" lIns="0" rIns="0" tIns="0" bIns="0" anchor="t">
            <a:spAutoFit/>
          </a:bodyPr>
          <a:lstStyle/>
          <a:p>
            <a:pPr algn="l">
              <a:lnSpc>
                <a:spcPct val="130000"/>
              </a:lnSpc>
            </a:pPr>
            <a:r>
              <a:rPr sz="1700" b="1" i="0">
                <a:solidFill>
                  <a:srgbClr val="1F2937"/>
                </a:solidFill>
                <a:latin typeface="Cambria"/>
              </a:rPr>
              <a:t>パスワード抜き取り</a:t>
            </a:r>
          </a:p>
        </p:txBody>
      </p:sp>
      <p:sp>
        <p:nvSpPr>
          <p:cNvPr id="28" name="TextBox 27"/>
          <p:cNvSpPr txBox="1"/>
          <p:nvPr/>
        </p:nvSpPr>
        <p:spPr>
          <a:xfrm>
            <a:off x="9372600" y="3657600"/>
            <a:ext cx="2331720" cy="868680"/>
          </a:xfrm>
          <a:prstGeom prst="rect">
            <a:avLst/>
          </a:prstGeom>
          <a:noFill/>
        </p:spPr>
        <p:txBody>
          <a:bodyPr wrap="square" lIns="0" rIns="0" tIns="0" bIns="0" anchor="t">
            <a:spAutoFit/>
          </a:bodyPr>
          <a:lstStyle/>
          <a:p>
            <a:pPr algn="l">
              <a:lnSpc>
                <a:spcPct val="140000"/>
              </a:lnSpc>
            </a:pPr>
            <a:r>
              <a:rPr sz="1100" b="0" i="0">
                <a:solidFill>
                  <a:srgbClr val="1F2937"/>
                </a:solidFill>
                <a:latin typeface="Calibri"/>
              </a:rPr>
              <a:t>Windows が記憶している
認証情報への不正アクセス</a:t>
            </a:r>
          </a:p>
        </p:txBody>
      </p:sp>
      <p:sp>
        <p:nvSpPr>
          <p:cNvPr id="29" name="TextBox 28"/>
          <p:cNvSpPr txBox="1"/>
          <p:nvPr/>
        </p:nvSpPr>
        <p:spPr>
          <a:xfrm>
            <a:off x="9372600" y="4617720"/>
            <a:ext cx="2331720" cy="365760"/>
          </a:xfrm>
          <a:prstGeom prst="rect">
            <a:avLst/>
          </a:prstGeom>
          <a:noFill/>
        </p:spPr>
        <p:txBody>
          <a:bodyPr wrap="square" lIns="0" rIns="0" tIns="0" bIns="0" anchor="t">
            <a:spAutoFit/>
          </a:bodyPr>
          <a:lstStyle/>
          <a:p>
            <a:pPr algn="l">
              <a:lnSpc>
                <a:spcPct val="130000"/>
              </a:lnSpc>
            </a:pPr>
            <a:r>
              <a:rPr sz="1000" b="0" i="1">
                <a:solidFill>
                  <a:srgbClr val="5B6472"/>
                </a:solidFill>
                <a:latin typeface="Calibri"/>
              </a:rPr>
              <a:t>(LSASS ダンプ)</a:t>
            </a:r>
          </a:p>
        </p:txBody>
      </p:sp>
      <p:sp>
        <p:nvSpPr>
          <p:cNvPr id="30" name="Rounded Rectangle 29"/>
          <p:cNvSpPr/>
          <p:nvPr/>
        </p:nvSpPr>
        <p:spPr>
          <a:xfrm>
            <a:off x="548640" y="5486400"/>
            <a:ext cx="11064240" cy="868680"/>
          </a:xfrm>
          <a:prstGeom prst="roundRect">
            <a:avLst/>
          </a:prstGeom>
          <a:solidFill>
            <a:srgbClr val="E8F0FE"/>
          </a:solidFill>
          <a:ln w="9525">
            <a:solidFill>
              <a:srgbClr val="E8F0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486400"/>
            <a:ext cx="10515600" cy="868680"/>
          </a:xfrm>
          <a:prstGeom prst="rect">
            <a:avLst/>
          </a:prstGeom>
          <a:noFill/>
        </p:spPr>
        <p:txBody>
          <a:bodyPr wrap="square" lIns="0" rIns="0" tIns="0" bIns="0" anchor="ctr">
            <a:spAutoFit/>
          </a:bodyPr>
          <a:lstStyle/>
          <a:p>
            <a:pPr algn="l">
              <a:lnSpc>
                <a:spcPct val="130000"/>
              </a:lnSpc>
            </a:pPr>
            <a:r>
              <a:rPr sz="1350" b="0" i="0">
                <a:solidFill>
                  <a:srgbClr val="1F2937"/>
                </a:solidFill>
                <a:latin typeface="Calibri"/>
              </a:rPr>
              <a:t>誤検知を減らす工夫:  1 つの特徴では鳴らさず、複数の特徴が同時に揃ったときだけ警告する設計に。</a:t>
            </a:r>
          </a:p>
        </p:txBody>
      </p:sp>
      <p:sp>
        <p:nvSpPr>
          <p:cNvPr id="32" name="TextBox 31"/>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開発内容② の中身   (検知のしくみ)</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ルールが実際に「見ている」もの</a:t>
            </a:r>
          </a:p>
        </p:txBody>
      </p:sp>
      <p:sp>
        <p:nvSpPr>
          <p:cNvPr id="5" name="TextBox 4"/>
          <p:cNvSpPr txBox="1"/>
          <p:nvPr/>
        </p:nvSpPr>
        <p:spPr>
          <a:xfrm>
            <a:off x="548640" y="1591056"/>
            <a:ext cx="11064240" cy="365760"/>
          </a:xfrm>
          <a:prstGeom prst="rect">
            <a:avLst/>
          </a:prstGeom>
          <a:noFill/>
        </p:spPr>
        <p:txBody>
          <a:bodyPr wrap="square" lIns="0" rIns="0" tIns="0" bIns="0" anchor="t">
            <a:spAutoFit/>
          </a:bodyPr>
          <a:lstStyle/>
          <a:p>
            <a:pPr algn="l">
              <a:lnSpc>
                <a:spcPct val="130000"/>
              </a:lnSpc>
            </a:pPr>
            <a:r>
              <a:rPr sz="1400" b="0" i="1">
                <a:solidFill>
                  <a:srgbClr val="5B6472"/>
                </a:solidFill>
                <a:latin typeface="Calibri"/>
              </a:rPr>
              <a:t>攻撃者が必ず行う「証拠隠し・準備」を、ログのどの項目で捕まえているか。</a:t>
            </a:r>
          </a:p>
        </p:txBody>
      </p:sp>
      <p:sp>
        <p:nvSpPr>
          <p:cNvPr id="6" name="TextBox 5"/>
          <p:cNvSpPr txBox="1"/>
          <p:nvPr/>
        </p:nvSpPr>
        <p:spPr>
          <a:xfrm>
            <a:off x="713232" y="1938528"/>
            <a:ext cx="2194560" cy="274320"/>
          </a:xfrm>
          <a:prstGeom prst="rect">
            <a:avLst/>
          </a:prstGeom>
          <a:noFill/>
        </p:spPr>
        <p:txBody>
          <a:bodyPr wrap="square" lIns="0" rIns="0" tIns="0" bIns="0" anchor="t">
            <a:spAutoFit/>
          </a:bodyPr>
          <a:lstStyle/>
          <a:p>
            <a:pPr algn="l">
              <a:lnSpc>
                <a:spcPct val="130000"/>
              </a:lnSpc>
            </a:pPr>
            <a:r>
              <a:rPr sz="1050" b="1" i="0">
                <a:solidFill>
                  <a:srgbClr val="1D4ED8"/>
                </a:solidFill>
                <a:latin typeface="Calibri"/>
              </a:rPr>
              <a:t>検知する行為</a:t>
            </a:r>
          </a:p>
        </p:txBody>
      </p:sp>
      <p:sp>
        <p:nvSpPr>
          <p:cNvPr id="7" name="TextBox 6"/>
          <p:cNvSpPr txBox="1"/>
          <p:nvPr/>
        </p:nvSpPr>
        <p:spPr>
          <a:xfrm>
            <a:off x="2926080" y="1938528"/>
            <a:ext cx="2286000" cy="274320"/>
          </a:xfrm>
          <a:prstGeom prst="rect">
            <a:avLst/>
          </a:prstGeom>
          <a:noFill/>
        </p:spPr>
        <p:txBody>
          <a:bodyPr wrap="square" lIns="0" rIns="0" tIns="0" bIns="0" anchor="t">
            <a:spAutoFit/>
          </a:bodyPr>
          <a:lstStyle/>
          <a:p>
            <a:pPr algn="l">
              <a:lnSpc>
                <a:spcPct val="130000"/>
              </a:lnSpc>
            </a:pPr>
            <a:r>
              <a:rPr sz="1050" b="1" i="0">
                <a:solidFill>
                  <a:srgbClr val="1D4ED8"/>
                </a:solidFill>
                <a:latin typeface="Calibri"/>
              </a:rPr>
              <a:t>見るログ (種類)</a:t>
            </a:r>
          </a:p>
        </p:txBody>
      </p:sp>
      <p:sp>
        <p:nvSpPr>
          <p:cNvPr id="8" name="TextBox 7"/>
          <p:cNvSpPr txBox="1"/>
          <p:nvPr/>
        </p:nvSpPr>
        <p:spPr>
          <a:xfrm>
            <a:off x="5349240" y="1938528"/>
            <a:ext cx="3931920" cy="274320"/>
          </a:xfrm>
          <a:prstGeom prst="rect">
            <a:avLst/>
          </a:prstGeom>
          <a:noFill/>
        </p:spPr>
        <p:txBody>
          <a:bodyPr wrap="square" lIns="0" rIns="0" tIns="0" bIns="0" anchor="t">
            <a:spAutoFit/>
          </a:bodyPr>
          <a:lstStyle/>
          <a:p>
            <a:pPr algn="l">
              <a:lnSpc>
                <a:spcPct val="130000"/>
              </a:lnSpc>
            </a:pPr>
            <a:r>
              <a:rPr sz="1050" b="1" i="0">
                <a:solidFill>
                  <a:srgbClr val="1D4ED8"/>
                </a:solidFill>
                <a:latin typeface="Calibri"/>
              </a:rPr>
              <a:t>注目する手がかり (ログの項目)</a:t>
            </a:r>
          </a:p>
        </p:txBody>
      </p:sp>
      <p:sp>
        <p:nvSpPr>
          <p:cNvPr id="9" name="TextBox 8"/>
          <p:cNvSpPr txBox="1"/>
          <p:nvPr/>
        </p:nvSpPr>
        <p:spPr>
          <a:xfrm>
            <a:off x="9464040" y="1938528"/>
            <a:ext cx="2103120" cy="274320"/>
          </a:xfrm>
          <a:prstGeom prst="rect">
            <a:avLst/>
          </a:prstGeom>
          <a:noFill/>
        </p:spPr>
        <p:txBody>
          <a:bodyPr wrap="square" lIns="0" rIns="0" tIns="0" bIns="0" anchor="t">
            <a:spAutoFit/>
          </a:bodyPr>
          <a:lstStyle/>
          <a:p>
            <a:pPr algn="l">
              <a:lnSpc>
                <a:spcPct val="130000"/>
              </a:lnSpc>
            </a:pPr>
            <a:r>
              <a:rPr sz="1050" b="1" i="0">
                <a:solidFill>
                  <a:srgbClr val="1D4ED8"/>
                </a:solidFill>
                <a:latin typeface="Calibri"/>
              </a:rPr>
              <a:t>ひとこと</a:t>
            </a:r>
          </a:p>
        </p:txBody>
      </p:sp>
      <p:sp>
        <p:nvSpPr>
          <p:cNvPr id="10" name="Rounded Rectangle 9"/>
          <p:cNvSpPr/>
          <p:nvPr/>
        </p:nvSpPr>
        <p:spPr>
          <a:xfrm>
            <a:off x="548640" y="2286000"/>
            <a:ext cx="11064240" cy="841248"/>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286000"/>
            <a:ext cx="73152" cy="8412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2286000"/>
            <a:ext cx="502920" cy="841248"/>
          </a:xfrm>
          <a:prstGeom prst="rect">
            <a:avLst/>
          </a:prstGeom>
          <a:noFill/>
        </p:spPr>
        <p:txBody>
          <a:bodyPr wrap="square" lIns="0" rIns="0" tIns="0" bIns="0" anchor="ctr">
            <a:spAutoFit/>
          </a:bodyPr>
          <a:lstStyle/>
          <a:p>
            <a:pPr algn="l">
              <a:lnSpc>
                <a:spcPct val="130000"/>
              </a:lnSpc>
            </a:pPr>
            <a:r>
              <a:rPr sz="2000" b="0" i="0">
                <a:solidFill>
                  <a:srgbClr val="EA580C"/>
                </a:solidFill>
                <a:latin typeface="Calibri"/>
              </a:rPr>
              <a:t>🧹</a:t>
            </a:r>
          </a:p>
        </p:txBody>
      </p:sp>
      <p:sp>
        <p:nvSpPr>
          <p:cNvPr id="13" name="TextBox 12"/>
          <p:cNvSpPr txBox="1"/>
          <p:nvPr/>
        </p:nvSpPr>
        <p:spPr>
          <a:xfrm>
            <a:off x="1188720" y="2441448"/>
            <a:ext cx="1737360" cy="365760"/>
          </a:xfrm>
          <a:prstGeom prst="rect">
            <a:avLst/>
          </a:prstGeom>
          <a:noFill/>
        </p:spPr>
        <p:txBody>
          <a:bodyPr wrap="square" lIns="0" rIns="0" tIns="0" bIns="0" anchor="t">
            <a:spAutoFit/>
          </a:bodyPr>
          <a:lstStyle/>
          <a:p>
            <a:pPr algn="l">
              <a:lnSpc>
                <a:spcPct val="130000"/>
              </a:lnSpc>
            </a:pPr>
            <a:r>
              <a:rPr sz="1150" b="1" i="0">
                <a:solidFill>
                  <a:srgbClr val="1F2937"/>
                </a:solidFill>
                <a:latin typeface="Cambria"/>
              </a:rPr>
              <a:t>ログの消去</a:t>
            </a:r>
          </a:p>
        </p:txBody>
      </p:sp>
      <p:sp>
        <p:nvSpPr>
          <p:cNvPr id="14" name="TextBox 13"/>
          <p:cNvSpPr txBox="1"/>
          <p:nvPr/>
        </p:nvSpPr>
        <p:spPr>
          <a:xfrm>
            <a:off x="1188720" y="2798064"/>
            <a:ext cx="1737360" cy="274320"/>
          </a:xfrm>
          <a:prstGeom prst="rect">
            <a:avLst/>
          </a:prstGeom>
          <a:noFill/>
        </p:spPr>
        <p:txBody>
          <a:bodyPr wrap="square" lIns="0" rIns="0" tIns="0" bIns="0" anchor="t">
            <a:spAutoFit/>
          </a:bodyPr>
          <a:lstStyle/>
          <a:p>
            <a:pPr algn="l">
              <a:lnSpc>
                <a:spcPct val="130000"/>
              </a:lnSpc>
            </a:pPr>
            <a:r>
              <a:rPr sz="900" b="1" i="0">
                <a:solidFill>
                  <a:srgbClr val="EA580C"/>
                </a:solidFill>
                <a:latin typeface="Consolas"/>
              </a:rPr>
              <a:t>high</a:t>
            </a:r>
          </a:p>
        </p:txBody>
      </p:sp>
      <p:sp>
        <p:nvSpPr>
          <p:cNvPr id="15" name="TextBox 14"/>
          <p:cNvSpPr txBox="1"/>
          <p:nvPr/>
        </p:nvSpPr>
        <p:spPr>
          <a:xfrm>
            <a:off x="2926080" y="2286000"/>
            <a:ext cx="2286000" cy="841248"/>
          </a:xfrm>
          <a:prstGeom prst="rect">
            <a:avLst/>
          </a:prstGeom>
          <a:noFill/>
        </p:spPr>
        <p:txBody>
          <a:bodyPr wrap="square" lIns="0" rIns="0" tIns="0" bIns="0" anchor="ctr">
            <a:spAutoFit/>
          </a:bodyPr>
          <a:lstStyle/>
          <a:p>
            <a:pPr algn="l">
              <a:lnSpc>
                <a:spcPct val="122000"/>
              </a:lnSpc>
            </a:pPr>
            <a:r>
              <a:rPr sz="1050" b="0" i="0">
                <a:solidFill>
                  <a:srgbClr val="1F2937"/>
                </a:solidFill>
                <a:latin typeface="Calibri"/>
              </a:rPr>
              <a:t>プロセス起動
Sysmon EID 1 / Security 4688</a:t>
            </a:r>
          </a:p>
        </p:txBody>
      </p:sp>
      <p:sp>
        <p:nvSpPr>
          <p:cNvPr id="16" name="TextBox 15"/>
          <p:cNvSpPr txBox="1"/>
          <p:nvPr/>
        </p:nvSpPr>
        <p:spPr>
          <a:xfrm>
            <a:off x="5349240" y="2286000"/>
            <a:ext cx="3931920" cy="841248"/>
          </a:xfrm>
          <a:prstGeom prst="rect">
            <a:avLst/>
          </a:prstGeom>
          <a:noFill/>
        </p:spPr>
        <p:txBody>
          <a:bodyPr wrap="square" lIns="0" rIns="0" tIns="0" bIns="0" anchor="ctr">
            <a:spAutoFit/>
          </a:bodyPr>
          <a:lstStyle/>
          <a:p>
            <a:pPr algn="l">
              <a:lnSpc>
                <a:spcPct val="122000"/>
              </a:lnSpc>
            </a:pPr>
            <a:r>
              <a:rPr sz="1000" b="0" i="0">
                <a:solidFill>
                  <a:srgbClr val="1D4ED8"/>
                </a:solidFill>
                <a:latin typeface="Consolas"/>
              </a:rPr>
              <a:t>Image:  …\wevtutil.exe
CommandLine:  " cl " (=消去)</a:t>
            </a:r>
          </a:p>
        </p:txBody>
      </p:sp>
      <p:sp>
        <p:nvSpPr>
          <p:cNvPr id="17" name="TextBox 16"/>
          <p:cNvSpPr txBox="1"/>
          <p:nvPr/>
        </p:nvSpPr>
        <p:spPr>
          <a:xfrm>
            <a:off x="9464040" y="2286000"/>
            <a:ext cx="2103120" cy="841248"/>
          </a:xfrm>
          <a:prstGeom prst="rect">
            <a:avLst/>
          </a:prstGeom>
          <a:noFill/>
        </p:spPr>
        <p:txBody>
          <a:bodyPr wrap="square" lIns="0" rIns="0" tIns="0" bIns="0" anchor="ctr">
            <a:spAutoFit/>
          </a:bodyPr>
          <a:lstStyle/>
          <a:p>
            <a:pPr algn="l">
              <a:lnSpc>
                <a:spcPct val="120000"/>
              </a:lnSpc>
            </a:pPr>
            <a:r>
              <a:rPr sz="1050" b="0" i="0">
                <a:solidFill>
                  <a:srgbClr val="5B6472"/>
                </a:solidFill>
                <a:latin typeface="Calibri"/>
              </a:rPr>
              <a:t>消すコマンド
自体がログに残る</a:t>
            </a:r>
          </a:p>
        </p:txBody>
      </p:sp>
      <p:sp>
        <p:nvSpPr>
          <p:cNvPr id="18" name="Rounded Rectangle 17"/>
          <p:cNvSpPr/>
          <p:nvPr/>
        </p:nvSpPr>
        <p:spPr>
          <a:xfrm>
            <a:off x="548640" y="3172968"/>
            <a:ext cx="11064240" cy="841248"/>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172968"/>
            <a:ext cx="73152" cy="8412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 y="3172968"/>
            <a:ext cx="502920" cy="841248"/>
          </a:xfrm>
          <a:prstGeom prst="rect">
            <a:avLst/>
          </a:prstGeom>
          <a:noFill/>
        </p:spPr>
        <p:txBody>
          <a:bodyPr wrap="square" lIns="0" rIns="0" tIns="0" bIns="0" anchor="ctr">
            <a:spAutoFit/>
          </a:bodyPr>
          <a:lstStyle/>
          <a:p>
            <a:pPr algn="l">
              <a:lnSpc>
                <a:spcPct val="130000"/>
              </a:lnSpc>
            </a:pPr>
            <a:r>
              <a:rPr sz="2000" b="0" i="0">
                <a:solidFill>
                  <a:srgbClr val="DC2626"/>
                </a:solidFill>
                <a:latin typeface="Calibri"/>
              </a:rPr>
              <a:t>💣</a:t>
            </a:r>
          </a:p>
        </p:txBody>
      </p:sp>
      <p:sp>
        <p:nvSpPr>
          <p:cNvPr id="21" name="TextBox 20"/>
          <p:cNvSpPr txBox="1"/>
          <p:nvPr/>
        </p:nvSpPr>
        <p:spPr>
          <a:xfrm>
            <a:off x="1188720" y="3328416"/>
            <a:ext cx="1737360" cy="365760"/>
          </a:xfrm>
          <a:prstGeom prst="rect">
            <a:avLst/>
          </a:prstGeom>
          <a:noFill/>
        </p:spPr>
        <p:txBody>
          <a:bodyPr wrap="square" lIns="0" rIns="0" tIns="0" bIns="0" anchor="t">
            <a:spAutoFit/>
          </a:bodyPr>
          <a:lstStyle/>
          <a:p>
            <a:pPr algn="l">
              <a:lnSpc>
                <a:spcPct val="130000"/>
              </a:lnSpc>
            </a:pPr>
            <a:r>
              <a:rPr sz="1150" b="1" i="0">
                <a:solidFill>
                  <a:srgbClr val="1F2937"/>
                </a:solidFill>
                <a:latin typeface="Cambria"/>
              </a:rPr>
              <a:t>復元データの削除</a:t>
            </a:r>
          </a:p>
        </p:txBody>
      </p:sp>
      <p:sp>
        <p:nvSpPr>
          <p:cNvPr id="22" name="TextBox 21"/>
          <p:cNvSpPr txBox="1"/>
          <p:nvPr/>
        </p:nvSpPr>
        <p:spPr>
          <a:xfrm>
            <a:off x="1188720" y="3685032"/>
            <a:ext cx="1737360" cy="274320"/>
          </a:xfrm>
          <a:prstGeom prst="rect">
            <a:avLst/>
          </a:prstGeom>
          <a:noFill/>
        </p:spPr>
        <p:txBody>
          <a:bodyPr wrap="square" lIns="0" rIns="0" tIns="0" bIns="0" anchor="t">
            <a:spAutoFit/>
          </a:bodyPr>
          <a:lstStyle/>
          <a:p>
            <a:pPr algn="l">
              <a:lnSpc>
                <a:spcPct val="130000"/>
              </a:lnSpc>
            </a:pPr>
            <a:r>
              <a:rPr sz="900" b="1" i="0">
                <a:solidFill>
                  <a:srgbClr val="DC2626"/>
                </a:solidFill>
                <a:latin typeface="Consolas"/>
              </a:rPr>
              <a:t>critical</a:t>
            </a:r>
          </a:p>
        </p:txBody>
      </p:sp>
      <p:sp>
        <p:nvSpPr>
          <p:cNvPr id="23" name="TextBox 22"/>
          <p:cNvSpPr txBox="1"/>
          <p:nvPr/>
        </p:nvSpPr>
        <p:spPr>
          <a:xfrm>
            <a:off x="2926080" y="3172968"/>
            <a:ext cx="2286000" cy="841248"/>
          </a:xfrm>
          <a:prstGeom prst="rect">
            <a:avLst/>
          </a:prstGeom>
          <a:noFill/>
        </p:spPr>
        <p:txBody>
          <a:bodyPr wrap="square" lIns="0" rIns="0" tIns="0" bIns="0" anchor="ctr">
            <a:spAutoFit/>
          </a:bodyPr>
          <a:lstStyle/>
          <a:p>
            <a:pPr algn="l">
              <a:lnSpc>
                <a:spcPct val="122000"/>
              </a:lnSpc>
            </a:pPr>
            <a:r>
              <a:rPr sz="1050" b="0" i="0">
                <a:solidFill>
                  <a:srgbClr val="1F2937"/>
                </a:solidFill>
                <a:latin typeface="Calibri"/>
              </a:rPr>
              <a:t>プロセス起動
Sysmon EID 1</a:t>
            </a:r>
          </a:p>
        </p:txBody>
      </p:sp>
      <p:sp>
        <p:nvSpPr>
          <p:cNvPr id="24" name="TextBox 23"/>
          <p:cNvSpPr txBox="1"/>
          <p:nvPr/>
        </p:nvSpPr>
        <p:spPr>
          <a:xfrm>
            <a:off x="5349240" y="3172968"/>
            <a:ext cx="3931920" cy="841248"/>
          </a:xfrm>
          <a:prstGeom prst="rect">
            <a:avLst/>
          </a:prstGeom>
          <a:noFill/>
        </p:spPr>
        <p:txBody>
          <a:bodyPr wrap="square" lIns="0" rIns="0" tIns="0" bIns="0" anchor="ctr">
            <a:spAutoFit/>
          </a:bodyPr>
          <a:lstStyle/>
          <a:p>
            <a:pPr algn="l">
              <a:lnSpc>
                <a:spcPct val="122000"/>
              </a:lnSpc>
            </a:pPr>
            <a:r>
              <a:rPr sz="1000" b="0" i="0">
                <a:solidFill>
                  <a:srgbClr val="1D4ED8"/>
                </a:solidFill>
                <a:latin typeface="Consolas"/>
              </a:rPr>
              <a:t>Image:  …\vssadmin.exe 等
CommandLine:  delete + shadows</a:t>
            </a:r>
          </a:p>
        </p:txBody>
      </p:sp>
      <p:sp>
        <p:nvSpPr>
          <p:cNvPr id="25" name="TextBox 24"/>
          <p:cNvSpPr txBox="1"/>
          <p:nvPr/>
        </p:nvSpPr>
        <p:spPr>
          <a:xfrm>
            <a:off x="9464040" y="3172968"/>
            <a:ext cx="2103120" cy="841248"/>
          </a:xfrm>
          <a:prstGeom prst="rect">
            <a:avLst/>
          </a:prstGeom>
          <a:noFill/>
        </p:spPr>
        <p:txBody>
          <a:bodyPr wrap="square" lIns="0" rIns="0" tIns="0" bIns="0" anchor="ctr">
            <a:spAutoFit/>
          </a:bodyPr>
          <a:lstStyle/>
          <a:p>
            <a:pPr algn="l">
              <a:lnSpc>
                <a:spcPct val="120000"/>
              </a:lnSpc>
            </a:pPr>
            <a:r>
              <a:rPr sz="1050" b="0" i="0">
                <a:solidFill>
                  <a:srgbClr val="5B6472"/>
                </a:solidFill>
                <a:latin typeface="Calibri"/>
              </a:rPr>
              <a:t>ランサムウェア
の前兆</a:t>
            </a:r>
          </a:p>
        </p:txBody>
      </p:sp>
      <p:sp>
        <p:nvSpPr>
          <p:cNvPr id="26" name="Rounded Rectangle 25"/>
          <p:cNvSpPr/>
          <p:nvPr/>
        </p:nvSpPr>
        <p:spPr>
          <a:xfrm>
            <a:off x="548640" y="4059936"/>
            <a:ext cx="11064240" cy="841248"/>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059936"/>
            <a:ext cx="73152" cy="8412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6" y="4059936"/>
            <a:ext cx="502920" cy="841248"/>
          </a:xfrm>
          <a:prstGeom prst="rect">
            <a:avLst/>
          </a:prstGeom>
          <a:noFill/>
        </p:spPr>
        <p:txBody>
          <a:bodyPr wrap="square" lIns="0" rIns="0" tIns="0" bIns="0" anchor="ctr">
            <a:spAutoFit/>
          </a:bodyPr>
          <a:lstStyle/>
          <a:p>
            <a:pPr algn="l">
              <a:lnSpc>
                <a:spcPct val="130000"/>
              </a:lnSpc>
            </a:pPr>
            <a:r>
              <a:rPr sz="2000" b="0" i="0">
                <a:solidFill>
                  <a:srgbClr val="EA580C"/>
                </a:solidFill>
                <a:latin typeface="Calibri"/>
              </a:rPr>
              <a:t>🙈</a:t>
            </a:r>
          </a:p>
        </p:txBody>
      </p:sp>
      <p:sp>
        <p:nvSpPr>
          <p:cNvPr id="29" name="TextBox 28"/>
          <p:cNvSpPr txBox="1"/>
          <p:nvPr/>
        </p:nvSpPr>
        <p:spPr>
          <a:xfrm>
            <a:off x="1188720" y="4215384"/>
            <a:ext cx="1737360" cy="365760"/>
          </a:xfrm>
          <a:prstGeom prst="rect">
            <a:avLst/>
          </a:prstGeom>
          <a:noFill/>
        </p:spPr>
        <p:txBody>
          <a:bodyPr wrap="square" lIns="0" rIns="0" tIns="0" bIns="0" anchor="t">
            <a:spAutoFit/>
          </a:bodyPr>
          <a:lstStyle/>
          <a:p>
            <a:pPr algn="l">
              <a:lnSpc>
                <a:spcPct val="130000"/>
              </a:lnSpc>
            </a:pPr>
            <a:r>
              <a:rPr sz="1150" b="1" i="0">
                <a:solidFill>
                  <a:srgbClr val="1F2937"/>
                </a:solidFill>
                <a:latin typeface="Cambria"/>
              </a:rPr>
              <a:t>監視の無効化</a:t>
            </a:r>
          </a:p>
        </p:txBody>
      </p:sp>
      <p:sp>
        <p:nvSpPr>
          <p:cNvPr id="30" name="TextBox 29"/>
          <p:cNvSpPr txBox="1"/>
          <p:nvPr/>
        </p:nvSpPr>
        <p:spPr>
          <a:xfrm>
            <a:off x="1188720" y="4572000"/>
            <a:ext cx="1737360" cy="274320"/>
          </a:xfrm>
          <a:prstGeom prst="rect">
            <a:avLst/>
          </a:prstGeom>
          <a:noFill/>
        </p:spPr>
        <p:txBody>
          <a:bodyPr wrap="square" lIns="0" rIns="0" tIns="0" bIns="0" anchor="t">
            <a:spAutoFit/>
          </a:bodyPr>
          <a:lstStyle/>
          <a:p>
            <a:pPr algn="l">
              <a:lnSpc>
                <a:spcPct val="130000"/>
              </a:lnSpc>
            </a:pPr>
            <a:r>
              <a:rPr sz="900" b="1" i="0">
                <a:solidFill>
                  <a:srgbClr val="EA580C"/>
                </a:solidFill>
                <a:latin typeface="Consolas"/>
              </a:rPr>
              <a:t>high</a:t>
            </a:r>
          </a:p>
        </p:txBody>
      </p:sp>
      <p:sp>
        <p:nvSpPr>
          <p:cNvPr id="31" name="TextBox 30"/>
          <p:cNvSpPr txBox="1"/>
          <p:nvPr/>
        </p:nvSpPr>
        <p:spPr>
          <a:xfrm>
            <a:off x="2926080" y="4059936"/>
            <a:ext cx="2286000" cy="841248"/>
          </a:xfrm>
          <a:prstGeom prst="rect">
            <a:avLst/>
          </a:prstGeom>
          <a:noFill/>
        </p:spPr>
        <p:txBody>
          <a:bodyPr wrap="square" lIns="0" rIns="0" tIns="0" bIns="0" anchor="ctr">
            <a:spAutoFit/>
          </a:bodyPr>
          <a:lstStyle/>
          <a:p>
            <a:pPr algn="l">
              <a:lnSpc>
                <a:spcPct val="122000"/>
              </a:lnSpc>
            </a:pPr>
            <a:r>
              <a:rPr sz="1050" b="0" i="0">
                <a:solidFill>
                  <a:srgbClr val="1F2937"/>
                </a:solidFill>
                <a:latin typeface="Calibri"/>
              </a:rPr>
              <a:t>監査ポリシー変更
Security EID 4719</a:t>
            </a:r>
          </a:p>
        </p:txBody>
      </p:sp>
      <p:sp>
        <p:nvSpPr>
          <p:cNvPr id="32" name="TextBox 31"/>
          <p:cNvSpPr txBox="1"/>
          <p:nvPr/>
        </p:nvSpPr>
        <p:spPr>
          <a:xfrm>
            <a:off x="5349240" y="4059936"/>
            <a:ext cx="3931920" cy="841248"/>
          </a:xfrm>
          <a:prstGeom prst="rect">
            <a:avLst/>
          </a:prstGeom>
          <a:noFill/>
        </p:spPr>
        <p:txBody>
          <a:bodyPr wrap="square" lIns="0" rIns="0" tIns="0" bIns="0" anchor="ctr">
            <a:spAutoFit/>
          </a:bodyPr>
          <a:lstStyle/>
          <a:p>
            <a:pPr algn="l">
              <a:lnSpc>
                <a:spcPct val="122000"/>
              </a:lnSpc>
            </a:pPr>
            <a:r>
              <a:rPr sz="1000" b="0" i="0">
                <a:solidFill>
                  <a:srgbClr val="1D4ED8"/>
                </a:solidFill>
                <a:latin typeface="Consolas"/>
              </a:rPr>
              <a:t>AuditPolicyChanges:
Success/Failure removed
(かつ人間のアカウント)</a:t>
            </a:r>
          </a:p>
        </p:txBody>
      </p:sp>
      <p:sp>
        <p:nvSpPr>
          <p:cNvPr id="33" name="TextBox 32"/>
          <p:cNvSpPr txBox="1"/>
          <p:nvPr/>
        </p:nvSpPr>
        <p:spPr>
          <a:xfrm>
            <a:off x="9464040" y="4059936"/>
            <a:ext cx="2103120" cy="841248"/>
          </a:xfrm>
          <a:prstGeom prst="rect">
            <a:avLst/>
          </a:prstGeom>
          <a:noFill/>
        </p:spPr>
        <p:txBody>
          <a:bodyPr wrap="square" lIns="0" rIns="0" tIns="0" bIns="0" anchor="ctr">
            <a:spAutoFit/>
          </a:bodyPr>
          <a:lstStyle/>
          <a:p>
            <a:pPr algn="l">
              <a:lnSpc>
                <a:spcPct val="120000"/>
              </a:lnSpc>
            </a:pPr>
            <a:r>
              <a:rPr sz="1050" b="0" i="0">
                <a:solidFill>
                  <a:srgbClr val="5B6472"/>
                </a:solidFill>
                <a:latin typeface="Calibri"/>
              </a:rPr>
              <a:t>記録を止めた
瞬間の 1 件</a:t>
            </a:r>
          </a:p>
        </p:txBody>
      </p:sp>
      <p:sp>
        <p:nvSpPr>
          <p:cNvPr id="34" name="Rounded Rectangle 33"/>
          <p:cNvSpPr/>
          <p:nvPr/>
        </p:nvSpPr>
        <p:spPr>
          <a:xfrm>
            <a:off x="548640" y="4946904"/>
            <a:ext cx="11064240" cy="841248"/>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 y="4946904"/>
            <a:ext cx="73152" cy="8412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6656" y="4946904"/>
            <a:ext cx="502920" cy="841248"/>
          </a:xfrm>
          <a:prstGeom prst="rect">
            <a:avLst/>
          </a:prstGeom>
          <a:noFill/>
        </p:spPr>
        <p:txBody>
          <a:bodyPr wrap="square" lIns="0" rIns="0" tIns="0" bIns="0" anchor="ctr">
            <a:spAutoFit/>
          </a:bodyPr>
          <a:lstStyle/>
          <a:p>
            <a:pPr algn="l">
              <a:lnSpc>
                <a:spcPct val="130000"/>
              </a:lnSpc>
            </a:pPr>
            <a:r>
              <a:rPr sz="2000" b="0" i="0">
                <a:solidFill>
                  <a:srgbClr val="DC2626"/>
                </a:solidFill>
                <a:latin typeface="Calibri"/>
              </a:rPr>
              <a:t>🔑</a:t>
            </a:r>
          </a:p>
        </p:txBody>
      </p:sp>
      <p:sp>
        <p:nvSpPr>
          <p:cNvPr id="37" name="TextBox 36"/>
          <p:cNvSpPr txBox="1"/>
          <p:nvPr/>
        </p:nvSpPr>
        <p:spPr>
          <a:xfrm>
            <a:off x="1188720" y="5102352"/>
            <a:ext cx="1737360" cy="365760"/>
          </a:xfrm>
          <a:prstGeom prst="rect">
            <a:avLst/>
          </a:prstGeom>
          <a:noFill/>
        </p:spPr>
        <p:txBody>
          <a:bodyPr wrap="square" lIns="0" rIns="0" tIns="0" bIns="0" anchor="t">
            <a:spAutoFit/>
          </a:bodyPr>
          <a:lstStyle/>
          <a:p>
            <a:pPr algn="l">
              <a:lnSpc>
                <a:spcPct val="130000"/>
              </a:lnSpc>
            </a:pPr>
            <a:r>
              <a:rPr sz="1150" b="1" i="0">
                <a:solidFill>
                  <a:srgbClr val="1F2937"/>
                </a:solidFill>
                <a:latin typeface="Cambria"/>
              </a:rPr>
              <a:t>パスワード抜き取り</a:t>
            </a:r>
          </a:p>
        </p:txBody>
      </p:sp>
      <p:sp>
        <p:nvSpPr>
          <p:cNvPr id="38" name="TextBox 37"/>
          <p:cNvSpPr txBox="1"/>
          <p:nvPr/>
        </p:nvSpPr>
        <p:spPr>
          <a:xfrm>
            <a:off x="1188720" y="5458968"/>
            <a:ext cx="1737360" cy="274320"/>
          </a:xfrm>
          <a:prstGeom prst="rect">
            <a:avLst/>
          </a:prstGeom>
          <a:noFill/>
        </p:spPr>
        <p:txBody>
          <a:bodyPr wrap="square" lIns="0" rIns="0" tIns="0" bIns="0" anchor="t">
            <a:spAutoFit/>
          </a:bodyPr>
          <a:lstStyle/>
          <a:p>
            <a:pPr algn="l">
              <a:lnSpc>
                <a:spcPct val="130000"/>
              </a:lnSpc>
            </a:pPr>
            <a:r>
              <a:rPr sz="900" b="1" i="0">
                <a:solidFill>
                  <a:srgbClr val="DC2626"/>
                </a:solidFill>
                <a:latin typeface="Consolas"/>
              </a:rPr>
              <a:t>critical</a:t>
            </a:r>
          </a:p>
        </p:txBody>
      </p:sp>
      <p:sp>
        <p:nvSpPr>
          <p:cNvPr id="39" name="TextBox 38"/>
          <p:cNvSpPr txBox="1"/>
          <p:nvPr/>
        </p:nvSpPr>
        <p:spPr>
          <a:xfrm>
            <a:off x="2926080" y="4946904"/>
            <a:ext cx="2286000" cy="841248"/>
          </a:xfrm>
          <a:prstGeom prst="rect">
            <a:avLst/>
          </a:prstGeom>
          <a:noFill/>
        </p:spPr>
        <p:txBody>
          <a:bodyPr wrap="square" lIns="0" rIns="0" tIns="0" bIns="0" anchor="ctr">
            <a:spAutoFit/>
          </a:bodyPr>
          <a:lstStyle/>
          <a:p>
            <a:pPr algn="l">
              <a:lnSpc>
                <a:spcPct val="122000"/>
              </a:lnSpc>
            </a:pPr>
            <a:r>
              <a:rPr sz="1050" b="0" i="0">
                <a:solidFill>
                  <a:srgbClr val="1F2937"/>
                </a:solidFill>
                <a:latin typeface="Calibri"/>
              </a:rPr>
              <a:t>プロセス起動
Sysmon EID 1</a:t>
            </a:r>
          </a:p>
        </p:txBody>
      </p:sp>
      <p:sp>
        <p:nvSpPr>
          <p:cNvPr id="40" name="TextBox 39"/>
          <p:cNvSpPr txBox="1"/>
          <p:nvPr/>
        </p:nvSpPr>
        <p:spPr>
          <a:xfrm>
            <a:off x="5349240" y="4946904"/>
            <a:ext cx="3931920" cy="841248"/>
          </a:xfrm>
          <a:prstGeom prst="rect">
            <a:avLst/>
          </a:prstGeom>
          <a:noFill/>
        </p:spPr>
        <p:txBody>
          <a:bodyPr wrap="square" lIns="0" rIns="0" tIns="0" bIns="0" anchor="ctr">
            <a:spAutoFit/>
          </a:bodyPr>
          <a:lstStyle/>
          <a:p>
            <a:pPr algn="l">
              <a:lnSpc>
                <a:spcPct val="122000"/>
              </a:lnSpc>
            </a:pPr>
            <a:r>
              <a:rPr sz="1000" b="0" i="0">
                <a:solidFill>
                  <a:srgbClr val="1D4ED8"/>
                </a:solidFill>
                <a:latin typeface="Consolas"/>
              </a:rPr>
              <a:t>Image:  …\rundll32.exe
CommandLine:  comsvcs + MiniDump</a:t>
            </a:r>
          </a:p>
        </p:txBody>
      </p:sp>
      <p:sp>
        <p:nvSpPr>
          <p:cNvPr id="41" name="TextBox 40"/>
          <p:cNvSpPr txBox="1"/>
          <p:nvPr/>
        </p:nvSpPr>
        <p:spPr>
          <a:xfrm>
            <a:off x="9464040" y="4946904"/>
            <a:ext cx="2103120" cy="841248"/>
          </a:xfrm>
          <a:prstGeom prst="rect">
            <a:avLst/>
          </a:prstGeom>
          <a:noFill/>
        </p:spPr>
        <p:txBody>
          <a:bodyPr wrap="square" lIns="0" rIns="0" tIns="0" bIns="0" anchor="ctr">
            <a:spAutoFit/>
          </a:bodyPr>
          <a:lstStyle/>
          <a:p>
            <a:pPr algn="l">
              <a:lnSpc>
                <a:spcPct val="120000"/>
              </a:lnSpc>
            </a:pPr>
            <a:r>
              <a:rPr sz="1050" b="0" i="0">
                <a:solidFill>
                  <a:srgbClr val="5B6472"/>
                </a:solidFill>
                <a:latin typeface="Calibri"/>
              </a:rPr>
              <a:t>正規ツールの
悪用を見抜く</a:t>
            </a:r>
          </a:p>
        </p:txBody>
      </p:sp>
      <p:sp>
        <p:nvSpPr>
          <p:cNvPr id="42" name="Rounded Rectangle 41"/>
          <p:cNvSpPr/>
          <p:nvPr/>
        </p:nvSpPr>
        <p:spPr>
          <a:xfrm>
            <a:off x="548640" y="5861304"/>
            <a:ext cx="11064240" cy="502920"/>
          </a:xfrm>
          <a:prstGeom prst="roundRect">
            <a:avLst/>
          </a:prstGeom>
          <a:solidFill>
            <a:srgbClr val="E8F0FE"/>
          </a:solidFill>
          <a:ln w="9525">
            <a:solidFill>
              <a:srgbClr val="E8F0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5861304"/>
            <a:ext cx="10515600" cy="502920"/>
          </a:xfrm>
          <a:prstGeom prst="rect">
            <a:avLst/>
          </a:prstGeom>
          <a:noFill/>
        </p:spPr>
        <p:txBody>
          <a:bodyPr wrap="square" lIns="0" rIns="0" tIns="0" bIns="0" anchor="ctr">
            <a:spAutoFit/>
          </a:bodyPr>
          <a:lstStyle/>
          <a:p>
            <a:pPr algn="l">
              <a:lnSpc>
                <a:spcPct val="120000"/>
              </a:lnSpc>
            </a:pPr>
            <a:r>
              <a:rPr sz="1150" b="0" i="0">
                <a:solidFill>
                  <a:srgbClr val="1F2937"/>
                </a:solidFill>
                <a:latin typeface="Calibri"/>
              </a:rPr>
              <a:t>共通の発想:  マルウェア本体は姿を変えられても、「ログ消去・復元点削除・監視停止・認証情報の窃取」は目的に直結し変えにくい。だから “行為そのもの” を見る。</a:t>
            </a:r>
          </a:p>
        </p:txBody>
      </p:sp>
      <p:sp>
        <p:nvSpPr>
          <p:cNvPr id="44" name="TextBox 43"/>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開発内容 3 / 3   (Python + JavaScript)</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③  結果を「読める」にする GUI をゼロから開発</a:t>
            </a:r>
          </a:p>
        </p:txBody>
      </p:sp>
      <p:sp>
        <p:nvSpPr>
          <p:cNvPr id="5" name="Rounded Rectangle 4"/>
          <p:cNvSpPr/>
          <p:nvPr/>
        </p:nvSpPr>
        <p:spPr>
          <a:xfrm>
            <a:off x="548640" y="1783080"/>
            <a:ext cx="4846320" cy="137160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73152" cy="13716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47672"/>
            <a:ext cx="731520" cy="640080"/>
          </a:xfrm>
          <a:prstGeom prst="rect">
            <a:avLst/>
          </a:prstGeom>
          <a:noFill/>
        </p:spPr>
        <p:txBody>
          <a:bodyPr wrap="square" lIns="0" rIns="0" tIns="0" bIns="0" anchor="t">
            <a:spAutoFit/>
          </a:bodyPr>
          <a:lstStyle/>
          <a:p>
            <a:pPr algn="l">
              <a:lnSpc>
                <a:spcPct val="130000"/>
              </a:lnSpc>
            </a:pPr>
            <a:r>
              <a:rPr sz="2600" b="0" i="0">
                <a:solidFill>
                  <a:srgbClr val="2563EB"/>
                </a:solidFill>
                <a:latin typeface="Calibri"/>
              </a:rPr>
              <a:t>🇯🇵</a:t>
            </a:r>
          </a:p>
        </p:txBody>
      </p:sp>
      <p:sp>
        <p:nvSpPr>
          <p:cNvPr id="8" name="TextBox 7"/>
          <p:cNvSpPr txBox="1"/>
          <p:nvPr/>
        </p:nvSpPr>
        <p:spPr>
          <a:xfrm>
            <a:off x="1554480" y="1929384"/>
            <a:ext cx="3657600" cy="411480"/>
          </a:xfrm>
          <a:prstGeom prst="rect">
            <a:avLst/>
          </a:prstGeom>
          <a:noFill/>
        </p:spPr>
        <p:txBody>
          <a:bodyPr wrap="square" lIns="0" rIns="0" tIns="0" bIns="0" anchor="t">
            <a:spAutoFit/>
          </a:bodyPr>
          <a:lstStyle/>
          <a:p>
            <a:pPr algn="l">
              <a:lnSpc>
                <a:spcPct val="130000"/>
              </a:lnSpc>
            </a:pPr>
            <a:r>
              <a:rPr sz="1600" b="1" i="0">
                <a:solidFill>
                  <a:srgbClr val="1F2937"/>
                </a:solidFill>
                <a:latin typeface="Cambria"/>
              </a:rPr>
              <a:t>日本語の解説付き</a:t>
            </a:r>
          </a:p>
        </p:txBody>
      </p:sp>
      <p:sp>
        <p:nvSpPr>
          <p:cNvPr id="9" name="TextBox 8"/>
          <p:cNvSpPr txBox="1"/>
          <p:nvPr/>
        </p:nvSpPr>
        <p:spPr>
          <a:xfrm>
            <a:off x="1554480" y="2350008"/>
            <a:ext cx="3703320" cy="731520"/>
          </a:xfrm>
          <a:prstGeom prst="rect">
            <a:avLst/>
          </a:prstGeom>
          <a:noFill/>
        </p:spPr>
        <p:txBody>
          <a:bodyPr wrap="square" lIns="0" rIns="0" tIns="0" bIns="0" anchor="t">
            <a:spAutoFit/>
          </a:bodyPr>
          <a:lstStyle/>
          <a:p>
            <a:pPr algn="l">
              <a:lnSpc>
                <a:spcPct val="135000"/>
              </a:lnSpc>
            </a:pPr>
            <a:r>
              <a:rPr sz="1100" b="0" i="0">
                <a:solidFill>
                  <a:srgbClr val="5B6472"/>
                </a:solidFill>
                <a:latin typeface="Calibri"/>
              </a:rPr>
              <a:t>検知をクリックすると「何が起きた?
次にどうする?」を日本語で表示</a:t>
            </a:r>
          </a:p>
        </p:txBody>
      </p:sp>
      <p:sp>
        <p:nvSpPr>
          <p:cNvPr id="10" name="Rounded Rectangle 9"/>
          <p:cNvSpPr/>
          <p:nvPr/>
        </p:nvSpPr>
        <p:spPr>
          <a:xfrm>
            <a:off x="548640" y="3337560"/>
            <a:ext cx="4846320" cy="137160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73152" cy="13716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502152"/>
            <a:ext cx="731520" cy="640080"/>
          </a:xfrm>
          <a:prstGeom prst="rect">
            <a:avLst/>
          </a:prstGeom>
          <a:noFill/>
        </p:spPr>
        <p:txBody>
          <a:bodyPr wrap="square" lIns="0" rIns="0" tIns="0" bIns="0" anchor="t">
            <a:spAutoFit/>
          </a:bodyPr>
          <a:lstStyle/>
          <a:p>
            <a:pPr algn="l">
              <a:lnSpc>
                <a:spcPct val="130000"/>
              </a:lnSpc>
            </a:pPr>
            <a:r>
              <a:rPr sz="2600" b="0" i="0">
                <a:solidFill>
                  <a:srgbClr val="2563EB"/>
                </a:solidFill>
                <a:latin typeface="Calibri"/>
              </a:rPr>
              <a:t>🚨</a:t>
            </a:r>
          </a:p>
        </p:txBody>
      </p:sp>
      <p:sp>
        <p:nvSpPr>
          <p:cNvPr id="13" name="TextBox 12"/>
          <p:cNvSpPr txBox="1"/>
          <p:nvPr/>
        </p:nvSpPr>
        <p:spPr>
          <a:xfrm>
            <a:off x="1554480" y="3483864"/>
            <a:ext cx="3657600" cy="411480"/>
          </a:xfrm>
          <a:prstGeom prst="rect">
            <a:avLst/>
          </a:prstGeom>
          <a:noFill/>
        </p:spPr>
        <p:txBody>
          <a:bodyPr wrap="square" lIns="0" rIns="0" tIns="0" bIns="0" anchor="t">
            <a:spAutoFit/>
          </a:bodyPr>
          <a:lstStyle/>
          <a:p>
            <a:pPr algn="l">
              <a:lnSpc>
                <a:spcPct val="130000"/>
              </a:lnSpc>
            </a:pPr>
            <a:r>
              <a:rPr sz="1600" b="1" i="0">
                <a:solidFill>
                  <a:srgbClr val="1F2937"/>
                </a:solidFill>
                <a:latin typeface="Cambria"/>
              </a:rPr>
              <a:t>危険度ランキング</a:t>
            </a:r>
          </a:p>
        </p:txBody>
      </p:sp>
      <p:sp>
        <p:nvSpPr>
          <p:cNvPr id="14" name="TextBox 13"/>
          <p:cNvSpPr txBox="1"/>
          <p:nvPr/>
        </p:nvSpPr>
        <p:spPr>
          <a:xfrm>
            <a:off x="1554480" y="3904487"/>
            <a:ext cx="3703320" cy="731520"/>
          </a:xfrm>
          <a:prstGeom prst="rect">
            <a:avLst/>
          </a:prstGeom>
          <a:noFill/>
        </p:spPr>
        <p:txBody>
          <a:bodyPr wrap="square" lIns="0" rIns="0" tIns="0" bIns="0" anchor="t">
            <a:spAutoFit/>
          </a:bodyPr>
          <a:lstStyle/>
          <a:p>
            <a:pPr algn="l">
              <a:lnSpc>
                <a:spcPct val="135000"/>
              </a:lnSpc>
            </a:pPr>
            <a:r>
              <a:rPr sz="1100" b="0" i="0">
                <a:solidFill>
                  <a:srgbClr val="5B6472"/>
                </a:solidFill>
                <a:latin typeface="Calibri"/>
              </a:rPr>
              <a:t>どの PC から調べるべきかを
自動採点して並べ替え</a:t>
            </a:r>
          </a:p>
        </p:txBody>
      </p:sp>
      <p:sp>
        <p:nvSpPr>
          <p:cNvPr id="15" name="Rounded Rectangle 14"/>
          <p:cNvSpPr/>
          <p:nvPr/>
        </p:nvSpPr>
        <p:spPr>
          <a:xfrm>
            <a:off x="548640" y="4892040"/>
            <a:ext cx="4846320" cy="137160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892040"/>
            <a:ext cx="73152" cy="13716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056631"/>
            <a:ext cx="731520" cy="640080"/>
          </a:xfrm>
          <a:prstGeom prst="rect">
            <a:avLst/>
          </a:prstGeom>
          <a:noFill/>
        </p:spPr>
        <p:txBody>
          <a:bodyPr wrap="square" lIns="0" rIns="0" tIns="0" bIns="0" anchor="t">
            <a:spAutoFit/>
          </a:bodyPr>
          <a:lstStyle/>
          <a:p>
            <a:pPr algn="l">
              <a:lnSpc>
                <a:spcPct val="130000"/>
              </a:lnSpc>
            </a:pPr>
            <a:r>
              <a:rPr sz="2600" b="0" i="0">
                <a:solidFill>
                  <a:srgbClr val="2563EB"/>
                </a:solidFill>
                <a:latin typeface="Calibri"/>
              </a:rPr>
              <a:t>📊</a:t>
            </a:r>
          </a:p>
        </p:txBody>
      </p:sp>
      <p:sp>
        <p:nvSpPr>
          <p:cNvPr id="18" name="TextBox 17"/>
          <p:cNvSpPr txBox="1"/>
          <p:nvPr/>
        </p:nvSpPr>
        <p:spPr>
          <a:xfrm>
            <a:off x="1554480" y="5038344"/>
            <a:ext cx="3657600" cy="411480"/>
          </a:xfrm>
          <a:prstGeom prst="rect">
            <a:avLst/>
          </a:prstGeom>
          <a:noFill/>
        </p:spPr>
        <p:txBody>
          <a:bodyPr wrap="square" lIns="0" rIns="0" tIns="0" bIns="0" anchor="t">
            <a:spAutoFit/>
          </a:bodyPr>
          <a:lstStyle/>
          <a:p>
            <a:pPr algn="l">
              <a:lnSpc>
                <a:spcPct val="130000"/>
              </a:lnSpc>
            </a:pPr>
            <a:r>
              <a:rPr sz="1600" b="1" i="0">
                <a:solidFill>
                  <a:srgbClr val="1F2937"/>
                </a:solidFill>
                <a:latin typeface="Cambria"/>
              </a:rPr>
              <a:t>全体が一目で</a:t>
            </a:r>
          </a:p>
        </p:txBody>
      </p:sp>
      <p:sp>
        <p:nvSpPr>
          <p:cNvPr id="19" name="TextBox 18"/>
          <p:cNvSpPr txBox="1"/>
          <p:nvPr/>
        </p:nvSpPr>
        <p:spPr>
          <a:xfrm>
            <a:off x="1554480" y="5458968"/>
            <a:ext cx="3703320" cy="731520"/>
          </a:xfrm>
          <a:prstGeom prst="rect">
            <a:avLst/>
          </a:prstGeom>
          <a:noFill/>
        </p:spPr>
        <p:txBody>
          <a:bodyPr wrap="square" lIns="0" rIns="0" tIns="0" bIns="0" anchor="t">
            <a:spAutoFit/>
          </a:bodyPr>
          <a:lstStyle/>
          <a:p>
            <a:pPr algn="l">
              <a:lnSpc>
                <a:spcPct val="135000"/>
              </a:lnSpc>
            </a:pPr>
            <a:r>
              <a:rPr sz="1100" b="0" i="0">
                <a:solidFill>
                  <a:srgbClr val="5B6472"/>
                </a:solidFill>
                <a:latin typeface="Calibri"/>
              </a:rPr>
              <a:t>重大度・時間の流れ・多い攻撃を
グラフで俯瞰</a:t>
            </a:r>
          </a:p>
        </p:txBody>
      </p:sp>
      <p:pic>
        <p:nvPicPr>
          <p:cNvPr id="20" name="Picture 19" descr="dashboard.png"/>
          <p:cNvPicPr>
            <a:picLocks noChangeAspect="1"/>
          </p:cNvPicPr>
          <p:nvPr/>
        </p:nvPicPr>
        <p:blipFill>
          <a:blip r:embed="rId2"/>
          <a:stretch>
            <a:fillRect/>
          </a:stretch>
        </p:blipFill>
        <p:spPr>
          <a:xfrm>
            <a:off x="6484620" y="1691640"/>
            <a:ext cx="4450080" cy="4572000"/>
          </a:xfrm>
          <a:prstGeom prst="rect">
            <a:avLst/>
          </a:prstGeom>
          <a:ln w="12700">
            <a:solidFill>
              <a:srgbClr val="DDE3EE"/>
            </a:solidFill>
          </a:ln>
          <a:effectLst/>
        </p:spPr>
      </p:pic>
      <p:sp>
        <p:nvSpPr>
          <p:cNvPr id="21" name="TextBox 20"/>
          <p:cNvSpPr txBox="1"/>
          <p:nvPr/>
        </p:nvSpPr>
        <p:spPr>
          <a:xfrm>
            <a:off x="5760720" y="6309360"/>
            <a:ext cx="5897880" cy="320040"/>
          </a:xfrm>
          <a:prstGeom prst="rect">
            <a:avLst/>
          </a:prstGeom>
          <a:noFill/>
        </p:spPr>
        <p:txBody>
          <a:bodyPr wrap="square" lIns="0" rIns="0" tIns="0" bIns="0" anchor="t">
            <a:spAutoFit/>
          </a:bodyPr>
          <a:lstStyle/>
          <a:p>
            <a:pPr algn="ctr">
              <a:lnSpc>
                <a:spcPct val="130000"/>
              </a:lnSpc>
            </a:pPr>
            <a:r>
              <a:rPr sz="1100" b="0" i="0">
                <a:solidFill>
                  <a:srgbClr val="5B6472"/>
                </a:solidFill>
                <a:latin typeface="Calibri"/>
              </a:rPr>
              <a:t>▲ 実際の画面 (ブラウザで動作・データは外部に送らない)</a:t>
            </a:r>
          </a:p>
        </p:txBody>
      </p:sp>
      <p:sp>
        <p:nvSpPr>
          <p:cNvPr id="22" name="TextBox 21"/>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開発内容 +α   (自作の統計分析)</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さらに: ルールでは書けない「いつもと違う」も検出</a:t>
            </a:r>
          </a:p>
        </p:txBody>
      </p:sp>
      <p:sp>
        <p:nvSpPr>
          <p:cNvPr id="5" name="TextBox 4"/>
          <p:cNvSpPr txBox="1"/>
          <p:nvPr/>
        </p:nvSpPr>
        <p:spPr>
          <a:xfrm>
            <a:off x="548640" y="1600200"/>
            <a:ext cx="10972800" cy="457200"/>
          </a:xfrm>
          <a:prstGeom prst="rect">
            <a:avLst/>
          </a:prstGeom>
          <a:noFill/>
        </p:spPr>
        <p:txBody>
          <a:bodyPr wrap="square" lIns="0" rIns="0" tIns="0" bIns="0" anchor="t">
            <a:spAutoFit/>
          </a:bodyPr>
          <a:lstStyle/>
          <a:p>
            <a:pPr algn="l">
              <a:lnSpc>
                <a:spcPct val="130000"/>
              </a:lnSpc>
            </a:pPr>
            <a:r>
              <a:rPr sz="1500" b="0" i="1">
                <a:solidFill>
                  <a:srgbClr val="5B6472"/>
                </a:solidFill>
                <a:latin typeface="Calibri"/>
              </a:rPr>
              <a:t>ルールは 1 件ずつしか判定できない。そこで「全体の傾向」を統計で見る分析を自作しました。</a:t>
            </a:r>
          </a:p>
        </p:txBody>
      </p:sp>
      <p:sp>
        <p:nvSpPr>
          <p:cNvPr id="6" name="Rounded Rectangle 5"/>
          <p:cNvSpPr/>
          <p:nvPr/>
        </p:nvSpPr>
        <p:spPr>
          <a:xfrm>
            <a:off x="548640" y="2240280"/>
            <a:ext cx="2697480" cy="26060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240280"/>
            <a:ext cx="73152" cy="2606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86584"/>
            <a:ext cx="914400" cy="566928"/>
          </a:xfrm>
          <a:prstGeom prst="rect">
            <a:avLst/>
          </a:prstGeom>
          <a:noFill/>
        </p:spPr>
        <p:txBody>
          <a:bodyPr wrap="square" lIns="0" rIns="0" tIns="0" bIns="0" anchor="t">
            <a:spAutoFit/>
          </a:bodyPr>
          <a:lstStyle/>
          <a:p>
            <a:pPr algn="l">
              <a:lnSpc>
                <a:spcPct val="130000"/>
              </a:lnSpc>
            </a:pPr>
            <a:r>
              <a:rPr sz="2600" b="0" i="0">
                <a:solidFill>
                  <a:srgbClr val="2563EB"/>
                </a:solidFill>
                <a:latin typeface="Calibri"/>
              </a:rPr>
              <a:t>🔥</a:t>
            </a:r>
          </a:p>
        </p:txBody>
      </p:sp>
      <p:sp>
        <p:nvSpPr>
          <p:cNvPr id="9" name="TextBox 8"/>
          <p:cNvSpPr txBox="1"/>
          <p:nvPr/>
        </p:nvSpPr>
        <p:spPr>
          <a:xfrm>
            <a:off x="731520" y="2971800"/>
            <a:ext cx="2423160" cy="457200"/>
          </a:xfrm>
          <a:prstGeom prst="rect">
            <a:avLst/>
          </a:prstGeom>
          <a:noFill/>
        </p:spPr>
        <p:txBody>
          <a:bodyPr wrap="square" lIns="0" rIns="0" tIns="0" bIns="0" anchor="t">
            <a:spAutoFit/>
          </a:bodyPr>
          <a:lstStyle/>
          <a:p>
            <a:pPr algn="l">
              <a:lnSpc>
                <a:spcPct val="130000"/>
              </a:lnSpc>
            </a:pPr>
            <a:r>
              <a:rPr sz="1700" b="1" i="0">
                <a:solidFill>
                  <a:srgbClr val="1F2937"/>
                </a:solidFill>
                <a:latin typeface="Cambria"/>
              </a:rPr>
              <a:t>急増している</a:t>
            </a:r>
          </a:p>
        </p:txBody>
      </p:sp>
      <p:sp>
        <p:nvSpPr>
          <p:cNvPr id="10" name="TextBox 9"/>
          <p:cNvSpPr txBox="1"/>
          <p:nvPr/>
        </p:nvSpPr>
        <p:spPr>
          <a:xfrm>
            <a:off x="731520" y="3456432"/>
            <a:ext cx="2331720" cy="822960"/>
          </a:xfrm>
          <a:prstGeom prst="rect">
            <a:avLst/>
          </a:prstGeom>
          <a:noFill/>
        </p:spPr>
        <p:txBody>
          <a:bodyPr wrap="square" lIns="0" rIns="0" tIns="0" bIns="0" anchor="t">
            <a:spAutoFit/>
          </a:bodyPr>
          <a:lstStyle/>
          <a:p>
            <a:pPr algn="l">
              <a:lnSpc>
                <a:spcPct val="140000"/>
              </a:lnSpc>
            </a:pPr>
            <a:r>
              <a:rPr sz="1100" b="0" i="0">
                <a:solidFill>
                  <a:srgbClr val="1F2937"/>
                </a:solidFill>
                <a:latin typeface="Calibri"/>
              </a:rPr>
              <a:t>平常の数十〜数千倍の
動きが急に発生</a:t>
            </a:r>
          </a:p>
        </p:txBody>
      </p:sp>
      <p:sp>
        <p:nvSpPr>
          <p:cNvPr id="11" name="TextBox 10"/>
          <p:cNvSpPr txBox="1"/>
          <p:nvPr/>
        </p:nvSpPr>
        <p:spPr>
          <a:xfrm>
            <a:off x="731520" y="4325112"/>
            <a:ext cx="2331720" cy="457200"/>
          </a:xfrm>
          <a:prstGeom prst="rect">
            <a:avLst/>
          </a:prstGeom>
          <a:noFill/>
        </p:spPr>
        <p:txBody>
          <a:bodyPr wrap="square" lIns="0" rIns="0" tIns="0" bIns="0" anchor="t">
            <a:spAutoFit/>
          </a:bodyPr>
          <a:lstStyle/>
          <a:p>
            <a:pPr algn="l">
              <a:lnSpc>
                <a:spcPct val="130000"/>
              </a:lnSpc>
            </a:pPr>
            <a:r>
              <a:rPr sz="1000" b="0" i="1">
                <a:solidFill>
                  <a:srgbClr val="5B6472"/>
                </a:solidFill>
                <a:latin typeface="Calibri"/>
              </a:rPr>
              <a:t>例: 大量のパスワード試行</a:t>
            </a:r>
          </a:p>
        </p:txBody>
      </p:sp>
      <p:sp>
        <p:nvSpPr>
          <p:cNvPr id="12" name="Rounded Rectangle 11"/>
          <p:cNvSpPr/>
          <p:nvPr/>
        </p:nvSpPr>
        <p:spPr>
          <a:xfrm>
            <a:off x="3429000" y="2240280"/>
            <a:ext cx="2697480" cy="26060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29000" y="2240280"/>
            <a:ext cx="73152" cy="2606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386584"/>
            <a:ext cx="914400" cy="566928"/>
          </a:xfrm>
          <a:prstGeom prst="rect">
            <a:avLst/>
          </a:prstGeom>
          <a:noFill/>
        </p:spPr>
        <p:txBody>
          <a:bodyPr wrap="square" lIns="0" rIns="0" tIns="0" bIns="0" anchor="t">
            <a:spAutoFit/>
          </a:bodyPr>
          <a:lstStyle/>
          <a:p>
            <a:pPr algn="l">
              <a:lnSpc>
                <a:spcPct val="130000"/>
              </a:lnSpc>
            </a:pPr>
            <a:r>
              <a:rPr sz="2600" b="0" i="0">
                <a:solidFill>
                  <a:srgbClr val="2563EB"/>
                </a:solidFill>
                <a:latin typeface="Calibri"/>
              </a:rPr>
              <a:t>🌐</a:t>
            </a:r>
          </a:p>
        </p:txBody>
      </p:sp>
      <p:sp>
        <p:nvSpPr>
          <p:cNvPr id="15" name="TextBox 14"/>
          <p:cNvSpPr txBox="1"/>
          <p:nvPr/>
        </p:nvSpPr>
        <p:spPr>
          <a:xfrm>
            <a:off x="3611880" y="2971800"/>
            <a:ext cx="2423160" cy="457200"/>
          </a:xfrm>
          <a:prstGeom prst="rect">
            <a:avLst/>
          </a:prstGeom>
          <a:noFill/>
        </p:spPr>
        <p:txBody>
          <a:bodyPr wrap="square" lIns="0" rIns="0" tIns="0" bIns="0" anchor="t">
            <a:spAutoFit/>
          </a:bodyPr>
          <a:lstStyle/>
          <a:p>
            <a:pPr algn="l">
              <a:lnSpc>
                <a:spcPct val="130000"/>
              </a:lnSpc>
            </a:pPr>
            <a:r>
              <a:rPr sz="1700" b="1" i="0">
                <a:solidFill>
                  <a:srgbClr val="1F2937"/>
                </a:solidFill>
                <a:latin typeface="Cambria"/>
              </a:rPr>
              <a:t>広がっている</a:t>
            </a:r>
          </a:p>
        </p:txBody>
      </p:sp>
      <p:sp>
        <p:nvSpPr>
          <p:cNvPr id="16" name="TextBox 15"/>
          <p:cNvSpPr txBox="1"/>
          <p:nvPr/>
        </p:nvSpPr>
        <p:spPr>
          <a:xfrm>
            <a:off x="3611880" y="3456432"/>
            <a:ext cx="2331720" cy="822960"/>
          </a:xfrm>
          <a:prstGeom prst="rect">
            <a:avLst/>
          </a:prstGeom>
          <a:noFill/>
        </p:spPr>
        <p:txBody>
          <a:bodyPr wrap="square" lIns="0" rIns="0" tIns="0" bIns="0" anchor="t">
            <a:spAutoFit/>
          </a:bodyPr>
          <a:lstStyle/>
          <a:p>
            <a:pPr algn="l">
              <a:lnSpc>
                <a:spcPct val="140000"/>
              </a:lnSpc>
            </a:pPr>
            <a:r>
              <a:rPr sz="1100" b="0" i="0">
                <a:solidFill>
                  <a:srgbClr val="1F2937"/>
                </a:solidFill>
                <a:latin typeface="Calibri"/>
              </a:rPr>
              <a:t>同じ動きが
複数の PC で同時発生</a:t>
            </a:r>
          </a:p>
        </p:txBody>
      </p:sp>
      <p:sp>
        <p:nvSpPr>
          <p:cNvPr id="17" name="TextBox 16"/>
          <p:cNvSpPr txBox="1"/>
          <p:nvPr/>
        </p:nvSpPr>
        <p:spPr>
          <a:xfrm>
            <a:off x="3611880" y="4325112"/>
            <a:ext cx="2331720" cy="457200"/>
          </a:xfrm>
          <a:prstGeom prst="rect">
            <a:avLst/>
          </a:prstGeom>
          <a:noFill/>
        </p:spPr>
        <p:txBody>
          <a:bodyPr wrap="square" lIns="0" rIns="0" tIns="0" bIns="0" anchor="t">
            <a:spAutoFit/>
          </a:bodyPr>
          <a:lstStyle/>
          <a:p>
            <a:pPr algn="l">
              <a:lnSpc>
                <a:spcPct val="130000"/>
              </a:lnSpc>
            </a:pPr>
            <a:r>
              <a:rPr sz="1000" b="0" i="1">
                <a:solidFill>
                  <a:srgbClr val="5B6472"/>
                </a:solidFill>
                <a:latin typeface="Calibri"/>
              </a:rPr>
              <a:t>例: ウイルスが社内に拡大</a:t>
            </a:r>
          </a:p>
        </p:txBody>
      </p:sp>
      <p:sp>
        <p:nvSpPr>
          <p:cNvPr id="18" name="Rounded Rectangle 17"/>
          <p:cNvSpPr/>
          <p:nvPr/>
        </p:nvSpPr>
        <p:spPr>
          <a:xfrm>
            <a:off x="6309360" y="2240280"/>
            <a:ext cx="2697480" cy="26060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240280"/>
            <a:ext cx="73152" cy="2606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2386584"/>
            <a:ext cx="914400" cy="566928"/>
          </a:xfrm>
          <a:prstGeom prst="rect">
            <a:avLst/>
          </a:prstGeom>
          <a:noFill/>
        </p:spPr>
        <p:txBody>
          <a:bodyPr wrap="square" lIns="0" rIns="0" tIns="0" bIns="0" anchor="t">
            <a:spAutoFit/>
          </a:bodyPr>
          <a:lstStyle/>
          <a:p>
            <a:pPr algn="l">
              <a:lnSpc>
                <a:spcPct val="130000"/>
              </a:lnSpc>
            </a:pPr>
            <a:r>
              <a:rPr sz="2600" b="0" i="0">
                <a:solidFill>
                  <a:srgbClr val="2563EB"/>
                </a:solidFill>
                <a:latin typeface="Calibri"/>
              </a:rPr>
              <a:t>🤫</a:t>
            </a:r>
          </a:p>
        </p:txBody>
      </p:sp>
      <p:sp>
        <p:nvSpPr>
          <p:cNvPr id="21" name="TextBox 20"/>
          <p:cNvSpPr txBox="1"/>
          <p:nvPr/>
        </p:nvSpPr>
        <p:spPr>
          <a:xfrm>
            <a:off x="6492240" y="2971800"/>
            <a:ext cx="2423160" cy="457200"/>
          </a:xfrm>
          <a:prstGeom prst="rect">
            <a:avLst/>
          </a:prstGeom>
          <a:noFill/>
        </p:spPr>
        <p:txBody>
          <a:bodyPr wrap="square" lIns="0" rIns="0" tIns="0" bIns="0" anchor="t">
            <a:spAutoFit/>
          </a:bodyPr>
          <a:lstStyle/>
          <a:p>
            <a:pPr algn="l">
              <a:lnSpc>
                <a:spcPct val="130000"/>
              </a:lnSpc>
            </a:pPr>
            <a:r>
              <a:rPr sz="1700" b="1" i="0">
                <a:solidFill>
                  <a:srgbClr val="1F2937"/>
                </a:solidFill>
                <a:latin typeface="Cambria"/>
              </a:rPr>
              <a:t>急に静かに</a:t>
            </a:r>
          </a:p>
        </p:txBody>
      </p:sp>
      <p:sp>
        <p:nvSpPr>
          <p:cNvPr id="22" name="TextBox 21"/>
          <p:cNvSpPr txBox="1"/>
          <p:nvPr/>
        </p:nvSpPr>
        <p:spPr>
          <a:xfrm>
            <a:off x="6492240" y="3456432"/>
            <a:ext cx="2331720" cy="822960"/>
          </a:xfrm>
          <a:prstGeom prst="rect">
            <a:avLst/>
          </a:prstGeom>
          <a:noFill/>
        </p:spPr>
        <p:txBody>
          <a:bodyPr wrap="square" lIns="0" rIns="0" tIns="0" bIns="0" anchor="t">
            <a:spAutoFit/>
          </a:bodyPr>
          <a:lstStyle/>
          <a:p>
            <a:pPr algn="l">
              <a:lnSpc>
                <a:spcPct val="140000"/>
              </a:lnSpc>
            </a:pPr>
            <a:r>
              <a:rPr sz="1100" b="0" i="0">
                <a:solidFill>
                  <a:srgbClr val="1F2937"/>
                </a:solidFill>
                <a:latin typeface="Calibri"/>
              </a:rPr>
              <a:t>普段活動している PC が
急にログを残さなくなる</a:t>
            </a:r>
          </a:p>
        </p:txBody>
      </p:sp>
      <p:sp>
        <p:nvSpPr>
          <p:cNvPr id="23" name="TextBox 22"/>
          <p:cNvSpPr txBox="1"/>
          <p:nvPr/>
        </p:nvSpPr>
        <p:spPr>
          <a:xfrm>
            <a:off x="6492240" y="4325112"/>
            <a:ext cx="2331720" cy="457200"/>
          </a:xfrm>
          <a:prstGeom prst="rect">
            <a:avLst/>
          </a:prstGeom>
          <a:noFill/>
        </p:spPr>
        <p:txBody>
          <a:bodyPr wrap="square" lIns="0" rIns="0" tIns="0" bIns="0" anchor="t">
            <a:spAutoFit/>
          </a:bodyPr>
          <a:lstStyle/>
          <a:p>
            <a:pPr algn="l">
              <a:lnSpc>
                <a:spcPct val="130000"/>
              </a:lnSpc>
            </a:pPr>
            <a:r>
              <a:rPr sz="1000" b="0" i="1">
                <a:solidFill>
                  <a:srgbClr val="5B6472"/>
                </a:solidFill>
                <a:latin typeface="Calibri"/>
              </a:rPr>
              <a:t>例: 攻撃者がログを消した</a:t>
            </a:r>
          </a:p>
        </p:txBody>
      </p:sp>
      <p:sp>
        <p:nvSpPr>
          <p:cNvPr id="24" name="Rounded Rectangle 23"/>
          <p:cNvSpPr/>
          <p:nvPr/>
        </p:nvSpPr>
        <p:spPr>
          <a:xfrm>
            <a:off x="9189720" y="2240280"/>
            <a:ext cx="2697480" cy="26060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2240280"/>
            <a:ext cx="73152" cy="2606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72600" y="2386584"/>
            <a:ext cx="914400" cy="566928"/>
          </a:xfrm>
          <a:prstGeom prst="rect">
            <a:avLst/>
          </a:prstGeom>
          <a:noFill/>
        </p:spPr>
        <p:txBody>
          <a:bodyPr wrap="square" lIns="0" rIns="0" tIns="0" bIns="0" anchor="t">
            <a:spAutoFit/>
          </a:bodyPr>
          <a:lstStyle/>
          <a:p>
            <a:pPr algn="l">
              <a:lnSpc>
                <a:spcPct val="130000"/>
              </a:lnSpc>
            </a:pPr>
            <a:r>
              <a:rPr sz="2600" b="0" i="0">
                <a:solidFill>
                  <a:srgbClr val="2563EB"/>
                </a:solidFill>
                <a:latin typeface="Calibri"/>
              </a:rPr>
              <a:t>🌙</a:t>
            </a:r>
          </a:p>
        </p:txBody>
      </p:sp>
      <p:sp>
        <p:nvSpPr>
          <p:cNvPr id="27" name="TextBox 26"/>
          <p:cNvSpPr txBox="1"/>
          <p:nvPr/>
        </p:nvSpPr>
        <p:spPr>
          <a:xfrm>
            <a:off x="9372600" y="2971800"/>
            <a:ext cx="2423160" cy="457200"/>
          </a:xfrm>
          <a:prstGeom prst="rect">
            <a:avLst/>
          </a:prstGeom>
          <a:noFill/>
        </p:spPr>
        <p:txBody>
          <a:bodyPr wrap="square" lIns="0" rIns="0" tIns="0" bIns="0" anchor="t">
            <a:spAutoFit/>
          </a:bodyPr>
          <a:lstStyle/>
          <a:p>
            <a:pPr algn="l">
              <a:lnSpc>
                <a:spcPct val="130000"/>
              </a:lnSpc>
            </a:pPr>
            <a:r>
              <a:rPr sz="1700" b="1" i="0">
                <a:solidFill>
                  <a:srgbClr val="1F2937"/>
                </a:solidFill>
                <a:latin typeface="Cambria"/>
              </a:rPr>
              <a:t>時間外の活動</a:t>
            </a:r>
          </a:p>
        </p:txBody>
      </p:sp>
      <p:sp>
        <p:nvSpPr>
          <p:cNvPr id="28" name="TextBox 27"/>
          <p:cNvSpPr txBox="1"/>
          <p:nvPr/>
        </p:nvSpPr>
        <p:spPr>
          <a:xfrm>
            <a:off x="9372600" y="3456432"/>
            <a:ext cx="2331720" cy="822960"/>
          </a:xfrm>
          <a:prstGeom prst="rect">
            <a:avLst/>
          </a:prstGeom>
          <a:noFill/>
        </p:spPr>
        <p:txBody>
          <a:bodyPr wrap="square" lIns="0" rIns="0" tIns="0" bIns="0" anchor="t">
            <a:spAutoFit/>
          </a:bodyPr>
          <a:lstStyle/>
          <a:p>
            <a:pPr algn="l">
              <a:lnSpc>
                <a:spcPct val="140000"/>
              </a:lnSpc>
            </a:pPr>
            <a:r>
              <a:rPr sz="1100" b="0" i="0">
                <a:solidFill>
                  <a:srgbClr val="1F2937"/>
                </a:solidFill>
                <a:latin typeface="Calibri"/>
              </a:rPr>
              <a:t>深夜などの業務時間外に
重要な動きが発生</a:t>
            </a:r>
          </a:p>
        </p:txBody>
      </p:sp>
      <p:sp>
        <p:nvSpPr>
          <p:cNvPr id="29" name="TextBox 28"/>
          <p:cNvSpPr txBox="1"/>
          <p:nvPr/>
        </p:nvSpPr>
        <p:spPr>
          <a:xfrm>
            <a:off x="9372600" y="4325112"/>
            <a:ext cx="2331720" cy="457200"/>
          </a:xfrm>
          <a:prstGeom prst="rect">
            <a:avLst/>
          </a:prstGeom>
          <a:noFill/>
        </p:spPr>
        <p:txBody>
          <a:bodyPr wrap="square" lIns="0" rIns="0" tIns="0" bIns="0" anchor="t">
            <a:spAutoFit/>
          </a:bodyPr>
          <a:lstStyle/>
          <a:p>
            <a:pPr algn="l">
              <a:lnSpc>
                <a:spcPct val="130000"/>
              </a:lnSpc>
            </a:pPr>
            <a:r>
              <a:rPr sz="1000" b="0" i="1">
                <a:solidFill>
                  <a:srgbClr val="5B6472"/>
                </a:solidFill>
                <a:latin typeface="Calibri"/>
              </a:rPr>
              <a:t>例: 業務外を狙った侵入</a:t>
            </a:r>
          </a:p>
        </p:txBody>
      </p:sp>
      <p:sp>
        <p:nvSpPr>
          <p:cNvPr id="30" name="Rounded Rectangle 29"/>
          <p:cNvSpPr/>
          <p:nvPr/>
        </p:nvSpPr>
        <p:spPr>
          <a:xfrm>
            <a:off x="548640" y="5029200"/>
            <a:ext cx="11064240" cy="1371600"/>
          </a:xfrm>
          <a:prstGeom prst="roundRect">
            <a:avLst/>
          </a:prstGeom>
          <a:solidFill>
            <a:srgbClr val="E8F0FE"/>
          </a:solidFill>
          <a:ln w="9525">
            <a:solidFill>
              <a:srgbClr val="E8F0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230368"/>
            <a:ext cx="4937760" cy="365760"/>
          </a:xfrm>
          <a:prstGeom prst="rect">
            <a:avLst/>
          </a:prstGeom>
          <a:noFill/>
        </p:spPr>
        <p:txBody>
          <a:bodyPr wrap="square" lIns="0" rIns="0" tIns="0" bIns="0" anchor="t">
            <a:spAutoFit/>
          </a:bodyPr>
          <a:lstStyle/>
          <a:p>
            <a:pPr algn="l">
              <a:lnSpc>
                <a:spcPct val="130000"/>
              </a:lnSpc>
            </a:pPr>
            <a:r>
              <a:rPr sz="1350" b="1" i="0">
                <a:solidFill>
                  <a:srgbClr val="1F2937"/>
                </a:solidFill>
                <a:latin typeface="Calibri"/>
              </a:rPr>
              <a:t>📏 ルールによる検知 (既存の方法)</a:t>
            </a:r>
          </a:p>
        </p:txBody>
      </p:sp>
      <p:sp>
        <p:nvSpPr>
          <p:cNvPr id="32" name="TextBox 31"/>
          <p:cNvSpPr txBox="1"/>
          <p:nvPr/>
        </p:nvSpPr>
        <p:spPr>
          <a:xfrm>
            <a:off x="914400" y="5614416"/>
            <a:ext cx="4937760" cy="685800"/>
          </a:xfrm>
          <a:prstGeom prst="rect">
            <a:avLst/>
          </a:prstGeom>
          <a:noFill/>
        </p:spPr>
        <p:txBody>
          <a:bodyPr wrap="square" lIns="0" rIns="0" tIns="0" bIns="0" anchor="t">
            <a:spAutoFit/>
          </a:bodyPr>
          <a:lstStyle/>
          <a:p>
            <a:pPr algn="l">
              <a:lnSpc>
                <a:spcPct val="140000"/>
              </a:lnSpc>
            </a:pPr>
            <a:r>
              <a:rPr sz="1150" b="0" i="0">
                <a:solidFill>
                  <a:srgbClr val="5B6472"/>
                </a:solidFill>
                <a:latin typeface="Calibri"/>
              </a:rPr>
              <a:t>事前に知っている「悪い特徴」と一致したら警告。
既に知られている手口には確実で強い。</a:t>
            </a:r>
          </a:p>
        </p:txBody>
      </p:sp>
      <p:sp>
        <p:nvSpPr>
          <p:cNvPr id="33" name="Rectangle 32"/>
          <p:cNvSpPr/>
          <p:nvPr/>
        </p:nvSpPr>
        <p:spPr>
          <a:xfrm>
            <a:off x="6053328" y="5257800"/>
            <a:ext cx="16459" cy="914400"/>
          </a:xfrm>
          <a:prstGeom prst="rect">
            <a:avLst/>
          </a:prstGeom>
          <a:solidFill>
            <a:srgbClr val="DD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5230368"/>
            <a:ext cx="4937760" cy="365760"/>
          </a:xfrm>
          <a:prstGeom prst="rect">
            <a:avLst/>
          </a:prstGeom>
          <a:noFill/>
        </p:spPr>
        <p:txBody>
          <a:bodyPr wrap="square" lIns="0" rIns="0" tIns="0" bIns="0" anchor="t">
            <a:spAutoFit/>
          </a:bodyPr>
          <a:lstStyle/>
          <a:p>
            <a:pPr algn="l">
              <a:lnSpc>
                <a:spcPct val="130000"/>
              </a:lnSpc>
            </a:pPr>
            <a:r>
              <a:rPr sz="1350" b="1" i="0">
                <a:solidFill>
                  <a:srgbClr val="1D4ED8"/>
                </a:solidFill>
                <a:latin typeface="Calibri"/>
              </a:rPr>
              <a:t>📈 振舞いによる検知 (今回自作した分析)</a:t>
            </a:r>
          </a:p>
        </p:txBody>
      </p:sp>
      <p:sp>
        <p:nvSpPr>
          <p:cNvPr id="35" name="TextBox 34"/>
          <p:cNvSpPr txBox="1"/>
          <p:nvPr/>
        </p:nvSpPr>
        <p:spPr>
          <a:xfrm>
            <a:off x="6400800" y="5614416"/>
            <a:ext cx="4937760" cy="685800"/>
          </a:xfrm>
          <a:prstGeom prst="rect">
            <a:avLst/>
          </a:prstGeom>
          <a:noFill/>
        </p:spPr>
        <p:txBody>
          <a:bodyPr wrap="square" lIns="0" rIns="0" tIns="0" bIns="0" anchor="t">
            <a:spAutoFit/>
          </a:bodyPr>
          <a:lstStyle/>
          <a:p>
            <a:pPr algn="l">
              <a:lnSpc>
                <a:spcPct val="140000"/>
              </a:lnSpc>
            </a:pPr>
            <a:r>
              <a:rPr sz="1150" b="0" i="0">
                <a:solidFill>
                  <a:srgbClr val="5B6472"/>
                </a:solidFill>
                <a:latin typeface="Calibri"/>
              </a:rPr>
              <a:t>「普段との違い」に反応して知らせる。
ルールがまだ無い未知の手口への「気づき」になる。</a:t>
            </a:r>
          </a:p>
        </p:txBody>
      </p:sp>
      <p:sp>
        <p:nvSpPr>
          <p:cNvPr id="36" name="TextBox 35"/>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評価 (実測)</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検証 — 実際に検知できるか</a:t>
            </a:r>
          </a:p>
        </p:txBody>
      </p:sp>
      <p:sp>
        <p:nvSpPr>
          <p:cNvPr id="5" name="Rounded Rectangle 4"/>
          <p:cNvSpPr/>
          <p:nvPr/>
        </p:nvSpPr>
        <p:spPr>
          <a:xfrm>
            <a:off x="548640" y="1691640"/>
            <a:ext cx="5486400" cy="416052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91640"/>
            <a:ext cx="73152" cy="41605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5029200" cy="457200"/>
          </a:xfrm>
          <a:prstGeom prst="rect">
            <a:avLst/>
          </a:prstGeom>
          <a:noFill/>
        </p:spPr>
        <p:txBody>
          <a:bodyPr wrap="square" lIns="0" rIns="0" tIns="0" bIns="0" anchor="t">
            <a:spAutoFit/>
          </a:bodyPr>
          <a:lstStyle/>
          <a:p>
            <a:pPr algn="l">
              <a:lnSpc>
                <a:spcPct val="130000"/>
              </a:lnSpc>
            </a:pPr>
            <a:r>
              <a:rPr sz="1600" b="1" i="0">
                <a:solidFill>
                  <a:srgbClr val="1D4ED8"/>
                </a:solidFill>
                <a:latin typeface="Cambria"/>
              </a:rPr>
              <a:t>① 自作エンジン拡張 (lookup) の検証</a:t>
            </a:r>
          </a:p>
        </p:txBody>
      </p:sp>
      <p:sp>
        <p:nvSpPr>
          <p:cNvPr id="8" name="TextBox 7"/>
          <p:cNvSpPr txBox="1"/>
          <p:nvPr/>
        </p:nvSpPr>
        <p:spPr>
          <a:xfrm>
            <a:off x="868680" y="2423160"/>
            <a:ext cx="4937760" cy="731520"/>
          </a:xfrm>
          <a:prstGeom prst="rect">
            <a:avLst/>
          </a:prstGeom>
          <a:noFill/>
        </p:spPr>
        <p:txBody>
          <a:bodyPr wrap="square" lIns="0" rIns="0" tIns="0" bIns="0" anchor="t">
            <a:spAutoFit/>
          </a:bodyPr>
          <a:lstStyle/>
          <a:p>
            <a:pPr algn="l">
              <a:lnSpc>
                <a:spcPct val="135000"/>
              </a:lnSpc>
            </a:pPr>
            <a:r>
              <a:rPr sz="1250" b="0" i="0">
                <a:solidFill>
                  <a:srgbClr val="1F2937"/>
                </a:solidFill>
                <a:latin typeface="Calibri"/>
              </a:rPr>
              <a:t>• 既知の「悪用ドライバ」ハッシュを仕込んだ
検証用ログ (Sysmon EID 6) を解析</a:t>
            </a:r>
          </a:p>
        </p:txBody>
      </p:sp>
      <p:sp>
        <p:nvSpPr>
          <p:cNvPr id="9" name="TextBox 8"/>
          <p:cNvSpPr txBox="1"/>
          <p:nvPr/>
        </p:nvSpPr>
        <p:spPr>
          <a:xfrm>
            <a:off x="868680" y="3291839"/>
            <a:ext cx="4937760" cy="731520"/>
          </a:xfrm>
          <a:prstGeom prst="rect">
            <a:avLst/>
          </a:prstGeom>
          <a:noFill/>
        </p:spPr>
        <p:txBody>
          <a:bodyPr wrap="square" lIns="0" rIns="0" tIns="0" bIns="0" anchor="t">
            <a:spAutoFit/>
          </a:bodyPr>
          <a:lstStyle/>
          <a:p>
            <a:pPr algn="l">
              <a:lnSpc>
                <a:spcPct val="135000"/>
              </a:lnSpc>
            </a:pPr>
            <a:r>
              <a:rPr sz="1250" b="0" i="0">
                <a:solidFill>
                  <a:srgbClr val="1F2937"/>
                </a:solidFill>
                <a:latin typeface="Calibri"/>
              </a:rPr>
              <a:t>• → ルール本文は 1 行も変えず、外部 IoC
   リスト側だけで照合</a:t>
            </a:r>
          </a:p>
        </p:txBody>
      </p:sp>
      <p:sp>
        <p:nvSpPr>
          <p:cNvPr id="10" name="Rounded Rectangle 9"/>
          <p:cNvSpPr/>
          <p:nvPr/>
        </p:nvSpPr>
        <p:spPr>
          <a:xfrm>
            <a:off x="868680" y="4160520"/>
            <a:ext cx="4846320" cy="960120"/>
          </a:xfrm>
          <a:prstGeom prst="roundRect">
            <a:avLst/>
          </a:prstGeom>
          <a:solidFill>
            <a:srgbClr val="0F172A"/>
          </a:solidFill>
          <a:ln w="95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279392"/>
            <a:ext cx="4480560" cy="274320"/>
          </a:xfrm>
          <a:prstGeom prst="rect">
            <a:avLst/>
          </a:prstGeom>
          <a:noFill/>
        </p:spPr>
        <p:txBody>
          <a:bodyPr wrap="square" lIns="0" rIns="0" tIns="0" bIns="0" anchor="t">
            <a:spAutoFit/>
          </a:bodyPr>
          <a:lstStyle/>
          <a:p>
            <a:pPr algn="l">
              <a:lnSpc>
                <a:spcPct val="130000"/>
              </a:lnSpc>
            </a:pPr>
            <a:r>
              <a:rPr sz="1000" b="0" i="0">
                <a:solidFill>
                  <a:srgbClr val="94A3B8"/>
                </a:solidFill>
                <a:latin typeface="Consolas"/>
              </a:rPr>
              <a:t>実測結果</a:t>
            </a:r>
          </a:p>
        </p:txBody>
      </p:sp>
      <p:sp>
        <p:nvSpPr>
          <p:cNvPr id="12" name="TextBox 11"/>
          <p:cNvSpPr txBox="1"/>
          <p:nvPr/>
        </p:nvSpPr>
        <p:spPr>
          <a:xfrm>
            <a:off x="1051560" y="4553712"/>
            <a:ext cx="4480560" cy="292608"/>
          </a:xfrm>
          <a:prstGeom prst="rect">
            <a:avLst/>
          </a:prstGeom>
          <a:noFill/>
        </p:spPr>
        <p:txBody>
          <a:bodyPr wrap="square" lIns="0" rIns="0" tIns="0" bIns="0" anchor="t">
            <a:spAutoFit/>
          </a:bodyPr>
          <a:lstStyle/>
          <a:p>
            <a:pPr algn="l">
              <a:lnSpc>
                <a:spcPct val="130000"/>
              </a:lnSpc>
            </a:pPr>
            <a:r>
              <a:rPr sz="1300" b="0" i="0">
                <a:solidFill>
                  <a:srgbClr val="7DD3FC"/>
                </a:solidFill>
                <a:latin typeface="Consolas"/>
              </a:rPr>
              <a:t>level = critical</a:t>
            </a:r>
          </a:p>
        </p:txBody>
      </p:sp>
      <p:sp>
        <p:nvSpPr>
          <p:cNvPr id="13" name="TextBox 12"/>
          <p:cNvSpPr txBox="1"/>
          <p:nvPr/>
        </p:nvSpPr>
        <p:spPr>
          <a:xfrm>
            <a:off x="1051560" y="4846320"/>
            <a:ext cx="4480560" cy="292608"/>
          </a:xfrm>
          <a:prstGeom prst="rect">
            <a:avLst/>
          </a:prstGeom>
          <a:noFill/>
        </p:spPr>
        <p:txBody>
          <a:bodyPr wrap="square" lIns="0" rIns="0" tIns="0" bIns="0" anchor="t">
            <a:spAutoFit/>
          </a:bodyPr>
          <a:lstStyle/>
          <a:p>
            <a:pPr algn="l">
              <a:lnSpc>
                <a:spcPct val="130000"/>
              </a:lnSpc>
            </a:pPr>
            <a:r>
              <a:rPr sz="1300" b="0" i="0">
                <a:solidFill>
                  <a:srgbClr val="CBD5E1"/>
                </a:solidFill>
                <a:latin typeface="Consolas"/>
              </a:rPr>
              <a:t>rule  = LOLDrivers hash match</a:t>
            </a:r>
          </a:p>
        </p:txBody>
      </p:sp>
      <p:sp>
        <p:nvSpPr>
          <p:cNvPr id="14" name="TextBox 13"/>
          <p:cNvSpPr txBox="1"/>
          <p:nvPr/>
        </p:nvSpPr>
        <p:spPr>
          <a:xfrm>
            <a:off x="868680" y="5303520"/>
            <a:ext cx="4937760" cy="457200"/>
          </a:xfrm>
          <a:prstGeom prst="rect">
            <a:avLst/>
          </a:prstGeom>
          <a:noFill/>
        </p:spPr>
        <p:txBody>
          <a:bodyPr wrap="square" lIns="0" rIns="0" tIns="0" bIns="0" anchor="t">
            <a:spAutoFit/>
          </a:bodyPr>
          <a:lstStyle/>
          <a:p>
            <a:pPr algn="l">
              <a:lnSpc>
                <a:spcPct val="130000"/>
              </a:lnSpc>
            </a:pPr>
            <a:r>
              <a:rPr sz="1250" b="1" i="0">
                <a:solidFill>
                  <a:srgbClr val="16A34A"/>
                </a:solidFill>
                <a:latin typeface="Calibri"/>
              </a:rPr>
              <a:t>→ IoC リストを取り込んで検知できることを実証 ✓</a:t>
            </a:r>
          </a:p>
        </p:txBody>
      </p:sp>
      <p:sp>
        <p:nvSpPr>
          <p:cNvPr id="15" name="Rounded Rectangle 14"/>
          <p:cNvSpPr/>
          <p:nvPr/>
        </p:nvSpPr>
        <p:spPr>
          <a:xfrm>
            <a:off x="6263640" y="1691640"/>
            <a:ext cx="5376672" cy="416052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691640"/>
            <a:ext cx="73152" cy="416052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1874519"/>
            <a:ext cx="4937760" cy="457200"/>
          </a:xfrm>
          <a:prstGeom prst="rect">
            <a:avLst/>
          </a:prstGeom>
          <a:noFill/>
        </p:spPr>
        <p:txBody>
          <a:bodyPr wrap="square" lIns="0" rIns="0" tIns="0" bIns="0" anchor="t">
            <a:spAutoFit/>
          </a:bodyPr>
          <a:lstStyle/>
          <a:p>
            <a:pPr algn="l">
              <a:lnSpc>
                <a:spcPct val="130000"/>
              </a:lnSpc>
            </a:pPr>
            <a:r>
              <a:rPr sz="1600" b="1" i="0">
                <a:solidFill>
                  <a:srgbClr val="1F2937"/>
                </a:solidFill>
                <a:latin typeface="Cambria"/>
              </a:rPr>
              <a:t>② 公開攻撃サンプルでの検知</a:t>
            </a:r>
          </a:p>
        </p:txBody>
      </p:sp>
      <p:sp>
        <p:nvSpPr>
          <p:cNvPr id="18" name="TextBox 17"/>
          <p:cNvSpPr txBox="1"/>
          <p:nvPr/>
        </p:nvSpPr>
        <p:spPr>
          <a:xfrm>
            <a:off x="6537960" y="2395728"/>
            <a:ext cx="4023360" cy="365760"/>
          </a:xfrm>
          <a:prstGeom prst="rect">
            <a:avLst/>
          </a:prstGeom>
          <a:noFill/>
        </p:spPr>
        <p:txBody>
          <a:bodyPr wrap="square" lIns="0" rIns="0" tIns="0" bIns="0" anchor="ctr">
            <a:spAutoFit/>
          </a:bodyPr>
          <a:lstStyle/>
          <a:p>
            <a:pPr algn="l">
              <a:lnSpc>
                <a:spcPct val="130000"/>
              </a:lnSpc>
            </a:pPr>
            <a:r>
              <a:rPr sz="1200" b="0" i="0">
                <a:solidFill>
                  <a:srgbClr val="1F2937"/>
                </a:solidFill>
                <a:latin typeface="Calibri"/>
              </a:rPr>
              <a:t>ログ消去 (Security 1102)</a:t>
            </a:r>
          </a:p>
        </p:txBody>
      </p:sp>
      <p:sp>
        <p:nvSpPr>
          <p:cNvPr id="19" name="Rounded Rectangle 18"/>
          <p:cNvSpPr/>
          <p:nvPr/>
        </p:nvSpPr>
        <p:spPr>
          <a:xfrm>
            <a:off x="10652760" y="2414016"/>
            <a:ext cx="868680" cy="310896"/>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52760" y="2414016"/>
            <a:ext cx="868680" cy="310896"/>
          </a:xfrm>
          <a:prstGeom prst="rect">
            <a:avLst/>
          </a:prstGeom>
          <a:noFill/>
        </p:spPr>
        <p:txBody>
          <a:bodyPr wrap="square" lIns="0" rIns="0" tIns="0" bIns="0" anchor="ctr">
            <a:spAutoFit/>
          </a:bodyPr>
          <a:lstStyle/>
          <a:p>
            <a:pPr algn="ctr">
              <a:lnSpc>
                <a:spcPct val="130000"/>
              </a:lnSpc>
            </a:pPr>
            <a:r>
              <a:rPr sz="1050" b="1" i="0">
                <a:solidFill>
                  <a:srgbClr val="FFFFFF"/>
                </a:solidFill>
                <a:latin typeface="Calibri"/>
              </a:rPr>
              <a:t>high</a:t>
            </a:r>
          </a:p>
        </p:txBody>
      </p:sp>
      <p:sp>
        <p:nvSpPr>
          <p:cNvPr id="21" name="TextBox 20"/>
          <p:cNvSpPr txBox="1"/>
          <p:nvPr/>
        </p:nvSpPr>
        <p:spPr>
          <a:xfrm>
            <a:off x="6537960" y="2852928"/>
            <a:ext cx="4023360" cy="365760"/>
          </a:xfrm>
          <a:prstGeom prst="rect">
            <a:avLst/>
          </a:prstGeom>
          <a:noFill/>
        </p:spPr>
        <p:txBody>
          <a:bodyPr wrap="square" lIns="0" rIns="0" tIns="0" bIns="0" anchor="ctr">
            <a:spAutoFit/>
          </a:bodyPr>
          <a:lstStyle/>
          <a:p>
            <a:pPr algn="l">
              <a:lnSpc>
                <a:spcPct val="130000"/>
              </a:lnSpc>
            </a:pPr>
            <a:r>
              <a:rPr sz="1200" b="0" i="0">
                <a:solidFill>
                  <a:srgbClr val="1F2937"/>
                </a:solidFill>
                <a:latin typeface="Calibri"/>
              </a:rPr>
              <a:t>ポートフォワード (netsh/RDP)</a:t>
            </a:r>
          </a:p>
        </p:txBody>
      </p:sp>
      <p:sp>
        <p:nvSpPr>
          <p:cNvPr id="22" name="Rounded Rectangle 21"/>
          <p:cNvSpPr/>
          <p:nvPr/>
        </p:nvSpPr>
        <p:spPr>
          <a:xfrm>
            <a:off x="10652760" y="2871216"/>
            <a:ext cx="868680" cy="310896"/>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52760" y="2871216"/>
            <a:ext cx="868680" cy="310896"/>
          </a:xfrm>
          <a:prstGeom prst="rect">
            <a:avLst/>
          </a:prstGeom>
          <a:noFill/>
        </p:spPr>
        <p:txBody>
          <a:bodyPr wrap="square" lIns="0" rIns="0" tIns="0" bIns="0" anchor="ctr">
            <a:spAutoFit/>
          </a:bodyPr>
          <a:lstStyle/>
          <a:p>
            <a:pPr algn="ctr">
              <a:lnSpc>
                <a:spcPct val="130000"/>
              </a:lnSpc>
            </a:pPr>
            <a:r>
              <a:rPr sz="1050" b="1" i="0">
                <a:solidFill>
                  <a:srgbClr val="FFFFFF"/>
                </a:solidFill>
                <a:latin typeface="Calibri"/>
              </a:rPr>
              <a:t>high</a:t>
            </a:r>
          </a:p>
        </p:txBody>
      </p:sp>
      <p:sp>
        <p:nvSpPr>
          <p:cNvPr id="24" name="TextBox 23"/>
          <p:cNvSpPr txBox="1"/>
          <p:nvPr/>
        </p:nvSpPr>
        <p:spPr>
          <a:xfrm>
            <a:off x="6537960" y="3310128"/>
            <a:ext cx="4023360" cy="365760"/>
          </a:xfrm>
          <a:prstGeom prst="rect">
            <a:avLst/>
          </a:prstGeom>
          <a:noFill/>
        </p:spPr>
        <p:txBody>
          <a:bodyPr wrap="square" lIns="0" rIns="0" tIns="0" bIns="0" anchor="ctr">
            <a:spAutoFit/>
          </a:bodyPr>
          <a:lstStyle/>
          <a:p>
            <a:pPr algn="l">
              <a:lnSpc>
                <a:spcPct val="130000"/>
              </a:lnSpc>
            </a:pPr>
            <a:r>
              <a:rPr sz="1200" b="0" i="0">
                <a:solidFill>
                  <a:srgbClr val="1F2937"/>
                </a:solidFill>
                <a:latin typeface="Calibri"/>
              </a:rPr>
              <a:t>バインドシェル / DLL ハイジャック</a:t>
            </a:r>
          </a:p>
        </p:txBody>
      </p:sp>
      <p:sp>
        <p:nvSpPr>
          <p:cNvPr id="25" name="Rounded Rectangle 24"/>
          <p:cNvSpPr/>
          <p:nvPr/>
        </p:nvSpPr>
        <p:spPr>
          <a:xfrm>
            <a:off x="10652760" y="3328416"/>
            <a:ext cx="868680" cy="310896"/>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652760" y="3328416"/>
            <a:ext cx="868680" cy="310896"/>
          </a:xfrm>
          <a:prstGeom prst="rect">
            <a:avLst/>
          </a:prstGeom>
          <a:noFill/>
        </p:spPr>
        <p:txBody>
          <a:bodyPr wrap="square" lIns="0" rIns="0" tIns="0" bIns="0" anchor="ctr">
            <a:spAutoFit/>
          </a:bodyPr>
          <a:lstStyle/>
          <a:p>
            <a:pPr algn="ctr">
              <a:lnSpc>
                <a:spcPct val="130000"/>
              </a:lnSpc>
            </a:pPr>
            <a:r>
              <a:rPr sz="1050" b="1" i="0">
                <a:solidFill>
                  <a:srgbClr val="FFFFFF"/>
                </a:solidFill>
                <a:latin typeface="Calibri"/>
              </a:rPr>
              <a:t>high</a:t>
            </a:r>
          </a:p>
        </p:txBody>
      </p:sp>
      <p:sp>
        <p:nvSpPr>
          <p:cNvPr id="27" name="TextBox 26"/>
          <p:cNvSpPr txBox="1"/>
          <p:nvPr/>
        </p:nvSpPr>
        <p:spPr>
          <a:xfrm>
            <a:off x="6537960" y="3767328"/>
            <a:ext cx="4023360" cy="365760"/>
          </a:xfrm>
          <a:prstGeom prst="rect">
            <a:avLst/>
          </a:prstGeom>
          <a:noFill/>
        </p:spPr>
        <p:txBody>
          <a:bodyPr wrap="square" lIns="0" rIns="0" tIns="0" bIns="0" anchor="ctr">
            <a:spAutoFit/>
          </a:bodyPr>
          <a:lstStyle/>
          <a:p>
            <a:pPr algn="l">
              <a:lnSpc>
                <a:spcPct val="130000"/>
              </a:lnSpc>
            </a:pPr>
            <a:r>
              <a:rPr sz="1200" b="0" i="0">
                <a:solidFill>
                  <a:srgbClr val="1F2937"/>
                </a:solidFill>
                <a:latin typeface="Calibri"/>
              </a:rPr>
              <a:t>プロセス注入 (Meterpreter)</a:t>
            </a:r>
          </a:p>
        </p:txBody>
      </p:sp>
      <p:sp>
        <p:nvSpPr>
          <p:cNvPr id="28" name="Rounded Rectangle 27"/>
          <p:cNvSpPr/>
          <p:nvPr/>
        </p:nvSpPr>
        <p:spPr>
          <a:xfrm>
            <a:off x="10652760" y="3785615"/>
            <a:ext cx="868680" cy="310896"/>
          </a:xfrm>
          <a:prstGeom prst="roundRect">
            <a:avLst/>
          </a:prstGeom>
          <a:solidFill>
            <a:srgbClr val="CA8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52760" y="3785615"/>
            <a:ext cx="868680" cy="310896"/>
          </a:xfrm>
          <a:prstGeom prst="rect">
            <a:avLst/>
          </a:prstGeom>
          <a:noFill/>
        </p:spPr>
        <p:txBody>
          <a:bodyPr wrap="square" lIns="0" rIns="0" tIns="0" bIns="0" anchor="ctr">
            <a:spAutoFit/>
          </a:bodyPr>
          <a:lstStyle/>
          <a:p>
            <a:pPr algn="ctr">
              <a:lnSpc>
                <a:spcPct val="130000"/>
              </a:lnSpc>
            </a:pPr>
            <a:r>
              <a:rPr sz="1050" b="1" i="0">
                <a:solidFill>
                  <a:srgbClr val="FFFFFF"/>
                </a:solidFill>
                <a:latin typeface="Calibri"/>
              </a:rPr>
              <a:t>medium</a:t>
            </a:r>
          </a:p>
        </p:txBody>
      </p:sp>
      <p:sp>
        <p:nvSpPr>
          <p:cNvPr id="30" name="TextBox 29"/>
          <p:cNvSpPr txBox="1"/>
          <p:nvPr/>
        </p:nvSpPr>
        <p:spPr>
          <a:xfrm>
            <a:off x="6537960" y="4224528"/>
            <a:ext cx="4023360" cy="365760"/>
          </a:xfrm>
          <a:prstGeom prst="rect">
            <a:avLst/>
          </a:prstGeom>
          <a:noFill/>
        </p:spPr>
        <p:txBody>
          <a:bodyPr wrap="square" lIns="0" rIns="0" tIns="0" bIns="0" anchor="ctr">
            <a:spAutoFit/>
          </a:bodyPr>
          <a:lstStyle/>
          <a:p>
            <a:pPr algn="l">
              <a:lnSpc>
                <a:spcPct val="130000"/>
              </a:lnSpc>
            </a:pPr>
            <a:r>
              <a:rPr sz="1200" b="0" i="0">
                <a:solidFill>
                  <a:srgbClr val="1F2937"/>
                </a:solidFill>
                <a:latin typeface="Calibri"/>
              </a:rPr>
              <a:t>DLL サイドローディング</a:t>
            </a:r>
          </a:p>
        </p:txBody>
      </p:sp>
      <p:sp>
        <p:nvSpPr>
          <p:cNvPr id="31" name="Rounded Rectangle 30"/>
          <p:cNvSpPr/>
          <p:nvPr/>
        </p:nvSpPr>
        <p:spPr>
          <a:xfrm>
            <a:off x="10652760" y="4242816"/>
            <a:ext cx="868680" cy="310896"/>
          </a:xfrm>
          <a:prstGeom prst="roundRect">
            <a:avLst/>
          </a:prstGeom>
          <a:solidFill>
            <a:srgbClr val="CA8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52760" y="4242816"/>
            <a:ext cx="868680" cy="310896"/>
          </a:xfrm>
          <a:prstGeom prst="rect">
            <a:avLst/>
          </a:prstGeom>
          <a:noFill/>
        </p:spPr>
        <p:txBody>
          <a:bodyPr wrap="square" lIns="0" rIns="0" tIns="0" bIns="0" anchor="ctr">
            <a:spAutoFit/>
          </a:bodyPr>
          <a:lstStyle/>
          <a:p>
            <a:pPr algn="ctr">
              <a:lnSpc>
                <a:spcPct val="130000"/>
              </a:lnSpc>
            </a:pPr>
            <a:r>
              <a:rPr sz="1050" b="1" i="0">
                <a:solidFill>
                  <a:srgbClr val="FFFFFF"/>
                </a:solidFill>
                <a:latin typeface="Calibri"/>
              </a:rPr>
              <a:t>medium</a:t>
            </a:r>
          </a:p>
        </p:txBody>
      </p:sp>
      <p:sp>
        <p:nvSpPr>
          <p:cNvPr id="33" name="TextBox 32"/>
          <p:cNvSpPr txBox="1"/>
          <p:nvPr/>
        </p:nvSpPr>
        <p:spPr>
          <a:xfrm>
            <a:off x="6537960" y="4754880"/>
            <a:ext cx="4937760" cy="365760"/>
          </a:xfrm>
          <a:prstGeom prst="rect">
            <a:avLst/>
          </a:prstGeom>
          <a:noFill/>
        </p:spPr>
        <p:txBody>
          <a:bodyPr wrap="square" lIns="0" rIns="0" tIns="0" bIns="0" anchor="t">
            <a:spAutoFit/>
          </a:bodyPr>
          <a:lstStyle/>
          <a:p>
            <a:pPr algn="l">
              <a:lnSpc>
                <a:spcPct val="130000"/>
              </a:lnSpc>
            </a:pPr>
            <a:r>
              <a:rPr sz="1250" b="1" i="0">
                <a:solidFill>
                  <a:srgbClr val="1F2937"/>
                </a:solidFill>
                <a:latin typeface="Calibri"/>
              </a:rPr>
              <a:t>検証した 6 サンプル中 5 種で脅威を検知（最大 high）。</a:t>
            </a:r>
          </a:p>
        </p:txBody>
      </p:sp>
      <p:sp>
        <p:nvSpPr>
          <p:cNvPr id="34" name="TextBox 33"/>
          <p:cNvSpPr txBox="1"/>
          <p:nvPr/>
        </p:nvSpPr>
        <p:spPr>
          <a:xfrm>
            <a:off x="6537960" y="5138928"/>
            <a:ext cx="4983480" cy="685800"/>
          </a:xfrm>
          <a:prstGeom prst="rect">
            <a:avLst/>
          </a:prstGeom>
          <a:noFill/>
        </p:spPr>
        <p:txBody>
          <a:bodyPr wrap="square" lIns="0" rIns="0" tIns="0" bIns="0" anchor="t">
            <a:spAutoFit/>
          </a:bodyPr>
          <a:lstStyle/>
          <a:p>
            <a:pPr algn="l">
              <a:lnSpc>
                <a:spcPct val="130000"/>
              </a:lnSpc>
            </a:pPr>
            <a:r>
              <a:rPr sz="1000" b="0" i="0">
                <a:solidFill>
                  <a:srgbClr val="5B6472"/>
                </a:solidFill>
                <a:latin typeface="Calibri"/>
              </a:rPr>
              <a:t>※ ここでの発火は上流 Sigma ルールと自作分の合算。自作の 13 ルールは対応する痕跡（Sysmon EID 1 の wevtutil 等）を含むログで発火する設計。</a:t>
            </a:r>
          </a:p>
        </p:txBody>
      </p:sp>
      <p:sp>
        <p:nvSpPr>
          <p:cNvPr id="35" name="TextBox 34"/>
          <p:cNvSpPr txBox="1"/>
          <p:nvPr/>
        </p:nvSpPr>
        <p:spPr>
          <a:xfrm>
            <a:off x="548640" y="5989320"/>
            <a:ext cx="11064240" cy="365760"/>
          </a:xfrm>
          <a:prstGeom prst="rect">
            <a:avLst/>
          </a:prstGeom>
          <a:noFill/>
        </p:spPr>
        <p:txBody>
          <a:bodyPr wrap="square" lIns="0" rIns="0" tIns="0" bIns="0" anchor="t">
            <a:spAutoFit/>
          </a:bodyPr>
          <a:lstStyle/>
          <a:p>
            <a:pPr algn="ctr">
              <a:lnSpc>
                <a:spcPct val="130000"/>
              </a:lnSpc>
            </a:pPr>
            <a:r>
              <a:rPr sz="1250" b="1" i="0">
                <a:solidFill>
                  <a:srgbClr val="1D4ED8"/>
                </a:solidFill>
                <a:latin typeface="Calibri"/>
              </a:rPr>
              <a:t>実際のログを読み込ませ、平文ではなく検知として浮かび上がることを確認。</a:t>
            </a:r>
          </a:p>
        </p:txBody>
      </p:sp>
      <p:sp>
        <p:nvSpPr>
          <p:cNvPr id="36" name="TextBox 35"/>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5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10972800" cy="822960"/>
          </a:xfrm>
          <a:prstGeom prst="rect">
            <a:avLst/>
          </a:prstGeom>
          <a:noFill/>
        </p:spPr>
        <p:txBody>
          <a:bodyPr wrap="square" lIns="0" rIns="0" tIns="0" bIns="0" anchor="t">
            <a:spAutoFit/>
          </a:bodyPr>
          <a:lstStyle/>
          <a:p>
            <a:pPr algn="ctr">
              <a:lnSpc>
                <a:spcPct val="130000"/>
              </a:lnSpc>
            </a:pPr>
            <a:r>
              <a:rPr sz="4400" b="1" i="0">
                <a:solidFill>
                  <a:srgbClr val="FFFFFF"/>
                </a:solidFill>
                <a:latin typeface="Cambria"/>
              </a:rPr>
              <a:t>DEMO</a:t>
            </a:r>
          </a:p>
        </p:txBody>
      </p:sp>
      <p:pic>
        <p:nvPicPr>
          <p:cNvPr id="4" name="hayabusa-plus-dem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255367" y="1417320"/>
            <a:ext cx="7680960" cy="4320540"/>
          </a:xfrm>
          <a:prstGeom prst="rect">
            <a:avLst/>
          </a:prstGeom>
          <a:ln w="12700">
            <a:solidFill>
              <a:srgbClr val="CADCFC"/>
            </a:solidFill>
          </a:ln>
        </p:spPr>
      </p:pic>
      <p:sp>
        <p:nvSpPr>
          <p:cNvPr id="5" name="TextBox 4"/>
          <p:cNvSpPr txBox="1"/>
          <p:nvPr/>
        </p:nvSpPr>
        <p:spPr>
          <a:xfrm>
            <a:off x="548640" y="5943600"/>
            <a:ext cx="10972800" cy="457200"/>
          </a:xfrm>
          <a:prstGeom prst="rect">
            <a:avLst/>
          </a:prstGeom>
          <a:noFill/>
        </p:spPr>
        <p:txBody>
          <a:bodyPr wrap="square" lIns="0" rIns="0" tIns="0" bIns="0" anchor="t">
            <a:spAutoFit/>
          </a:bodyPr>
          <a:lstStyle/>
          <a:p>
            <a:pPr algn="ctr">
              <a:lnSpc>
                <a:spcPct val="130000"/>
              </a:lnSpc>
            </a:pPr>
            <a:r>
              <a:rPr sz="1500" b="0" i="1">
                <a:solidFill>
                  <a:srgbClr val="CADCFC"/>
                </a:solidFill>
                <a:latin typeface="Calibri"/>
              </a:rPr>
              <a:t>▶ クリックで再生 — 実際の画面の録画 (約 38 秒・字幕つき)</a:t>
            </a:r>
          </a:p>
        </p:txBody>
      </p:sp>
      <p:sp>
        <p:nvSpPr>
          <p:cNvPr id="6" name="TextBox 5"/>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CADCFC"/>
                </a:solidFill>
                <a:latin typeface="Calibri"/>
              </a:rPr>
              <a:t>14 / 16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成果</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まとめ — 開発したもの</a:t>
            </a:r>
          </a:p>
        </p:txBody>
      </p:sp>
      <p:sp>
        <p:nvSpPr>
          <p:cNvPr id="5" name="Rounded Rectangle 4"/>
          <p:cNvSpPr/>
          <p:nvPr/>
        </p:nvSpPr>
        <p:spPr>
          <a:xfrm>
            <a:off x="548640" y="1783080"/>
            <a:ext cx="2697480" cy="3291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73152" cy="32918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194560"/>
            <a:ext cx="2368296" cy="1005840"/>
          </a:xfrm>
          <a:prstGeom prst="rect">
            <a:avLst/>
          </a:prstGeom>
          <a:noFill/>
        </p:spPr>
        <p:txBody>
          <a:bodyPr wrap="square" lIns="0" rIns="0" tIns="0" bIns="0" anchor="t">
            <a:spAutoFit/>
          </a:bodyPr>
          <a:lstStyle/>
          <a:p>
            <a:pPr algn="ctr">
              <a:lnSpc>
                <a:spcPct val="130000"/>
              </a:lnSpc>
            </a:pPr>
            <a:r>
              <a:rPr sz="4000" b="1" i="0">
                <a:solidFill>
                  <a:srgbClr val="1D4ED8"/>
                </a:solidFill>
                <a:latin typeface="Cambria"/>
              </a:rPr>
              <a:t>新文法</a:t>
            </a:r>
          </a:p>
        </p:txBody>
      </p:sp>
      <p:sp>
        <p:nvSpPr>
          <p:cNvPr id="8" name="TextBox 7"/>
          <p:cNvSpPr txBox="1"/>
          <p:nvPr/>
        </p:nvSpPr>
        <p:spPr>
          <a:xfrm>
            <a:off x="548640" y="3200400"/>
            <a:ext cx="2697480" cy="457200"/>
          </a:xfrm>
          <a:prstGeom prst="rect">
            <a:avLst/>
          </a:prstGeom>
          <a:noFill/>
        </p:spPr>
        <p:txBody>
          <a:bodyPr wrap="square" lIns="0" rIns="0" tIns="0" bIns="0" anchor="t">
            <a:spAutoFit/>
          </a:bodyPr>
          <a:lstStyle/>
          <a:p>
            <a:pPr algn="ctr">
              <a:lnSpc>
                <a:spcPct val="130000"/>
              </a:lnSpc>
            </a:pPr>
            <a:r>
              <a:rPr sz="2000" b="0" i="0">
                <a:solidFill>
                  <a:srgbClr val="1F2937"/>
                </a:solidFill>
                <a:latin typeface="Cambria"/>
              </a:rPr>
              <a:t>lookup:</a:t>
            </a:r>
          </a:p>
        </p:txBody>
      </p:sp>
      <p:sp>
        <p:nvSpPr>
          <p:cNvPr id="9" name="TextBox 8"/>
          <p:cNvSpPr txBox="1"/>
          <p:nvPr/>
        </p:nvSpPr>
        <p:spPr>
          <a:xfrm>
            <a:off x="731520" y="3840480"/>
            <a:ext cx="2331720" cy="1005840"/>
          </a:xfrm>
          <a:prstGeom prst="rect">
            <a:avLst/>
          </a:prstGeom>
          <a:noFill/>
        </p:spPr>
        <p:txBody>
          <a:bodyPr wrap="square" lIns="0" rIns="0" tIns="0" bIns="0" anchor="t">
            <a:spAutoFit/>
          </a:bodyPr>
          <a:lstStyle/>
          <a:p>
            <a:pPr algn="ctr">
              <a:lnSpc>
                <a:spcPct val="140000"/>
              </a:lnSpc>
            </a:pPr>
            <a:r>
              <a:rPr sz="1200" b="0" i="0">
                <a:solidFill>
                  <a:srgbClr val="5B6472"/>
                </a:solidFill>
                <a:latin typeface="Calibri"/>
              </a:rPr>
              <a:t>エンジン本体 (Rust) を改造し
リスト照合機能を追加</a:t>
            </a:r>
          </a:p>
        </p:txBody>
      </p:sp>
      <p:sp>
        <p:nvSpPr>
          <p:cNvPr id="10" name="Rounded Rectangle 9"/>
          <p:cNvSpPr/>
          <p:nvPr/>
        </p:nvSpPr>
        <p:spPr>
          <a:xfrm>
            <a:off x="3429000" y="1783080"/>
            <a:ext cx="2697480" cy="3291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29000" y="1783080"/>
            <a:ext cx="73152" cy="32918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2194560"/>
            <a:ext cx="2368296" cy="1005840"/>
          </a:xfrm>
          <a:prstGeom prst="rect">
            <a:avLst/>
          </a:prstGeom>
          <a:noFill/>
        </p:spPr>
        <p:txBody>
          <a:bodyPr wrap="square" lIns="0" rIns="0" tIns="0" bIns="0" anchor="t">
            <a:spAutoFit/>
          </a:bodyPr>
          <a:lstStyle/>
          <a:p>
            <a:pPr algn="ctr">
              <a:lnSpc>
                <a:spcPct val="130000"/>
              </a:lnSpc>
            </a:pPr>
            <a:r>
              <a:rPr sz="4000" b="1" i="0">
                <a:solidFill>
                  <a:srgbClr val="EA580C"/>
                </a:solidFill>
                <a:latin typeface="Cambria"/>
              </a:rPr>
              <a:t>13</a:t>
            </a:r>
          </a:p>
        </p:txBody>
      </p:sp>
      <p:sp>
        <p:nvSpPr>
          <p:cNvPr id="13" name="TextBox 12"/>
          <p:cNvSpPr txBox="1"/>
          <p:nvPr/>
        </p:nvSpPr>
        <p:spPr>
          <a:xfrm>
            <a:off x="3429000" y="3200400"/>
            <a:ext cx="2697480" cy="457200"/>
          </a:xfrm>
          <a:prstGeom prst="rect">
            <a:avLst/>
          </a:prstGeom>
          <a:noFill/>
        </p:spPr>
        <p:txBody>
          <a:bodyPr wrap="square" lIns="0" rIns="0" tIns="0" bIns="0" anchor="t">
            <a:spAutoFit/>
          </a:bodyPr>
          <a:lstStyle/>
          <a:p>
            <a:pPr algn="ctr">
              <a:lnSpc>
                <a:spcPct val="130000"/>
              </a:lnSpc>
            </a:pPr>
            <a:r>
              <a:rPr sz="2000" b="0" i="0">
                <a:solidFill>
                  <a:srgbClr val="1F2937"/>
                </a:solidFill>
                <a:latin typeface="Cambria"/>
              </a:rPr>
              <a:t>本</a:t>
            </a:r>
          </a:p>
        </p:txBody>
      </p:sp>
      <p:sp>
        <p:nvSpPr>
          <p:cNvPr id="14" name="TextBox 13"/>
          <p:cNvSpPr txBox="1"/>
          <p:nvPr/>
        </p:nvSpPr>
        <p:spPr>
          <a:xfrm>
            <a:off x="3611880" y="3840480"/>
            <a:ext cx="2331720" cy="1005840"/>
          </a:xfrm>
          <a:prstGeom prst="rect">
            <a:avLst/>
          </a:prstGeom>
          <a:noFill/>
        </p:spPr>
        <p:txBody>
          <a:bodyPr wrap="square" lIns="0" rIns="0" tIns="0" bIns="0" anchor="t">
            <a:spAutoFit/>
          </a:bodyPr>
          <a:lstStyle/>
          <a:p>
            <a:pPr algn="ctr">
              <a:lnSpc>
                <a:spcPct val="140000"/>
              </a:lnSpc>
            </a:pPr>
            <a:r>
              <a:rPr sz="1200" b="0" i="0">
                <a:solidFill>
                  <a:srgbClr val="5B6472"/>
                </a:solidFill>
                <a:latin typeface="Calibri"/>
              </a:rPr>
              <a:t>攻撃を見抜く検知ルールを
自作 (痕跡隠蔽の検知など)</a:t>
            </a:r>
          </a:p>
        </p:txBody>
      </p:sp>
      <p:sp>
        <p:nvSpPr>
          <p:cNvPr id="15" name="Rounded Rectangle 14"/>
          <p:cNvSpPr/>
          <p:nvPr/>
        </p:nvSpPr>
        <p:spPr>
          <a:xfrm>
            <a:off x="6309360" y="1783080"/>
            <a:ext cx="2697480" cy="3291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1783080"/>
            <a:ext cx="73152" cy="3291840"/>
          </a:xfrm>
          <a:prstGeom prst="rect">
            <a:avLst/>
          </a:prstGeom>
          <a:solidFill>
            <a:srgbClr val="CA8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2194560"/>
            <a:ext cx="2368296" cy="1005840"/>
          </a:xfrm>
          <a:prstGeom prst="rect">
            <a:avLst/>
          </a:prstGeom>
          <a:noFill/>
        </p:spPr>
        <p:txBody>
          <a:bodyPr wrap="square" lIns="0" rIns="0" tIns="0" bIns="0" anchor="t">
            <a:spAutoFit/>
          </a:bodyPr>
          <a:lstStyle/>
          <a:p>
            <a:pPr algn="ctr">
              <a:lnSpc>
                <a:spcPct val="130000"/>
              </a:lnSpc>
            </a:pPr>
            <a:r>
              <a:rPr sz="4000" b="1" i="0">
                <a:solidFill>
                  <a:srgbClr val="CA8A04"/>
                </a:solidFill>
                <a:latin typeface="Cambria"/>
              </a:rPr>
              <a:t>GUI</a:t>
            </a:r>
          </a:p>
        </p:txBody>
      </p:sp>
      <p:sp>
        <p:nvSpPr>
          <p:cNvPr id="18" name="TextBox 17"/>
          <p:cNvSpPr txBox="1"/>
          <p:nvPr/>
        </p:nvSpPr>
        <p:spPr>
          <a:xfrm>
            <a:off x="6309360" y="3200400"/>
            <a:ext cx="2697480" cy="457200"/>
          </a:xfrm>
          <a:prstGeom prst="rect">
            <a:avLst/>
          </a:prstGeom>
          <a:noFill/>
        </p:spPr>
        <p:txBody>
          <a:bodyPr wrap="square" lIns="0" rIns="0" tIns="0" bIns="0" anchor="t">
            <a:spAutoFit/>
          </a:bodyPr>
          <a:lstStyle/>
          <a:p>
            <a:pPr algn="ctr">
              <a:lnSpc>
                <a:spcPct val="130000"/>
              </a:lnSpc>
            </a:pPr>
            <a:r>
              <a:rPr sz="2000" b="0" i="0">
                <a:solidFill>
                  <a:srgbClr val="1F2937"/>
                </a:solidFill>
                <a:latin typeface="Cambria"/>
              </a:rPr>
              <a:t>ゼロから開発</a:t>
            </a:r>
          </a:p>
        </p:txBody>
      </p:sp>
      <p:sp>
        <p:nvSpPr>
          <p:cNvPr id="19" name="TextBox 18"/>
          <p:cNvSpPr txBox="1"/>
          <p:nvPr/>
        </p:nvSpPr>
        <p:spPr>
          <a:xfrm>
            <a:off x="6492240" y="3840480"/>
            <a:ext cx="2331720" cy="1005840"/>
          </a:xfrm>
          <a:prstGeom prst="rect">
            <a:avLst/>
          </a:prstGeom>
          <a:noFill/>
        </p:spPr>
        <p:txBody>
          <a:bodyPr wrap="square" lIns="0" rIns="0" tIns="0" bIns="0" anchor="t">
            <a:spAutoFit/>
          </a:bodyPr>
          <a:lstStyle/>
          <a:p>
            <a:pPr algn="ctr">
              <a:lnSpc>
                <a:spcPct val="140000"/>
              </a:lnSpc>
            </a:pPr>
            <a:r>
              <a:rPr sz="1200" b="0" i="0">
                <a:solidFill>
                  <a:srgbClr val="5B6472"/>
                </a:solidFill>
                <a:latin typeface="Calibri"/>
              </a:rPr>
              <a:t>結果を日本語で読み解く
調査画面を自作</a:t>
            </a:r>
          </a:p>
        </p:txBody>
      </p:sp>
      <p:sp>
        <p:nvSpPr>
          <p:cNvPr id="20" name="Rounded Rectangle 19"/>
          <p:cNvSpPr/>
          <p:nvPr/>
        </p:nvSpPr>
        <p:spPr>
          <a:xfrm>
            <a:off x="9189720" y="1783080"/>
            <a:ext cx="2697480" cy="3291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783080"/>
            <a:ext cx="73152" cy="32918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54312" y="2194560"/>
            <a:ext cx="2368296" cy="1005840"/>
          </a:xfrm>
          <a:prstGeom prst="rect">
            <a:avLst/>
          </a:prstGeom>
          <a:noFill/>
        </p:spPr>
        <p:txBody>
          <a:bodyPr wrap="square" lIns="0" rIns="0" tIns="0" bIns="0" anchor="t">
            <a:spAutoFit/>
          </a:bodyPr>
          <a:lstStyle/>
          <a:p>
            <a:pPr algn="ctr">
              <a:lnSpc>
                <a:spcPct val="130000"/>
              </a:lnSpc>
            </a:pPr>
            <a:r>
              <a:rPr sz="4000" b="1" i="0">
                <a:solidFill>
                  <a:srgbClr val="16A34A"/>
                </a:solidFill>
                <a:latin typeface="Cambria"/>
              </a:rPr>
              <a:t>約8万</a:t>
            </a:r>
          </a:p>
        </p:txBody>
      </p:sp>
      <p:sp>
        <p:nvSpPr>
          <p:cNvPr id="23" name="TextBox 22"/>
          <p:cNvSpPr txBox="1"/>
          <p:nvPr/>
        </p:nvSpPr>
        <p:spPr>
          <a:xfrm>
            <a:off x="9189720" y="3200400"/>
            <a:ext cx="2697480" cy="457200"/>
          </a:xfrm>
          <a:prstGeom prst="rect">
            <a:avLst/>
          </a:prstGeom>
          <a:noFill/>
        </p:spPr>
        <p:txBody>
          <a:bodyPr wrap="square" lIns="0" rIns="0" tIns="0" bIns="0" anchor="t">
            <a:spAutoFit/>
          </a:bodyPr>
          <a:lstStyle/>
          <a:p>
            <a:pPr algn="ctr">
              <a:lnSpc>
                <a:spcPct val="130000"/>
              </a:lnSpc>
            </a:pPr>
            <a:r>
              <a:rPr sz="2000" b="0" i="0">
                <a:solidFill>
                  <a:srgbClr val="1F2937"/>
                </a:solidFill>
                <a:latin typeface="Cambria"/>
              </a:rPr>
              <a:t>件</a:t>
            </a:r>
          </a:p>
        </p:txBody>
      </p:sp>
      <p:sp>
        <p:nvSpPr>
          <p:cNvPr id="24" name="TextBox 23"/>
          <p:cNvSpPr txBox="1"/>
          <p:nvPr/>
        </p:nvSpPr>
        <p:spPr>
          <a:xfrm>
            <a:off x="9372600" y="3840480"/>
            <a:ext cx="2331720" cy="1005840"/>
          </a:xfrm>
          <a:prstGeom prst="rect">
            <a:avLst/>
          </a:prstGeom>
          <a:noFill/>
        </p:spPr>
        <p:txBody>
          <a:bodyPr wrap="square" lIns="0" rIns="0" tIns="0" bIns="0" anchor="t">
            <a:spAutoFit/>
          </a:bodyPr>
          <a:lstStyle/>
          <a:p>
            <a:pPr algn="ctr">
              <a:lnSpc>
                <a:spcPct val="140000"/>
              </a:lnSpc>
            </a:pPr>
            <a:r>
              <a:rPr sz="1200" b="0" i="0">
                <a:solidFill>
                  <a:srgbClr val="5B6472"/>
                </a:solidFill>
                <a:latin typeface="Calibri"/>
              </a:rPr>
              <a:t>「悪いものリスト」を
自動で取り込んで照合</a:t>
            </a:r>
          </a:p>
        </p:txBody>
      </p:sp>
      <p:sp>
        <p:nvSpPr>
          <p:cNvPr id="25" name="Rounded Rectangle 24"/>
          <p:cNvSpPr/>
          <p:nvPr/>
        </p:nvSpPr>
        <p:spPr>
          <a:xfrm>
            <a:off x="548640" y="5440680"/>
            <a:ext cx="11064240" cy="1005840"/>
          </a:xfrm>
          <a:prstGeom prst="roundRect">
            <a:avLst/>
          </a:prstGeom>
          <a:solidFill>
            <a:srgbClr val="E8F0FE"/>
          </a:solidFill>
          <a:ln w="9525">
            <a:solidFill>
              <a:srgbClr val="E8F0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440680"/>
            <a:ext cx="10515600" cy="1005840"/>
          </a:xfrm>
          <a:prstGeom prst="rect">
            <a:avLst/>
          </a:prstGeom>
          <a:noFill/>
        </p:spPr>
        <p:txBody>
          <a:bodyPr wrap="square" lIns="0" rIns="0" tIns="0" bIns="0" anchor="ctr">
            <a:spAutoFit/>
          </a:bodyPr>
          <a:lstStyle/>
          <a:p>
            <a:pPr algn="l">
              <a:lnSpc>
                <a:spcPct val="130000"/>
              </a:lnSpc>
            </a:pPr>
            <a:r>
              <a:rPr sz="1400" b="0" i="0">
                <a:solidFill>
                  <a:srgbClr val="1F2937"/>
                </a:solidFill>
                <a:latin typeface="Calibri"/>
              </a:rPr>
              <a:t>🚀 今後:  時間の流れを追った相関分析 (「A の後に B が起きたら怪しい」) や、AI による検知ルールの自動生成へ。</a:t>
            </a:r>
          </a:p>
        </p:txBody>
      </p:sp>
      <p:sp>
        <p:nvSpPr>
          <p:cNvPr id="27" name="TextBox 26"/>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5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0"/>
            <a:ext cx="10972800" cy="1097280"/>
          </a:xfrm>
          <a:prstGeom prst="rect">
            <a:avLst/>
          </a:prstGeom>
          <a:noFill/>
        </p:spPr>
        <p:txBody>
          <a:bodyPr wrap="square" lIns="0" rIns="0" tIns="0" bIns="0" anchor="t">
            <a:spAutoFit/>
          </a:bodyPr>
          <a:lstStyle/>
          <a:p>
            <a:pPr algn="ctr">
              <a:lnSpc>
                <a:spcPct val="130000"/>
              </a:lnSpc>
            </a:pPr>
            <a:r>
              <a:rPr sz="5600" b="1" i="0">
                <a:solidFill>
                  <a:srgbClr val="FFFFFF"/>
                </a:solidFill>
                <a:latin typeface="Cambria"/>
              </a:rPr>
              <a:t>ありがとうございました</a:t>
            </a:r>
          </a:p>
        </p:txBody>
      </p:sp>
      <p:sp>
        <p:nvSpPr>
          <p:cNvPr id="4" name="TextBox 3"/>
          <p:cNvSpPr txBox="1"/>
          <p:nvPr/>
        </p:nvSpPr>
        <p:spPr>
          <a:xfrm>
            <a:off x="548640" y="2468880"/>
            <a:ext cx="10972800" cy="548640"/>
          </a:xfrm>
          <a:prstGeom prst="rect">
            <a:avLst/>
          </a:prstGeom>
          <a:noFill/>
        </p:spPr>
        <p:txBody>
          <a:bodyPr wrap="square" lIns="0" rIns="0" tIns="0" bIns="0" anchor="t">
            <a:spAutoFit/>
          </a:bodyPr>
          <a:lstStyle/>
          <a:p>
            <a:pPr algn="ctr">
              <a:lnSpc>
                <a:spcPct val="130000"/>
              </a:lnSpc>
            </a:pPr>
            <a:r>
              <a:rPr sz="2200" b="0" i="1">
                <a:solidFill>
                  <a:srgbClr val="CADCFC"/>
                </a:solidFill>
                <a:latin typeface="Calibri"/>
              </a:rPr>
              <a:t>ご質問・フィードバックをお願いします</a:t>
            </a:r>
          </a:p>
        </p:txBody>
      </p:sp>
      <p:sp>
        <p:nvSpPr>
          <p:cNvPr id="5" name="Rounded Rectangle 4"/>
          <p:cNvSpPr/>
          <p:nvPr/>
        </p:nvSpPr>
        <p:spPr>
          <a:xfrm>
            <a:off x="2560320" y="3566160"/>
            <a:ext cx="7040880" cy="2011680"/>
          </a:xfrm>
          <a:prstGeom prst="roundRect">
            <a:avLst/>
          </a:prstGeom>
          <a:solidFill>
            <a:srgbClr val="273366"/>
          </a:solidFill>
          <a:ln w="9525">
            <a:solidFill>
              <a:srgbClr val="2733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34640" y="3749039"/>
            <a:ext cx="6492240" cy="365760"/>
          </a:xfrm>
          <a:prstGeom prst="rect">
            <a:avLst/>
          </a:prstGeom>
          <a:noFill/>
        </p:spPr>
        <p:txBody>
          <a:bodyPr wrap="square" lIns="0" rIns="0" tIns="0" bIns="0" anchor="t">
            <a:spAutoFit/>
          </a:bodyPr>
          <a:lstStyle/>
          <a:p>
            <a:pPr algn="l">
              <a:lnSpc>
                <a:spcPct val="130000"/>
              </a:lnSpc>
            </a:pPr>
            <a:r>
              <a:rPr sz="1300" b="0" i="0">
                <a:solidFill>
                  <a:srgbClr val="CADCFC"/>
                </a:solidFill>
                <a:latin typeface="Calibri"/>
              </a:rPr>
              <a:t>成果物はすべて GitHub で公開しています</a:t>
            </a:r>
          </a:p>
        </p:txBody>
      </p:sp>
      <p:sp>
        <p:nvSpPr>
          <p:cNvPr id="7" name="TextBox 6"/>
          <p:cNvSpPr txBox="1"/>
          <p:nvPr/>
        </p:nvSpPr>
        <p:spPr>
          <a:xfrm>
            <a:off x="2834640" y="4114800"/>
            <a:ext cx="6492240" cy="548640"/>
          </a:xfrm>
          <a:prstGeom prst="rect">
            <a:avLst/>
          </a:prstGeom>
          <a:noFill/>
        </p:spPr>
        <p:txBody>
          <a:bodyPr wrap="square" lIns="0" rIns="0" tIns="0" bIns="0" anchor="t">
            <a:spAutoFit/>
          </a:bodyPr>
          <a:lstStyle/>
          <a:p>
            <a:pPr algn="l">
              <a:lnSpc>
                <a:spcPct val="130000"/>
              </a:lnSpc>
            </a:pPr>
            <a:r>
              <a:rPr sz="2400" b="1" i="0">
                <a:solidFill>
                  <a:srgbClr val="FFFFFF"/>
                </a:solidFill>
                <a:latin typeface="Consolas"/>
              </a:rPr>
              <a:t>github.com/Assy2005/hayabusa-plus</a:t>
            </a:r>
          </a:p>
        </p:txBody>
      </p:sp>
      <p:sp>
        <p:nvSpPr>
          <p:cNvPr id="8" name="TextBox 7"/>
          <p:cNvSpPr txBox="1"/>
          <p:nvPr/>
        </p:nvSpPr>
        <p:spPr>
          <a:xfrm>
            <a:off x="2834640" y="4754880"/>
            <a:ext cx="6492240" cy="365760"/>
          </a:xfrm>
          <a:prstGeom prst="rect">
            <a:avLst/>
          </a:prstGeom>
          <a:noFill/>
        </p:spPr>
        <p:txBody>
          <a:bodyPr wrap="square" lIns="0" rIns="0" tIns="0" bIns="0" anchor="t">
            <a:spAutoFit/>
          </a:bodyPr>
          <a:lstStyle/>
          <a:p>
            <a:pPr algn="l">
              <a:lnSpc>
                <a:spcPct val="130000"/>
              </a:lnSpc>
            </a:pPr>
            <a:r>
              <a:rPr sz="1300" b="0" i="0">
                <a:solidFill>
                  <a:srgbClr val="CADCFC"/>
                </a:solidFill>
                <a:latin typeface="Calibri"/>
              </a:rPr>
              <a:t>ソースコード・検知ルール・設計書・この資料まで、どなたでも使えます (OSS)。</a:t>
            </a:r>
          </a:p>
        </p:txBody>
      </p:sp>
      <p:sp>
        <p:nvSpPr>
          <p:cNvPr id="9" name="TextBox 8"/>
          <p:cNvSpPr txBox="1"/>
          <p:nvPr/>
        </p:nvSpPr>
        <p:spPr>
          <a:xfrm>
            <a:off x="2834640" y="5120640"/>
            <a:ext cx="6492240" cy="365760"/>
          </a:xfrm>
          <a:prstGeom prst="rect">
            <a:avLst/>
          </a:prstGeom>
          <a:noFill/>
        </p:spPr>
        <p:txBody>
          <a:bodyPr wrap="square" lIns="0" rIns="0" tIns="0" bIns="0" anchor="t">
            <a:spAutoFit/>
          </a:bodyPr>
          <a:lstStyle/>
          <a:p>
            <a:pPr algn="l">
              <a:lnSpc>
                <a:spcPct val="130000"/>
              </a:lnSpc>
            </a:pPr>
            <a:r>
              <a:rPr sz="1200" b="0" i="1">
                <a:solidFill>
                  <a:srgbClr val="CADCFC"/>
                </a:solidFill>
                <a:latin typeface="Calibri"/>
              </a:rPr>
              <a:t>zip をダウンロード → 展開 → 実行、ですぐ試せます</a:t>
            </a:r>
          </a:p>
        </p:txBody>
      </p:sp>
      <p:sp>
        <p:nvSpPr>
          <p:cNvPr id="10" name="TextBox 9"/>
          <p:cNvSpPr txBox="1"/>
          <p:nvPr/>
        </p:nvSpPr>
        <p:spPr>
          <a:xfrm>
            <a:off x="548640" y="6217920"/>
            <a:ext cx="10972800" cy="365760"/>
          </a:xfrm>
          <a:prstGeom prst="rect">
            <a:avLst/>
          </a:prstGeom>
          <a:noFill/>
        </p:spPr>
        <p:txBody>
          <a:bodyPr wrap="square" lIns="0" rIns="0" tIns="0" bIns="0" anchor="t">
            <a:spAutoFit/>
          </a:bodyPr>
          <a:lstStyle/>
          <a:p>
            <a:pPr algn="ctr">
              <a:lnSpc>
                <a:spcPct val="130000"/>
              </a:lnSpc>
            </a:pPr>
            <a:r>
              <a:rPr sz="1200" b="0" i="1">
                <a:solidFill>
                  <a:srgbClr val="CADCFC"/>
                </a:solidFill>
                <a:latin typeface="Calibri"/>
              </a:rPr>
              <a:t>お手元の Windows PC のログで、ぜひ一度。</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Q&amp;A 用   — 攻撃の流れに沿って整理</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付録: 同梱している検知ルール 13 本</a:t>
            </a:r>
          </a:p>
        </p:txBody>
      </p:sp>
      <p:sp>
        <p:nvSpPr>
          <p:cNvPr id="5" name="Oval 4"/>
          <p:cNvSpPr/>
          <p:nvPr/>
        </p:nvSpPr>
        <p:spPr>
          <a:xfrm>
            <a:off x="8275320" y="502920"/>
            <a:ext cx="146304" cy="146304"/>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85632" y="457200"/>
            <a:ext cx="1554480" cy="274320"/>
          </a:xfrm>
          <a:prstGeom prst="rect">
            <a:avLst/>
          </a:prstGeom>
          <a:noFill/>
        </p:spPr>
        <p:txBody>
          <a:bodyPr wrap="square" lIns="0" rIns="0" tIns="0" bIns="0" anchor="ctr">
            <a:spAutoFit/>
          </a:bodyPr>
          <a:lstStyle/>
          <a:p>
            <a:pPr algn="l">
              <a:lnSpc>
                <a:spcPct val="130000"/>
              </a:lnSpc>
            </a:pPr>
            <a:r>
              <a:rPr sz="1000" b="0" i="0">
                <a:solidFill>
                  <a:srgbClr val="5B6472"/>
                </a:solidFill>
                <a:latin typeface="Calibri"/>
              </a:rPr>
              <a:t>critical (最重要)</a:t>
            </a:r>
          </a:p>
        </p:txBody>
      </p:sp>
      <p:sp>
        <p:nvSpPr>
          <p:cNvPr id="7" name="Oval 6"/>
          <p:cNvSpPr/>
          <p:nvPr/>
        </p:nvSpPr>
        <p:spPr>
          <a:xfrm>
            <a:off x="10149840" y="502920"/>
            <a:ext cx="146304" cy="146304"/>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60152" y="457200"/>
            <a:ext cx="1280160" cy="274320"/>
          </a:xfrm>
          <a:prstGeom prst="rect">
            <a:avLst/>
          </a:prstGeom>
          <a:noFill/>
        </p:spPr>
        <p:txBody>
          <a:bodyPr wrap="square" lIns="0" rIns="0" tIns="0" bIns="0" anchor="ctr">
            <a:spAutoFit/>
          </a:bodyPr>
          <a:lstStyle/>
          <a:p>
            <a:pPr algn="l">
              <a:lnSpc>
                <a:spcPct val="130000"/>
              </a:lnSpc>
            </a:pPr>
            <a:r>
              <a:rPr sz="1000" b="0" i="0">
                <a:solidFill>
                  <a:srgbClr val="5B6472"/>
                </a:solidFill>
                <a:latin typeface="Calibri"/>
              </a:rPr>
              <a:t>high (重要)</a:t>
            </a:r>
          </a:p>
        </p:txBody>
      </p:sp>
      <p:sp>
        <p:nvSpPr>
          <p:cNvPr id="9" name="Rounded Rectangle 8"/>
          <p:cNvSpPr/>
          <p:nvPr/>
        </p:nvSpPr>
        <p:spPr>
          <a:xfrm>
            <a:off x="548640" y="1783080"/>
            <a:ext cx="5349240" cy="224028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783080"/>
            <a:ext cx="73152" cy="22402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1929384"/>
            <a:ext cx="4937759" cy="411480"/>
          </a:xfrm>
          <a:prstGeom prst="rect">
            <a:avLst/>
          </a:prstGeom>
          <a:noFill/>
        </p:spPr>
        <p:txBody>
          <a:bodyPr wrap="square" lIns="0" rIns="0" tIns="0" bIns="0" anchor="t">
            <a:spAutoFit/>
          </a:bodyPr>
          <a:lstStyle/>
          <a:p>
            <a:pPr algn="l">
              <a:lnSpc>
                <a:spcPct val="130000"/>
              </a:lnSpc>
            </a:pPr>
            <a:r>
              <a:rPr sz="1400" b="1" i="0">
                <a:solidFill>
                  <a:srgbClr val="1D4ED8"/>
                </a:solidFill>
                <a:latin typeface="Cambria"/>
              </a:rPr>
              <a:t>① 外から入る・動く・つながる</a:t>
            </a:r>
          </a:p>
        </p:txBody>
      </p:sp>
      <p:sp>
        <p:nvSpPr>
          <p:cNvPr id="12" name="Oval 11"/>
          <p:cNvSpPr/>
          <p:nvPr/>
        </p:nvSpPr>
        <p:spPr>
          <a:xfrm>
            <a:off x="822959" y="2505456"/>
            <a:ext cx="109728" cy="10972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2416" y="2441448"/>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既知のマルウェアそのものが実行された (MalwareBazaar 照合)</a:t>
            </a:r>
          </a:p>
        </p:txBody>
      </p:sp>
      <p:sp>
        <p:nvSpPr>
          <p:cNvPr id="14" name="Oval 13"/>
          <p:cNvSpPr/>
          <p:nvPr/>
        </p:nvSpPr>
        <p:spPr>
          <a:xfrm>
            <a:off x="822959" y="2889503"/>
            <a:ext cx="109728" cy="10972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6" y="2825496"/>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指令サーバ (C2) として知られる場所への通信 (URLhaus 照合)</a:t>
            </a:r>
          </a:p>
        </p:txBody>
      </p:sp>
      <p:sp>
        <p:nvSpPr>
          <p:cNvPr id="16" name="Oval 15"/>
          <p:cNvSpPr/>
          <p:nvPr/>
        </p:nvSpPr>
        <p:spPr>
          <a:xfrm>
            <a:off x="822959" y="3273551"/>
            <a:ext cx="109728" cy="10972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3209544"/>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正規ツール certutil を悪用して外部からファイルを取得</a:t>
            </a:r>
          </a:p>
        </p:txBody>
      </p:sp>
      <p:sp>
        <p:nvSpPr>
          <p:cNvPr id="18" name="Oval 17"/>
          <p:cNvSpPr/>
          <p:nvPr/>
        </p:nvSpPr>
        <p:spPr>
          <a:xfrm>
            <a:off x="822959" y="3657599"/>
            <a:ext cx="109728" cy="10972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6" y="3593591"/>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悪用が知られた脆弱ドライバの読み込み (LOLDrivers 照合)</a:t>
            </a:r>
          </a:p>
        </p:txBody>
      </p:sp>
      <p:sp>
        <p:nvSpPr>
          <p:cNvPr id="20" name="Rounded Rectangle 19"/>
          <p:cNvSpPr/>
          <p:nvPr/>
        </p:nvSpPr>
        <p:spPr>
          <a:xfrm>
            <a:off x="6291072" y="1783080"/>
            <a:ext cx="5349240" cy="224028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91072" y="1783080"/>
            <a:ext cx="73152" cy="22402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47104" y="1929384"/>
            <a:ext cx="4937759" cy="411480"/>
          </a:xfrm>
          <a:prstGeom prst="rect">
            <a:avLst/>
          </a:prstGeom>
          <a:noFill/>
        </p:spPr>
        <p:txBody>
          <a:bodyPr wrap="square" lIns="0" rIns="0" tIns="0" bIns="0" anchor="t">
            <a:spAutoFit/>
          </a:bodyPr>
          <a:lstStyle/>
          <a:p>
            <a:pPr algn="l">
              <a:lnSpc>
                <a:spcPct val="130000"/>
              </a:lnSpc>
            </a:pPr>
            <a:r>
              <a:rPr sz="1400" b="1" i="0">
                <a:solidFill>
                  <a:srgbClr val="1D4ED8"/>
                </a:solidFill>
                <a:latin typeface="Cambria"/>
              </a:rPr>
              <a:t>② 盗む・住み着く</a:t>
            </a:r>
          </a:p>
        </p:txBody>
      </p:sp>
      <p:sp>
        <p:nvSpPr>
          <p:cNvPr id="23" name="Oval 22"/>
          <p:cNvSpPr/>
          <p:nvPr/>
        </p:nvSpPr>
        <p:spPr>
          <a:xfrm>
            <a:off x="6565392" y="2505456"/>
            <a:ext cx="109728" cy="10972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84848" y="2441448"/>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ログイン情報の抜き取り (LSASS のメモリダンプ)</a:t>
            </a:r>
          </a:p>
        </p:txBody>
      </p:sp>
      <p:sp>
        <p:nvSpPr>
          <p:cNvPr id="25" name="Oval 24"/>
          <p:cNvSpPr/>
          <p:nvPr/>
        </p:nvSpPr>
        <p:spPr>
          <a:xfrm>
            <a:off x="6565392" y="2889503"/>
            <a:ext cx="109728" cy="10972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84848" y="2825496"/>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書き換え可能な場所のプログラムをサービス登録して常駐</a:t>
            </a:r>
          </a:p>
        </p:txBody>
      </p:sp>
      <p:sp>
        <p:nvSpPr>
          <p:cNvPr id="27" name="Oval 26"/>
          <p:cNvSpPr/>
          <p:nvPr/>
        </p:nvSpPr>
        <p:spPr>
          <a:xfrm>
            <a:off x="6565392" y="3273551"/>
            <a:ext cx="109728" cy="10972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84848" y="3209544"/>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WMI で「出来事をきっかけに自動起動」を仕込む</a:t>
            </a:r>
          </a:p>
        </p:txBody>
      </p:sp>
      <p:sp>
        <p:nvSpPr>
          <p:cNvPr id="29" name="Rounded Rectangle 28"/>
          <p:cNvSpPr/>
          <p:nvPr/>
        </p:nvSpPr>
        <p:spPr>
          <a:xfrm>
            <a:off x="548640" y="4114800"/>
            <a:ext cx="5349240" cy="224028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4114800"/>
            <a:ext cx="73152" cy="22402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4261104"/>
            <a:ext cx="4937759" cy="411480"/>
          </a:xfrm>
          <a:prstGeom prst="rect">
            <a:avLst/>
          </a:prstGeom>
          <a:noFill/>
        </p:spPr>
        <p:txBody>
          <a:bodyPr wrap="square" lIns="0" rIns="0" tIns="0" bIns="0" anchor="t">
            <a:spAutoFit/>
          </a:bodyPr>
          <a:lstStyle/>
          <a:p>
            <a:pPr algn="l">
              <a:lnSpc>
                <a:spcPct val="130000"/>
              </a:lnSpc>
            </a:pPr>
            <a:r>
              <a:rPr sz="1400" b="1" i="0">
                <a:solidFill>
                  <a:srgbClr val="1D4ED8"/>
                </a:solidFill>
                <a:latin typeface="Cambria"/>
              </a:rPr>
              <a:t>③ 監視を無力化する</a:t>
            </a:r>
          </a:p>
        </p:txBody>
      </p:sp>
      <p:sp>
        <p:nvSpPr>
          <p:cNvPr id="32" name="Oval 31"/>
          <p:cNvSpPr/>
          <p:nvPr/>
        </p:nvSpPr>
        <p:spPr>
          <a:xfrm>
            <a:off x="822959" y="4837176"/>
            <a:ext cx="109728" cy="10972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2416" y="4773168"/>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PowerShell のウイルス検査 (AMSI) を無力化</a:t>
            </a:r>
          </a:p>
        </p:txBody>
      </p:sp>
      <p:sp>
        <p:nvSpPr>
          <p:cNvPr id="34" name="Oval 33"/>
          <p:cNvSpPr/>
          <p:nvPr/>
        </p:nvSpPr>
        <p:spPr>
          <a:xfrm>
            <a:off x="822959" y="5221224"/>
            <a:ext cx="109728" cy="10972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42416" y="5157216"/>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ログ記録サービスそのものを停止・無効化</a:t>
            </a:r>
          </a:p>
        </p:txBody>
      </p:sp>
      <p:sp>
        <p:nvSpPr>
          <p:cNvPr id="36" name="Oval 35"/>
          <p:cNvSpPr/>
          <p:nvPr/>
        </p:nvSpPr>
        <p:spPr>
          <a:xfrm>
            <a:off x="822959" y="5605272"/>
            <a:ext cx="109728" cy="10972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42416" y="5541264"/>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監査設定から記録項目を外して “見えなく” する</a:t>
            </a:r>
          </a:p>
        </p:txBody>
      </p:sp>
      <p:sp>
        <p:nvSpPr>
          <p:cNvPr id="38" name="Rounded Rectangle 37"/>
          <p:cNvSpPr/>
          <p:nvPr/>
        </p:nvSpPr>
        <p:spPr>
          <a:xfrm>
            <a:off x="6291072" y="4114800"/>
            <a:ext cx="5349240" cy="224028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91072" y="4114800"/>
            <a:ext cx="73152" cy="22402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47104" y="4261104"/>
            <a:ext cx="4937759" cy="411480"/>
          </a:xfrm>
          <a:prstGeom prst="rect">
            <a:avLst/>
          </a:prstGeom>
          <a:noFill/>
        </p:spPr>
        <p:txBody>
          <a:bodyPr wrap="square" lIns="0" rIns="0" tIns="0" bIns="0" anchor="t">
            <a:spAutoFit/>
          </a:bodyPr>
          <a:lstStyle/>
          <a:p>
            <a:pPr algn="l">
              <a:lnSpc>
                <a:spcPct val="130000"/>
              </a:lnSpc>
            </a:pPr>
            <a:r>
              <a:rPr sz="1400" b="1" i="0">
                <a:solidFill>
                  <a:srgbClr val="1D4ED8"/>
                </a:solidFill>
                <a:latin typeface="Cambria"/>
              </a:rPr>
              <a:t>④ 証拠を消す</a:t>
            </a:r>
          </a:p>
        </p:txBody>
      </p:sp>
      <p:sp>
        <p:nvSpPr>
          <p:cNvPr id="41" name="Oval 40"/>
          <p:cNvSpPr/>
          <p:nvPr/>
        </p:nvSpPr>
        <p:spPr>
          <a:xfrm>
            <a:off x="6565392" y="4837176"/>
            <a:ext cx="109728" cy="10972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84848" y="4773168"/>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wevtutil などでイベントログをまるごと消去</a:t>
            </a:r>
          </a:p>
        </p:txBody>
      </p:sp>
      <p:sp>
        <p:nvSpPr>
          <p:cNvPr id="43" name="Oval 42"/>
          <p:cNvSpPr/>
          <p:nvPr/>
        </p:nvSpPr>
        <p:spPr>
          <a:xfrm>
            <a:off x="6565392" y="5221224"/>
            <a:ext cx="109728" cy="10972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84848" y="5157216"/>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監査を変えた直後にログ消去、という “合わせ技”</a:t>
            </a:r>
          </a:p>
        </p:txBody>
      </p:sp>
      <p:sp>
        <p:nvSpPr>
          <p:cNvPr id="45" name="Oval 44"/>
          <p:cNvSpPr/>
          <p:nvPr/>
        </p:nvSpPr>
        <p:spPr>
          <a:xfrm>
            <a:off x="6565392" y="5605272"/>
            <a:ext cx="109728" cy="10972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784848" y="5541264"/>
            <a:ext cx="4636007" cy="365760"/>
          </a:xfrm>
          <a:prstGeom prst="rect">
            <a:avLst/>
          </a:prstGeom>
          <a:noFill/>
        </p:spPr>
        <p:txBody>
          <a:bodyPr wrap="square" lIns="0" rIns="0" tIns="0" bIns="0" anchor="t">
            <a:spAutoFit/>
          </a:bodyPr>
          <a:lstStyle/>
          <a:p>
            <a:pPr algn="l">
              <a:lnSpc>
                <a:spcPct val="110000"/>
              </a:lnSpc>
            </a:pPr>
            <a:r>
              <a:rPr sz="1050" b="0" i="0">
                <a:solidFill>
                  <a:srgbClr val="1F2937"/>
                </a:solidFill>
                <a:latin typeface="Calibri"/>
              </a:rPr>
              <a:t>復元用スナップショットの削除 (ランサムの前兆)</a:t>
            </a:r>
          </a:p>
        </p:txBody>
      </p:sp>
      <p:sp>
        <p:nvSpPr>
          <p:cNvPr id="47" name="TextBox 46"/>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付録</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付録 — 想定問答 (Q&amp;A)</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よくある質問 ①  立ち位置・差分</a:t>
            </a:r>
          </a:p>
        </p:txBody>
      </p:sp>
      <p:sp>
        <p:nvSpPr>
          <p:cNvPr id="5" name="Rounded Rectangle 4"/>
          <p:cNvSpPr/>
          <p:nvPr/>
        </p:nvSpPr>
        <p:spPr>
          <a:xfrm>
            <a:off x="548640" y="1783080"/>
            <a:ext cx="11091672" cy="1386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73152" cy="13868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9384"/>
            <a:ext cx="10515600" cy="457200"/>
          </a:xfrm>
          <a:prstGeom prst="rect">
            <a:avLst/>
          </a:prstGeom>
          <a:noFill/>
        </p:spPr>
        <p:txBody>
          <a:bodyPr wrap="square" lIns="0" rIns="0" tIns="0" bIns="0" anchor="t">
            <a:spAutoFit/>
          </a:bodyPr>
          <a:lstStyle/>
          <a:p>
            <a:pPr algn="l">
              <a:lnSpc>
                <a:spcPct val="130000"/>
              </a:lnSpc>
            </a:pPr>
            <a:r>
              <a:rPr sz="1500" b="1" i="0">
                <a:solidFill>
                  <a:srgbClr val="1F2937"/>
                </a:solidFill>
                <a:latin typeface="Cambria"/>
              </a:rPr>
              <a:t>Q.  既存の Hayabusa と何が違うの?</a:t>
            </a:r>
          </a:p>
        </p:txBody>
      </p:sp>
      <p:sp>
        <p:nvSpPr>
          <p:cNvPr id="8" name="TextBox 7"/>
          <p:cNvSpPr txBox="1"/>
          <p:nvPr/>
        </p:nvSpPr>
        <p:spPr>
          <a:xfrm>
            <a:off x="868680" y="2386584"/>
            <a:ext cx="10469880" cy="673608"/>
          </a:xfrm>
          <a:prstGeom prst="rect">
            <a:avLst/>
          </a:prstGeom>
          <a:noFill/>
        </p:spPr>
        <p:txBody>
          <a:bodyPr wrap="square" lIns="0" rIns="0" tIns="0" bIns="0" anchor="t">
            <a:spAutoFit/>
          </a:bodyPr>
          <a:lstStyle/>
          <a:p>
            <a:pPr algn="l">
              <a:lnSpc>
                <a:spcPct val="132000"/>
              </a:lnSpc>
            </a:pPr>
            <a:r>
              <a:rPr sz="1250" b="0" i="0">
                <a:solidFill>
                  <a:srgbClr val="5B6472"/>
                </a:solidFill>
                <a:latin typeface="Calibri"/>
              </a:rPr>
              <a:t>A.  検知エンジンに lookup 文法を追加し、攻撃を見抜くルールを 13 本自作。さらに結果を日本語で読み解く GUI、振る舞い分析、IoC の自動取り込みを足した。土台の検知力は活かしつつ「専門家でなくても使える形」にしたのが差分。</a:t>
            </a:r>
          </a:p>
        </p:txBody>
      </p:sp>
      <p:sp>
        <p:nvSpPr>
          <p:cNvPr id="9" name="Rounded Rectangle 8"/>
          <p:cNvSpPr/>
          <p:nvPr/>
        </p:nvSpPr>
        <p:spPr>
          <a:xfrm>
            <a:off x="548640" y="3316224"/>
            <a:ext cx="11091672" cy="1386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3316224"/>
            <a:ext cx="73152" cy="13868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462528"/>
            <a:ext cx="10515600" cy="457200"/>
          </a:xfrm>
          <a:prstGeom prst="rect">
            <a:avLst/>
          </a:prstGeom>
          <a:noFill/>
        </p:spPr>
        <p:txBody>
          <a:bodyPr wrap="square" lIns="0" rIns="0" tIns="0" bIns="0" anchor="t">
            <a:spAutoFit/>
          </a:bodyPr>
          <a:lstStyle/>
          <a:p>
            <a:pPr algn="l">
              <a:lnSpc>
                <a:spcPct val="130000"/>
              </a:lnSpc>
            </a:pPr>
            <a:r>
              <a:rPr sz="1500" b="1" i="0">
                <a:solidFill>
                  <a:srgbClr val="1F2937"/>
                </a:solidFill>
                <a:latin typeface="Cambria"/>
              </a:rPr>
              <a:t>Q.  SIEM や商用 EDR と何が違うの?</a:t>
            </a:r>
          </a:p>
        </p:txBody>
      </p:sp>
      <p:sp>
        <p:nvSpPr>
          <p:cNvPr id="12" name="TextBox 11"/>
          <p:cNvSpPr txBox="1"/>
          <p:nvPr/>
        </p:nvSpPr>
        <p:spPr>
          <a:xfrm>
            <a:off x="868680" y="3919728"/>
            <a:ext cx="10469880" cy="673608"/>
          </a:xfrm>
          <a:prstGeom prst="rect">
            <a:avLst/>
          </a:prstGeom>
          <a:noFill/>
        </p:spPr>
        <p:txBody>
          <a:bodyPr wrap="square" lIns="0" rIns="0" tIns="0" bIns="0" anchor="t">
            <a:spAutoFit/>
          </a:bodyPr>
          <a:lstStyle/>
          <a:p>
            <a:pPr algn="l">
              <a:lnSpc>
                <a:spcPct val="132000"/>
              </a:lnSpc>
            </a:pPr>
            <a:r>
              <a:rPr sz="1250" b="0" i="0">
                <a:solidFill>
                  <a:srgbClr val="5B6472"/>
                </a:solidFill>
                <a:latin typeface="Calibri"/>
              </a:rPr>
              <a:t>A.  導入ゼロ・オフライン・無料で、PC 1 台に展開すればすぐ動く。大規模な常時監視ではなく「インシデント時に手元で素早く調べる」用途に振り切っている。</a:t>
            </a:r>
          </a:p>
        </p:txBody>
      </p:sp>
      <p:sp>
        <p:nvSpPr>
          <p:cNvPr id="13" name="Rounded Rectangle 12"/>
          <p:cNvSpPr/>
          <p:nvPr/>
        </p:nvSpPr>
        <p:spPr>
          <a:xfrm>
            <a:off x="548640" y="4849368"/>
            <a:ext cx="11091672" cy="1386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849368"/>
            <a:ext cx="73152" cy="13868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95672"/>
            <a:ext cx="10515600" cy="457200"/>
          </a:xfrm>
          <a:prstGeom prst="rect">
            <a:avLst/>
          </a:prstGeom>
          <a:noFill/>
        </p:spPr>
        <p:txBody>
          <a:bodyPr wrap="square" lIns="0" rIns="0" tIns="0" bIns="0" anchor="t">
            <a:spAutoFit/>
          </a:bodyPr>
          <a:lstStyle/>
          <a:p>
            <a:pPr algn="l">
              <a:lnSpc>
                <a:spcPct val="130000"/>
              </a:lnSpc>
            </a:pPr>
            <a:r>
              <a:rPr sz="1500" b="1" i="0">
                <a:solidFill>
                  <a:srgbClr val="1F2937"/>
                </a:solidFill>
                <a:latin typeface="Cambria"/>
              </a:rPr>
              <a:t>Q.  Sigma ルールはそのまま使える? 独自拡張で互換は壊れない?</a:t>
            </a:r>
          </a:p>
        </p:txBody>
      </p:sp>
      <p:sp>
        <p:nvSpPr>
          <p:cNvPr id="16" name="TextBox 15"/>
          <p:cNvSpPr txBox="1"/>
          <p:nvPr/>
        </p:nvSpPr>
        <p:spPr>
          <a:xfrm>
            <a:off x="868680" y="5452872"/>
            <a:ext cx="10469880" cy="673608"/>
          </a:xfrm>
          <a:prstGeom prst="rect">
            <a:avLst/>
          </a:prstGeom>
          <a:noFill/>
        </p:spPr>
        <p:txBody>
          <a:bodyPr wrap="square" lIns="0" rIns="0" tIns="0" bIns="0" anchor="t">
            <a:spAutoFit/>
          </a:bodyPr>
          <a:lstStyle/>
          <a:p>
            <a:pPr algn="l">
              <a:lnSpc>
                <a:spcPct val="132000"/>
              </a:lnSpc>
            </a:pPr>
            <a:r>
              <a:rPr sz="1250" b="0" i="0">
                <a:solidFill>
                  <a:srgbClr val="5B6472"/>
                </a:solidFill>
                <a:latin typeface="Calibri"/>
              </a:rPr>
              <a:t>A.  世界共通の Sigma 約 5,000 本に加え、自作 13 本が使える。lookup は独自拡張だが、上流の Hayabusa は知らない記法を無視するだけなので互換は壊れない。</a:t>
            </a:r>
          </a:p>
        </p:txBody>
      </p:sp>
      <p:sp>
        <p:nvSpPr>
          <p:cNvPr id="17" name="TextBox 16"/>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付録</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付録 — 想定問答 (Q&amp;A)</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よくある質問 ②  精度・性能・運用</a:t>
            </a:r>
          </a:p>
        </p:txBody>
      </p:sp>
      <p:sp>
        <p:nvSpPr>
          <p:cNvPr id="5" name="Rounded Rectangle 4"/>
          <p:cNvSpPr/>
          <p:nvPr/>
        </p:nvSpPr>
        <p:spPr>
          <a:xfrm>
            <a:off x="548640" y="1783080"/>
            <a:ext cx="11091672" cy="1386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73152" cy="13868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9384"/>
            <a:ext cx="10515600" cy="457200"/>
          </a:xfrm>
          <a:prstGeom prst="rect">
            <a:avLst/>
          </a:prstGeom>
          <a:noFill/>
        </p:spPr>
        <p:txBody>
          <a:bodyPr wrap="square" lIns="0" rIns="0" tIns="0" bIns="0" anchor="t">
            <a:spAutoFit/>
          </a:bodyPr>
          <a:lstStyle/>
          <a:p>
            <a:pPr algn="l">
              <a:lnSpc>
                <a:spcPct val="130000"/>
              </a:lnSpc>
            </a:pPr>
            <a:r>
              <a:rPr sz="1500" b="1" i="0">
                <a:solidFill>
                  <a:srgbClr val="1F2937"/>
                </a:solidFill>
                <a:latin typeface="Cambria"/>
              </a:rPr>
              <a:t>Q.  誤検知は多くならないの?</a:t>
            </a:r>
          </a:p>
        </p:txBody>
      </p:sp>
      <p:sp>
        <p:nvSpPr>
          <p:cNvPr id="8" name="TextBox 7"/>
          <p:cNvSpPr txBox="1"/>
          <p:nvPr/>
        </p:nvSpPr>
        <p:spPr>
          <a:xfrm>
            <a:off x="868680" y="2386584"/>
            <a:ext cx="10469880" cy="673608"/>
          </a:xfrm>
          <a:prstGeom prst="rect">
            <a:avLst/>
          </a:prstGeom>
          <a:noFill/>
        </p:spPr>
        <p:txBody>
          <a:bodyPr wrap="square" lIns="0" rIns="0" tIns="0" bIns="0" anchor="t">
            <a:spAutoFit/>
          </a:bodyPr>
          <a:lstStyle/>
          <a:p>
            <a:pPr algn="l">
              <a:lnSpc>
                <a:spcPct val="132000"/>
              </a:lnSpc>
            </a:pPr>
            <a:r>
              <a:rPr sz="1250" b="0" i="0">
                <a:solidFill>
                  <a:srgbClr val="5B6472"/>
                </a:solidFill>
                <a:latin typeface="Calibri"/>
              </a:rPr>
              <a:t>A.  単一の特徴では鳴らさず複数条件の AND で判定。各ルールに誤検知例を明記し、ゴールデンイメージの許可リストや、GUI 上での TP/FP 判定・抑制で運用しながら絞り込める。</a:t>
            </a:r>
          </a:p>
        </p:txBody>
      </p:sp>
      <p:sp>
        <p:nvSpPr>
          <p:cNvPr id="9" name="Rounded Rectangle 8"/>
          <p:cNvSpPr/>
          <p:nvPr/>
        </p:nvSpPr>
        <p:spPr>
          <a:xfrm>
            <a:off x="548640" y="3316224"/>
            <a:ext cx="11091672" cy="1386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3316224"/>
            <a:ext cx="73152" cy="13868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462528"/>
            <a:ext cx="10515600" cy="457200"/>
          </a:xfrm>
          <a:prstGeom prst="rect">
            <a:avLst/>
          </a:prstGeom>
          <a:noFill/>
        </p:spPr>
        <p:txBody>
          <a:bodyPr wrap="square" lIns="0" rIns="0" tIns="0" bIns="0" anchor="t">
            <a:spAutoFit/>
          </a:bodyPr>
          <a:lstStyle/>
          <a:p>
            <a:pPr algn="l">
              <a:lnSpc>
                <a:spcPct val="130000"/>
              </a:lnSpc>
            </a:pPr>
            <a:r>
              <a:rPr sz="1500" b="1" i="0">
                <a:solidFill>
                  <a:srgbClr val="1F2937"/>
                </a:solidFill>
                <a:latin typeface="Cambria"/>
              </a:rPr>
              <a:t>Q.  速度や扱える規模は?</a:t>
            </a:r>
          </a:p>
        </p:txBody>
      </p:sp>
      <p:sp>
        <p:nvSpPr>
          <p:cNvPr id="12" name="TextBox 11"/>
          <p:cNvSpPr txBox="1"/>
          <p:nvPr/>
        </p:nvSpPr>
        <p:spPr>
          <a:xfrm>
            <a:off x="868680" y="3919728"/>
            <a:ext cx="10469880" cy="673608"/>
          </a:xfrm>
          <a:prstGeom prst="rect">
            <a:avLst/>
          </a:prstGeom>
          <a:noFill/>
        </p:spPr>
        <p:txBody>
          <a:bodyPr wrap="square" lIns="0" rIns="0" tIns="0" bIns="0" anchor="t">
            <a:spAutoFit/>
          </a:bodyPr>
          <a:lstStyle/>
          <a:p>
            <a:pPr algn="l">
              <a:lnSpc>
                <a:spcPct val="132000"/>
              </a:lnSpc>
            </a:pPr>
            <a:r>
              <a:rPr sz="1250" b="0" i="0">
                <a:solidFill>
                  <a:srgbClr val="5B6472"/>
                </a:solidFill>
                <a:latin typeface="Calibri"/>
              </a:rPr>
              <a:t>A.  Rust 製で数万件を数十秒。lookup は起動時に 1 回だけリストを読み込み O(1) で照合するため、リストが増えても速度はほぼ一定（本デモでも 1.2 万件超を処理）。</a:t>
            </a:r>
          </a:p>
        </p:txBody>
      </p:sp>
      <p:sp>
        <p:nvSpPr>
          <p:cNvPr id="13" name="Rounded Rectangle 12"/>
          <p:cNvSpPr/>
          <p:nvPr/>
        </p:nvSpPr>
        <p:spPr>
          <a:xfrm>
            <a:off x="548640" y="4849368"/>
            <a:ext cx="11091672" cy="1386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849368"/>
            <a:ext cx="73152" cy="13868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95672"/>
            <a:ext cx="10515600" cy="457200"/>
          </a:xfrm>
          <a:prstGeom prst="rect">
            <a:avLst/>
          </a:prstGeom>
          <a:noFill/>
        </p:spPr>
        <p:txBody>
          <a:bodyPr wrap="square" lIns="0" rIns="0" tIns="0" bIns="0" anchor="t">
            <a:spAutoFit/>
          </a:bodyPr>
          <a:lstStyle/>
          <a:p>
            <a:pPr algn="l">
              <a:lnSpc>
                <a:spcPct val="130000"/>
              </a:lnSpc>
            </a:pPr>
            <a:r>
              <a:rPr sz="1500" b="1" i="0">
                <a:solidFill>
                  <a:srgbClr val="1F2937"/>
                </a:solidFill>
                <a:latin typeface="Cambria"/>
              </a:rPr>
              <a:t>Q.  IoC リストはどうやって最新に保つ?</a:t>
            </a:r>
          </a:p>
        </p:txBody>
      </p:sp>
      <p:sp>
        <p:nvSpPr>
          <p:cNvPr id="16" name="TextBox 15"/>
          <p:cNvSpPr txBox="1"/>
          <p:nvPr/>
        </p:nvSpPr>
        <p:spPr>
          <a:xfrm>
            <a:off x="868680" y="5452872"/>
            <a:ext cx="10469880" cy="673608"/>
          </a:xfrm>
          <a:prstGeom prst="rect">
            <a:avLst/>
          </a:prstGeom>
          <a:noFill/>
        </p:spPr>
        <p:txBody>
          <a:bodyPr wrap="square" lIns="0" rIns="0" tIns="0" bIns="0" anchor="t">
            <a:spAutoFit/>
          </a:bodyPr>
          <a:lstStyle/>
          <a:p>
            <a:pPr algn="l">
              <a:lnSpc>
                <a:spcPct val="132000"/>
              </a:lnSpc>
            </a:pPr>
            <a:r>
              <a:rPr sz="1250" b="0" i="0">
                <a:solidFill>
                  <a:srgbClr val="5B6472"/>
                </a:solidFill>
                <a:latin typeface="Calibri"/>
              </a:rPr>
              <a:t>A.  feeds.yml に宣言し、ボタン 1 つで取得・正規化 (loldrivers / MalwareBazaar / URLhaus / Feodo)。取得失敗時は前回分を保持し、カバレッジを空にしない設計。</a:t>
            </a:r>
          </a:p>
        </p:txBody>
      </p:sp>
      <p:sp>
        <p:nvSpPr>
          <p:cNvPr id="17" name="TextBox 16"/>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付録</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274320"/>
          </a:xfrm>
          <a:prstGeom prst="rect">
            <a:avLst/>
          </a:prstGeom>
          <a:noFill/>
        </p:spPr>
        <p:txBody>
          <a:bodyPr wrap="square" lIns="0" rIns="0" tIns="0" bIns="0" anchor="t">
            <a:spAutoFit/>
          </a:bodyPr>
          <a:lstStyle/>
          <a:p>
            <a:pPr algn="l">
              <a:lnSpc>
                <a:spcPct val="130000"/>
              </a:lnSpc>
            </a:pPr>
            <a:r>
              <a:rPr sz="1100" b="1" i="0">
                <a:solidFill>
                  <a:srgbClr val="2563EB"/>
                </a:solidFill>
                <a:latin typeface="Calibri"/>
              </a:rPr>
              <a:t>付録 — 想定問答 (Q&amp;A)</a:t>
            </a:r>
          </a:p>
        </p:txBody>
      </p:sp>
      <p:sp>
        <p:nvSpPr>
          <p:cNvPr id="4" name="TextBox 3"/>
          <p:cNvSpPr txBox="1"/>
          <p:nvPr/>
        </p:nvSpPr>
        <p:spPr>
          <a:xfrm>
            <a:off x="548640" y="621792"/>
            <a:ext cx="11155680" cy="640080"/>
          </a:xfrm>
          <a:prstGeom prst="rect">
            <a:avLst/>
          </a:prstGeom>
          <a:noFill/>
        </p:spPr>
        <p:txBody>
          <a:bodyPr wrap="square" lIns="0" rIns="0" tIns="0" bIns="0" anchor="t">
            <a:spAutoFit/>
          </a:bodyPr>
          <a:lstStyle/>
          <a:p>
            <a:pPr algn="l">
              <a:lnSpc>
                <a:spcPct val="130000"/>
              </a:lnSpc>
            </a:pPr>
            <a:r>
              <a:rPr sz="2800" b="1" i="0">
                <a:solidFill>
                  <a:srgbClr val="1F2937"/>
                </a:solidFill>
                <a:latin typeface="Cambria"/>
              </a:rPr>
              <a:t>よくある質問 ③  安全性・未知の攻撃・今後</a:t>
            </a:r>
          </a:p>
        </p:txBody>
      </p:sp>
      <p:sp>
        <p:nvSpPr>
          <p:cNvPr id="5" name="Rounded Rectangle 4"/>
          <p:cNvSpPr/>
          <p:nvPr/>
        </p:nvSpPr>
        <p:spPr>
          <a:xfrm>
            <a:off x="548640" y="1783080"/>
            <a:ext cx="11091672" cy="1386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73152" cy="13868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9384"/>
            <a:ext cx="10515600" cy="457200"/>
          </a:xfrm>
          <a:prstGeom prst="rect">
            <a:avLst/>
          </a:prstGeom>
          <a:noFill/>
        </p:spPr>
        <p:txBody>
          <a:bodyPr wrap="square" lIns="0" rIns="0" tIns="0" bIns="0" anchor="t">
            <a:spAutoFit/>
          </a:bodyPr>
          <a:lstStyle/>
          <a:p>
            <a:pPr algn="l">
              <a:lnSpc>
                <a:spcPct val="130000"/>
              </a:lnSpc>
            </a:pPr>
            <a:r>
              <a:rPr sz="1500" b="1" i="0">
                <a:solidFill>
                  <a:srgbClr val="1F2937"/>
                </a:solidFill>
                <a:latin typeface="Cambria"/>
              </a:rPr>
              <a:t>Q.  データは外部に送られない? 安全?</a:t>
            </a:r>
          </a:p>
        </p:txBody>
      </p:sp>
      <p:sp>
        <p:nvSpPr>
          <p:cNvPr id="8" name="TextBox 7"/>
          <p:cNvSpPr txBox="1"/>
          <p:nvPr/>
        </p:nvSpPr>
        <p:spPr>
          <a:xfrm>
            <a:off x="868680" y="2386584"/>
            <a:ext cx="10469880" cy="673608"/>
          </a:xfrm>
          <a:prstGeom prst="rect">
            <a:avLst/>
          </a:prstGeom>
          <a:noFill/>
        </p:spPr>
        <p:txBody>
          <a:bodyPr wrap="square" lIns="0" rIns="0" tIns="0" bIns="0" anchor="t">
            <a:spAutoFit/>
          </a:bodyPr>
          <a:lstStyle/>
          <a:p>
            <a:pPr algn="l">
              <a:lnSpc>
                <a:spcPct val="132000"/>
              </a:lnSpc>
            </a:pPr>
            <a:r>
              <a:rPr sz="1250" b="0" i="0">
                <a:solidFill>
                  <a:srgbClr val="5B6472"/>
                </a:solidFill>
                <a:latin typeface="Calibri"/>
              </a:rPr>
              <a:t>A.  localhost 限定バインドで外部送信なし、追加ソフトも不要。自 PC のライブ解析は管理者権限＋明示チェック時のみ。DNS リバインドや CSRF への対策も実装済み。</a:t>
            </a:r>
          </a:p>
        </p:txBody>
      </p:sp>
      <p:sp>
        <p:nvSpPr>
          <p:cNvPr id="9" name="Rounded Rectangle 8"/>
          <p:cNvSpPr/>
          <p:nvPr/>
        </p:nvSpPr>
        <p:spPr>
          <a:xfrm>
            <a:off x="548640" y="3316224"/>
            <a:ext cx="11091672" cy="1386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3316224"/>
            <a:ext cx="73152" cy="13868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462528"/>
            <a:ext cx="10515600" cy="457200"/>
          </a:xfrm>
          <a:prstGeom prst="rect">
            <a:avLst/>
          </a:prstGeom>
          <a:noFill/>
        </p:spPr>
        <p:txBody>
          <a:bodyPr wrap="square" lIns="0" rIns="0" tIns="0" bIns="0" anchor="t">
            <a:spAutoFit/>
          </a:bodyPr>
          <a:lstStyle/>
          <a:p>
            <a:pPr algn="l">
              <a:lnSpc>
                <a:spcPct val="130000"/>
              </a:lnSpc>
            </a:pPr>
            <a:r>
              <a:rPr sz="1500" b="1" i="0">
                <a:solidFill>
                  <a:srgbClr val="1F2937"/>
                </a:solidFill>
                <a:latin typeface="Cambria"/>
              </a:rPr>
              <a:t>Q.  未知の攻撃 (ゼロデイ) は検知できる?</a:t>
            </a:r>
          </a:p>
        </p:txBody>
      </p:sp>
      <p:sp>
        <p:nvSpPr>
          <p:cNvPr id="12" name="TextBox 11"/>
          <p:cNvSpPr txBox="1"/>
          <p:nvPr/>
        </p:nvSpPr>
        <p:spPr>
          <a:xfrm>
            <a:off x="868680" y="3919728"/>
            <a:ext cx="10469880" cy="673608"/>
          </a:xfrm>
          <a:prstGeom prst="rect">
            <a:avLst/>
          </a:prstGeom>
          <a:noFill/>
        </p:spPr>
        <p:txBody>
          <a:bodyPr wrap="square" lIns="0" rIns="0" tIns="0" bIns="0" anchor="t">
            <a:spAutoFit/>
          </a:bodyPr>
          <a:lstStyle/>
          <a:p>
            <a:pPr algn="l">
              <a:lnSpc>
                <a:spcPct val="132000"/>
              </a:lnSpc>
            </a:pPr>
            <a:r>
              <a:rPr sz="1250" b="0" i="0">
                <a:solidFill>
                  <a:srgbClr val="5B6472"/>
                </a:solidFill>
                <a:latin typeface="Calibri"/>
              </a:rPr>
              <a:t>A.  ルールは既知の手口に強い。未知は振る舞い分析（急増・拡散・沈黙・時間外）で「いつもと違う」を拾う、という二段構えでカバーする。</a:t>
            </a:r>
          </a:p>
        </p:txBody>
      </p:sp>
      <p:sp>
        <p:nvSpPr>
          <p:cNvPr id="13" name="Rounded Rectangle 12"/>
          <p:cNvSpPr/>
          <p:nvPr/>
        </p:nvSpPr>
        <p:spPr>
          <a:xfrm>
            <a:off x="548640" y="4849368"/>
            <a:ext cx="11091672" cy="1386840"/>
          </a:xfrm>
          <a:prstGeom prst="roundRect">
            <a:avLst/>
          </a:prstGeom>
          <a:solidFill>
            <a:srgbClr val="FFFFFF"/>
          </a:solidFill>
          <a:ln w="9525">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849368"/>
            <a:ext cx="73152" cy="13868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95672"/>
            <a:ext cx="10515600" cy="457200"/>
          </a:xfrm>
          <a:prstGeom prst="rect">
            <a:avLst/>
          </a:prstGeom>
          <a:noFill/>
        </p:spPr>
        <p:txBody>
          <a:bodyPr wrap="square" lIns="0" rIns="0" tIns="0" bIns="0" anchor="t">
            <a:spAutoFit/>
          </a:bodyPr>
          <a:lstStyle/>
          <a:p>
            <a:pPr algn="l">
              <a:lnSpc>
                <a:spcPct val="130000"/>
              </a:lnSpc>
            </a:pPr>
            <a:r>
              <a:rPr sz="1500" b="1" i="0">
                <a:solidFill>
                  <a:srgbClr val="1F2937"/>
                </a:solidFill>
                <a:latin typeface="Cambria"/>
              </a:rPr>
              <a:t>Q.  今後の発展は?</a:t>
            </a:r>
          </a:p>
        </p:txBody>
      </p:sp>
      <p:sp>
        <p:nvSpPr>
          <p:cNvPr id="16" name="TextBox 15"/>
          <p:cNvSpPr txBox="1"/>
          <p:nvPr/>
        </p:nvSpPr>
        <p:spPr>
          <a:xfrm>
            <a:off x="868680" y="5452872"/>
            <a:ext cx="10469880" cy="673608"/>
          </a:xfrm>
          <a:prstGeom prst="rect">
            <a:avLst/>
          </a:prstGeom>
          <a:noFill/>
        </p:spPr>
        <p:txBody>
          <a:bodyPr wrap="square" lIns="0" rIns="0" tIns="0" bIns="0" anchor="t">
            <a:spAutoFit/>
          </a:bodyPr>
          <a:lstStyle/>
          <a:p>
            <a:pPr algn="l">
              <a:lnSpc>
                <a:spcPct val="132000"/>
              </a:lnSpc>
            </a:pPr>
            <a:r>
              <a:rPr sz="1250" b="0" i="0">
                <a:solidFill>
                  <a:srgbClr val="5B6472"/>
                </a:solidFill>
                <a:latin typeface="Calibri"/>
              </a:rPr>
              <a:t>A.  時間の流れを追った相関分析（「A の後に B が起きたら怪しい」）や、AI による検知ルールの自動生成へ。</a:t>
            </a:r>
          </a:p>
        </p:txBody>
      </p:sp>
      <p:sp>
        <p:nvSpPr>
          <p:cNvPr id="17" name="TextBox 16"/>
          <p:cNvSpPr txBox="1"/>
          <p:nvPr/>
        </p:nvSpPr>
        <p:spPr>
          <a:xfrm>
            <a:off x="10972800" y="6446520"/>
            <a:ext cx="914400" cy="274320"/>
          </a:xfrm>
          <a:prstGeom prst="rect">
            <a:avLst/>
          </a:prstGeom>
          <a:noFill/>
        </p:spPr>
        <p:txBody>
          <a:bodyPr wrap="square" lIns="0" rIns="0" tIns="0" bIns="0" anchor="t">
            <a:spAutoFit/>
          </a:bodyPr>
          <a:lstStyle/>
          <a:p>
            <a:pPr algn="r">
              <a:lnSpc>
                <a:spcPct val="130000"/>
              </a:lnSpc>
            </a:pPr>
            <a:r>
              <a:rPr sz="900" b="0" i="0">
                <a:solidFill>
                  <a:srgbClr val="5B6472"/>
                </a:solidFill>
                <a:latin typeface="Calibri"/>
              </a:rPr>
              <a:t>付録</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