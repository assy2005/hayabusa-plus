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mp4" ContentType="video/mp4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notesMaster" Target="notesMasters/notesMaster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本日は「OSS 解析エンジン Hayabusa の拡張による、誰でも使えるサイバー攻撃調査ツールの開発」というテーマで発表します。</a:t>
            </a:r>
          </a:p>
          <a:p>
            <a:r>
              <a:t>一言でいうと、プロの道具を“誰でも使える形”に作り変えた研究です。</a:t>
            </a:r>
          </a:p>
          <a:p>
            <a:r>
              <a:t>やったことは大きく 3 つ。①エンジン本体 (Rust) への新しい検知機能の追加、②攻撃を見抜く検知ルールの自作、③結果を読み解ける GUI の開発です。</a:t>
            </a:r>
          </a:p>
          <a:p>
            <a:r>
              <a:t>成果物はすべて GitHub で公開しています。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まず背景から。もし皆さんの会社がサイバー攻撃を受けたら、どうしますか。</a:t>
            </a:r>
          </a:p>
          <a:p>
            <a:r>
              <a:t>知りたいのは「どこから侵入されたか」「誰に何をされたか」「被害はどこまで広がったか」。しかもこれを“素早く”知る必要があります。対応が遅れるほど被害は広がるからです。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その答えは、実は Windows が残しているログの中にあります。ログオン、プロセス起動、通信 ── 攻撃の痕跡はすべて記録されている。</a:t>
            </a:r>
          </a:p>
          <a:p>
            <a:r>
              <a:t>ただ問題は“量”です。たった 1 台の PC でも数万件。これを人間が 1 件ずつ読むのは現実的に不可能で、専門家が時間をかけても見落とします。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そこで土台にしたのが、日本の Yamato Security が公開している無料ツール Hayabusa です。世界中の研究者が作った約 5,000 本の攻撃パターンと、数万件のログを数十秒で照合できる、実績あるツールです。</a:t>
            </a:r>
          </a:p>
          <a:p>
            <a:r>
              <a:t>ただ弱点があって、黒い画面でコマンドを打つ必要があり、結果は CSV 数万行、しかも英語と専門用語。「で、次どうすれば?」は教えてくれない。</a:t>
            </a:r>
          </a:p>
          <a:p>
            <a:r>
              <a:t>つまり“強力だが専門家にしか使えない”。ここを出発点にしました。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目的は明確で、この「専門家の道具」を「誰でも使える調査プラットフォーム」にすることです。</a:t>
            </a:r>
          </a:p>
          <a:p>
            <a:r>
              <a:t>方針は 3 つ。①見つける力を強くする (エンジン改造とルール自作)、②結果を読めるようにする (GUI)、③手元だけで完結させる (データを外に出さない・追加ソフト不要)。</a:t>
            </a:r>
          </a:p>
          <a:p>
            <a:r>
              <a:t>この 3 つが、この後の発表の章立てになります。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全体像です。グレーが既存の Hayabusa、青が私が開発した部分です。</a:t>
            </a:r>
          </a:p>
          <a:p>
            <a:r>
              <a:t>ログがエンジンで解析され、GUI を通して人が読む、という流れ。エンジンには中身を改造して新機能を追加し、下から「自作の検知ルール 13 本」と「悪いものリスト約 8 万件」を注ぎ込んでいます。GUI はゼロから自作しました。</a:t>
            </a:r>
          </a:p>
          <a:p>
            <a:r>
              <a:t>では順に説明します。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 つ目、エンジン本体の改造です。Hayabusa の「ルールの書き方」自体を拡張しました。</a:t>
            </a:r>
          </a:p>
          <a:p>
            <a:r>
              <a:t>具体的には、ルールに 1 行「このリストに載っていたら警告して」と書ける lookup という機能を、Rust のソースコードに追加しました。</a:t>
            </a:r>
          </a:p>
          <a:p>
            <a:r>
              <a:t>これで世界中で共有されている悪性ハッシュや URL のリスト約 8 万件を、ルールを書き換えずにそのまま検知に使えます。このリストの出どころと処理の流れを、次のページで説明します。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これが lookup の内部フローです。例として、悪用される脆弱ドライバの検知 (BYOVD) を追います。</a:t>
            </a:r>
          </a:p>
          <a:p>
            <a:r>
              <a:t>まず出どころは loldrivers.io。世界中の研究者が集めた“悪用されるドライバ”のハッシュ一覧です。これを取得してテキストに整形し、1,929 件のリストとして保存します。</a:t>
            </a:r>
          </a:p>
          <a:p>
            <a:r>
              <a:t>エンジンは起動時に一度だけこれをメモリに読み込み、あとはログ 1 件ごとに、ドライバ読込イベントのハッシュをこの表と照合。一致すれば攻撃の痕跡として critical で通知します。</a:t>
            </a:r>
          </a:p>
          <a:p>
            <a:r>
              <a:t>ポイントは、リストが増えても照合速度は一定で、リストを更新するだけで最新の脅威に追従できることです。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2 つ目、検知ルールを 13 本自作しました。</a:t>
            </a:r>
          </a:p>
          <a:p>
            <a:r>
              <a:t>着眼点は「攻撃者は必ず証拠隠しをする。なら、消す行為そのものを検知すればいい」。代表的な 4 つが、ログの消去、復元データの削除、監視の無効化、パスワードの抜き取りです。</a:t>
            </a:r>
          </a:p>
          <a:p>
            <a:r>
              <a:t>誤検知を減らすため、1 つの特徴では鳴らさず、複数の特徴が同時に揃ったときだけ警告する設計にしています。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では、これらが実際にログの“どこ”を見ているか。</a:t>
            </a:r>
          </a:p>
          <a:p>
            <a:r>
              <a:t>例えばログの消去なら、プロセス起動ログで wevtutil.exe が cl (クリア) 付きで実行されたかを見ます。復元データ削除なら vssadmin の delete shadows ── これはランサムウェアの前兆です。監視の無効化は監査ポリシー変更のイベント 4719、パスワード抜き取りは rundll32 が comsvcs と MiniDump を使ったか。</a:t>
            </a:r>
          </a:p>
          <a:p>
            <a:r>
              <a:t>共通しているのは、マルウェア本体は姿を変えられても、これらの“目的に直結した行為”は変えにくい、という点。だからそこを見るんです。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3 つ目、結果を読めるようにする GUI をゼロから開発しました。</a:t>
            </a:r>
          </a:p>
          <a:p>
            <a:r>
              <a:t>検知をクリックすると「何が起きて、次にどうするか」を日本語で表示。どの PC から調べるべきかを自動採点して並べ替え、全体像はグラフで俯瞰できます。</a:t>
            </a:r>
          </a:p>
          <a:p>
            <a:r>
              <a:t>右が実際の画面です。すべてブラウザで動き、データは外部に送りません。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さらに、ルールでは書けない「いつもと違う」も検出できるよう、統計分析を自作しました。</a:t>
            </a:r>
          </a:p>
          <a:p>
            <a:r>
              <a:t>急増、複数 PC への拡散、急に静かになる、時間外の活動、の 4 種類です。</a:t>
            </a:r>
          </a:p>
          <a:p>
            <a:r>
              <a:t>ルールは既知の手口に強い一方、振る舞い分析は“未知の手口への気づき”になる。両者を組み合わせるのが狙いです。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ここから実際の画面でお見せします。サンプルログを読み込んで、調査の流れを見ていただきます。</a:t>
            </a:r>
          </a:p>
          <a:p>
            <a:r>
              <a:t>(デモ: スキャン実行 → ダッシュボードで全体把握 → 検知の日本語解説 → ホスト別の危険度ランキング、の順に見せる)</a:t>
            </a:r>
          </a:p>
          <a:p>
            <a:r>
              <a:t>※ ライブが不調なときは、スライド中央の動画をクリックすれば同じ流れの録画 (約 38 秒・字幕つき) が再生されます。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まとめます。エンジンに lookup という新しい文法を追加し、検知ルールを 13 本自作、結果を読み解く GUI を新たに開発し、悪いものリスト約 8 万件を自動で取り込んで照合できるようにしました。</a:t>
            </a:r>
          </a:p>
          <a:p>
            <a:r>
              <a:t>今後は、時間の流れを追った相関分析 (「A の後に B が起きたら怪しい」) や、AI による検知ルールの自動生成に進めたいと考えています。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以上です。ありがとうございました。</a:t>
            </a:r>
          </a:p>
          <a:p>
            <a:r>
              <a:t>成果物はすべて GitHub で公開しているので、お手元の Windows PC のログでぜひ一度試してみてください。ご質問・フィードバックをお願いします。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(付録・Q&amp;A 用) 「13 本って具体的には?」と聞かれたら、このスライドを出してください。</a:t>
            </a:r>
          </a:p>
          <a:p>
            <a:r>
              <a:t>本編では代表的な 4 種類を紹介しましたが、実際は攻撃の流れに沿って 13 本を用意しています。「①外から入って動く → ②盗んで住み着く → ③監視を無力化 → ④証拠を消す」という順番で、それぞれの段階で出る特徴を捕まえます。</a:t>
            </a:r>
          </a:p>
          <a:p>
            <a:r>
              <a:t>赤が critical、橙が high です。気になるルールがあれば個別に説明できます。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microsoft.com/office/2007/relationships/media" Target="../media/media1.mp4"/><Relationship Id="rId3" Type="http://schemas.openxmlformats.org/officeDocument/2006/relationships/video" Target="../media/media1.mp4"/><Relationship Id="rId4" Type="http://schemas.openxmlformats.org/officeDocument/2006/relationships/image" Target="../media/image1.png"/><Relationship Id="rId5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25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371600"/>
            <a:ext cx="109728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2600" b="0" i="0">
                <a:solidFill>
                  <a:srgbClr val="CADCFC"/>
                </a:solidFill>
                <a:latin typeface="Cambria"/>
              </a:rPr>
              <a:t>OSS 解析エンジン「Hayabusa」の拡張による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965960"/>
            <a:ext cx="109728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4000" b="1" i="0">
                <a:solidFill>
                  <a:srgbClr val="FFFFFF"/>
                </a:solidFill>
                <a:latin typeface="Cambria"/>
              </a:rPr>
              <a:t>誰でも使えるサイバー攻撃調査ツールの開発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3246120"/>
            <a:ext cx="109728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2000" b="0" i="1">
                <a:solidFill>
                  <a:srgbClr val="CADCFC"/>
                </a:solidFill>
                <a:latin typeface="Calibri"/>
              </a:rPr>
              <a:t>— サイバー攻撃の痕跡を、誰でも読めるように —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651760" y="4206240"/>
            <a:ext cx="6858000" cy="1554480"/>
          </a:xfrm>
          <a:prstGeom prst="roundRect">
            <a:avLst/>
          </a:prstGeom>
          <a:solidFill>
            <a:srgbClr val="273366"/>
          </a:solidFill>
          <a:ln w="9525">
            <a:solidFill>
              <a:srgbClr val="2733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063240" y="4370832"/>
            <a:ext cx="62179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 b="0" i="0">
                <a:solidFill>
                  <a:srgbClr val="FFFFFF"/>
                </a:solidFill>
                <a:latin typeface="Calibri"/>
              </a:rPr>
              <a:t>🦀 エンジン本体 (Rust) に新しい検知機能を追加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063240" y="4791456"/>
            <a:ext cx="62179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 b="0" i="0">
                <a:solidFill>
                  <a:srgbClr val="FFFFFF"/>
                </a:solidFill>
                <a:latin typeface="Calibri"/>
              </a:rPr>
              <a:t>📜 攻撃を見抜く検知ルールを 13 本自作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063240" y="5212080"/>
            <a:ext cx="62179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 b="0" i="0">
                <a:solidFill>
                  <a:srgbClr val="FFFFFF"/>
                </a:solidFill>
                <a:latin typeface="Calibri"/>
              </a:rPr>
              <a:t>🖥️ 結果を読み解ける GUI をゼロから開発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621792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1300" b="0" i="0">
                <a:solidFill>
                  <a:srgbClr val="CADCFC"/>
                </a:solidFill>
                <a:latin typeface="Consolas"/>
              </a:rPr>
              <a:t>プロジェクト名: hayabusa-plus   /   github.com/Assy2005/hayabusa-plus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25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27432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1" i="0">
                <a:solidFill>
                  <a:srgbClr val="CADCFC"/>
                </a:solidFill>
                <a:latin typeface="Calibri"/>
              </a:rPr>
              <a:t>背景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188720"/>
            <a:ext cx="1097280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3000" b="0" i="0">
                <a:solidFill>
                  <a:srgbClr val="CADCFC"/>
                </a:solidFill>
                <a:latin typeface="Calibri"/>
              </a:rPr>
              <a:t>もし、あなたの会社が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828800"/>
            <a:ext cx="109728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4400" b="1" i="0">
                <a:solidFill>
                  <a:srgbClr val="FFFFFF"/>
                </a:solidFill>
                <a:latin typeface="Cambria"/>
              </a:rPr>
              <a:t>サイバー攻撃を受けたら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2743200"/>
            <a:ext cx="1097280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3000" b="0" i="0">
                <a:solidFill>
                  <a:srgbClr val="CADCFC"/>
                </a:solidFill>
                <a:latin typeface="Calibri"/>
              </a:rPr>
              <a:t>...どうしますか?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280160" y="4069080"/>
            <a:ext cx="3200400" cy="1645920"/>
          </a:xfrm>
          <a:prstGeom prst="roundRect">
            <a:avLst/>
          </a:prstGeom>
          <a:solidFill>
            <a:srgbClr val="273366"/>
          </a:solidFill>
          <a:ln w="9525">
            <a:solidFill>
              <a:srgbClr val="2733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280160" y="4297680"/>
            <a:ext cx="32004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1800" b="1" i="0">
                <a:solidFill>
                  <a:srgbClr val="CADCFC"/>
                </a:solidFill>
                <a:latin typeface="Cambria"/>
              </a:rPr>
              <a:t>どこから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80160" y="4846320"/>
            <a:ext cx="3200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2200" b="1" i="0">
                <a:solidFill>
                  <a:srgbClr val="FFFFFF"/>
                </a:solidFill>
                <a:latin typeface="Cambria"/>
              </a:rPr>
              <a:t>侵入された?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846320" y="4069080"/>
            <a:ext cx="3200400" cy="1645920"/>
          </a:xfrm>
          <a:prstGeom prst="roundRect">
            <a:avLst/>
          </a:prstGeom>
          <a:solidFill>
            <a:srgbClr val="273366"/>
          </a:solidFill>
          <a:ln w="9525">
            <a:solidFill>
              <a:srgbClr val="2733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846320" y="4297680"/>
            <a:ext cx="32004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1800" b="1" i="0">
                <a:solidFill>
                  <a:srgbClr val="CADCFC"/>
                </a:solidFill>
                <a:latin typeface="Cambria"/>
              </a:rPr>
              <a:t>誰が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846320" y="4846320"/>
            <a:ext cx="3200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2200" b="1" i="0">
                <a:solidFill>
                  <a:srgbClr val="FFFFFF"/>
                </a:solidFill>
                <a:latin typeface="Cambria"/>
              </a:rPr>
              <a:t>何をされた?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412480" y="4069080"/>
            <a:ext cx="3200400" cy="1645920"/>
          </a:xfrm>
          <a:prstGeom prst="roundRect">
            <a:avLst/>
          </a:prstGeom>
          <a:solidFill>
            <a:srgbClr val="273366"/>
          </a:solidFill>
          <a:ln w="9525">
            <a:solidFill>
              <a:srgbClr val="2733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412480" y="4297680"/>
            <a:ext cx="32004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1800" b="1" i="0">
                <a:solidFill>
                  <a:srgbClr val="CADCFC"/>
                </a:solidFill>
                <a:latin typeface="Cambria"/>
              </a:rPr>
              <a:t>被害は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412480" y="4846320"/>
            <a:ext cx="3200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2200" b="1" i="0">
                <a:solidFill>
                  <a:srgbClr val="FFFFFF"/>
                </a:solidFill>
                <a:latin typeface="Cambria"/>
              </a:rPr>
              <a:t>どこまで広がった?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612648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1400" b="0" i="1">
                <a:solidFill>
                  <a:srgbClr val="CADCFC"/>
                </a:solidFill>
                <a:latin typeface="Calibri"/>
              </a:rPr>
              <a:t>これを 素早く 知る必要があります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972800" y="644652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0000"/>
              </a:lnSpc>
            </a:pPr>
            <a:r>
              <a:rPr sz="900" b="0" i="0">
                <a:solidFill>
                  <a:srgbClr val="CADCFC"/>
                </a:solidFill>
                <a:latin typeface="Calibri"/>
              </a:rPr>
              <a:t>2 / 15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47472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1" i="0">
                <a:solidFill>
                  <a:srgbClr val="2563EB"/>
                </a:solidFill>
                <a:latin typeface="Calibri"/>
              </a:rPr>
              <a:t>背景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21792"/>
            <a:ext cx="1115568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800" b="1" i="0">
                <a:solidFill>
                  <a:srgbClr val="1F2937"/>
                </a:solidFill>
                <a:latin typeface="Cambria"/>
              </a:rPr>
              <a:t>答えは Windows のログの中にある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600200"/>
            <a:ext cx="5852160" cy="4663440"/>
          </a:xfrm>
          <a:prstGeom prst="roundRect">
            <a:avLst/>
          </a:prstGeom>
          <a:solidFill>
            <a:srgbClr val="0F172A"/>
          </a:solidFill>
          <a:ln w="9525">
            <a:solidFill>
              <a:srgbClr val="0F17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828800"/>
            <a:ext cx="53035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94A3B8"/>
                </a:solidFill>
                <a:latin typeface="Consolas"/>
              </a:rPr>
              <a:t>Windows のログ (実例)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2240280"/>
            <a:ext cx="53035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CBD5E1"/>
                </a:solidFill>
                <a:latin typeface="Consolas"/>
              </a:rPr>
              <a:t>2026-05-21 13:42:15  EID 4624  Logon Type 3  user=alice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615184"/>
            <a:ext cx="53035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CBD5E1"/>
                </a:solidFill>
                <a:latin typeface="Consolas"/>
              </a:rPr>
              <a:t>2026-05-21 13:42:16  EID 4688  rundll32.exe  comsvcs.dll, ...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990088"/>
            <a:ext cx="53035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CBD5E1"/>
                </a:solidFill>
                <a:latin typeface="Consolas"/>
              </a:rPr>
              <a:t>2026-05-21 13:42:17  EID 1     ProcessGuid {6BBF237A-CAFB...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3364992"/>
            <a:ext cx="53035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CBD5E1"/>
                </a:solidFill>
                <a:latin typeface="Consolas"/>
              </a:rPr>
              <a:t>2026-05-21 13:42:17  EID 10    TargetImage lsass.exe  Acc...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3739896"/>
            <a:ext cx="53035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CBD5E1"/>
                </a:solidFill>
                <a:latin typeface="Consolas"/>
              </a:rPr>
              <a:t>2026-05-21 13:42:18  EID 4104  $ScriptBlockText FromBase6...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4114800"/>
            <a:ext cx="53035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CBD5E1"/>
                </a:solidFill>
                <a:latin typeface="Consolas"/>
              </a:rPr>
              <a:t>2026-05-21 13:42:18  EID 7045  ServiceName UpdaterSvc  Img...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4489704"/>
            <a:ext cx="53035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CBD5E1"/>
                </a:solidFill>
                <a:latin typeface="Consolas"/>
              </a:rPr>
              <a:t>2026-05-21 13:42:19  EID 22    QueryName malicious-site.c...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4864608"/>
            <a:ext cx="53035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CBD5E1"/>
                </a:solidFill>
                <a:latin typeface="Consolas"/>
              </a:rPr>
              <a:t>2026-05-21 13:42:20  EID 3     DestinationIp 185.220.101....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5239512"/>
            <a:ext cx="53035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CBD5E1"/>
                </a:solidFill>
                <a:latin typeface="Consolas"/>
              </a:rPr>
              <a:t>2026-05-21 13:42:21  EID 8     CreateRemoteThread  source...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4400" y="5614416"/>
            <a:ext cx="53035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CBD5E1"/>
                </a:solidFill>
                <a:latin typeface="Consolas"/>
              </a:rPr>
              <a:t>...                          (このあと数万件続く)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766560" y="1874519"/>
            <a:ext cx="5029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200" b="0" i="0">
                <a:solidFill>
                  <a:srgbClr val="1F2937"/>
                </a:solidFill>
                <a:latin typeface="Calibri"/>
              </a:rPr>
              <a:t>1 台の PC で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766560" y="2377440"/>
            <a:ext cx="50292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6800" b="1" i="0">
                <a:solidFill>
                  <a:srgbClr val="2563EB"/>
                </a:solidFill>
                <a:latin typeface="Cambria"/>
              </a:rPr>
              <a:t>数万件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766560" y="3611880"/>
            <a:ext cx="5029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200" b="0" i="0">
                <a:solidFill>
                  <a:srgbClr val="1F2937"/>
                </a:solidFill>
                <a:latin typeface="Calibri"/>
              </a:rPr>
              <a:t>のログが残っています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766560" y="4480560"/>
            <a:ext cx="5029200" cy="178308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D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766560" y="4480560"/>
            <a:ext cx="73152" cy="1783080"/>
          </a:xfrm>
          <a:prstGeom prst="rect">
            <a:avLst/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995160" y="4663440"/>
            <a:ext cx="466344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 i="0">
                <a:solidFill>
                  <a:srgbClr val="1F2937"/>
                </a:solidFill>
                <a:latin typeface="Calibri"/>
              </a:rPr>
              <a:t>これを 1 件ずつ読むのは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95160" y="5120640"/>
            <a:ext cx="466344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400" b="1" i="0">
                <a:solidFill>
                  <a:srgbClr val="DC2626"/>
                </a:solidFill>
                <a:latin typeface="Cambria"/>
              </a:rPr>
              <a:t>現実的に不可能。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95160" y="5760720"/>
            <a:ext cx="46634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 i="1">
                <a:solidFill>
                  <a:srgbClr val="5B6472"/>
                </a:solidFill>
                <a:latin typeface="Calibri"/>
              </a:rPr>
              <a:t>→ 専門家が時間をかけても見落とす。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972800" y="644652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0000"/>
              </a:lnSpc>
            </a:pPr>
            <a:r>
              <a:rPr sz="900" b="0" i="0">
                <a:solidFill>
                  <a:srgbClr val="5B6472"/>
                </a:solidFill>
                <a:latin typeface="Calibri"/>
              </a:rPr>
              <a:t>3 / 15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47472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1" i="0">
                <a:solidFill>
                  <a:srgbClr val="2563EB"/>
                </a:solidFill>
                <a:latin typeface="Calibri"/>
              </a:rPr>
              <a:t>既存技術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21792"/>
            <a:ext cx="1115568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800" b="1" i="0">
                <a:solidFill>
                  <a:srgbClr val="1F2937"/>
                </a:solidFill>
                <a:latin typeface="Cambria"/>
              </a:rPr>
              <a:t>土台にした既存ツール: Hayabusa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554480"/>
            <a:ext cx="1106424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 i="1">
                <a:solidFill>
                  <a:srgbClr val="5B6472"/>
                </a:solidFill>
                <a:latin typeface="Calibri"/>
              </a:rPr>
              <a:t>日本のセキュリティチーム Yamato Security が公開している無料ツール (OSS)。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103120"/>
            <a:ext cx="5486400" cy="402336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D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2103120"/>
            <a:ext cx="73152" cy="4023360"/>
          </a:xfrm>
          <a:prstGeom prst="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2331720"/>
            <a:ext cx="50292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700" b="1" i="0">
                <a:solidFill>
                  <a:srgbClr val="1F2937"/>
                </a:solidFill>
                <a:latin typeface="Cambria"/>
              </a:rPr>
              <a:t>✅ Hayabusa ができること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2926080"/>
            <a:ext cx="493776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0" i="0">
                <a:solidFill>
                  <a:srgbClr val="1F2937"/>
                </a:solidFill>
                <a:latin typeface="Calibri"/>
              </a:rPr>
              <a:t>• 世界中の研究者が作った「攻撃の特徴パターン」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3310128"/>
            <a:ext cx="49377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0" i="0">
                <a:solidFill>
                  <a:srgbClr val="5B6472"/>
                </a:solidFill>
                <a:latin typeface="Calibri"/>
              </a:rPr>
              <a:t>   (Sigma ルール・約 5,000 本) と照合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3794760"/>
            <a:ext cx="493776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0" i="0">
                <a:solidFill>
                  <a:srgbClr val="1F2937"/>
                </a:solidFill>
                <a:latin typeface="Calibri"/>
              </a:rPr>
              <a:t>• 数万件のログを数十秒〜数分で全チェック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4178808"/>
            <a:ext cx="49377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0" i="0">
                <a:solidFill>
                  <a:srgbClr val="5B6472"/>
                </a:solidFill>
                <a:latin typeface="Calibri"/>
              </a:rPr>
              <a:t>   (Rust 製で高速)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4663440"/>
            <a:ext cx="493776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0" i="0">
                <a:solidFill>
                  <a:srgbClr val="1F2937"/>
                </a:solidFill>
                <a:latin typeface="Calibri"/>
              </a:rPr>
              <a:t>• 世界中の調査現場で使われている実績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63640" y="2103120"/>
            <a:ext cx="5486400" cy="402336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D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263640" y="2103120"/>
            <a:ext cx="73152" cy="4023360"/>
          </a:xfrm>
          <a:prstGeom prst="rect">
            <a:avLst/>
          </a:prstGeom>
          <a:solidFill>
            <a:srgbClr val="EA58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537960" y="2331720"/>
            <a:ext cx="512064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700" b="1" i="0">
                <a:solidFill>
                  <a:srgbClr val="1F2937"/>
                </a:solidFill>
                <a:latin typeface="Cambria"/>
              </a:rPr>
              <a:t>⚠ そのままでは専門家にしか使えない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37960" y="2926080"/>
            <a:ext cx="5029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0" i="0">
                <a:solidFill>
                  <a:srgbClr val="1F2937"/>
                </a:solidFill>
                <a:latin typeface="Calibri"/>
              </a:rPr>
              <a:t>• 黒い画面でコマンドを打つ必要がある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37960" y="3493008"/>
            <a:ext cx="5029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0" i="0">
                <a:solidFill>
                  <a:srgbClr val="1F2937"/>
                </a:solidFill>
                <a:latin typeface="Calibri"/>
              </a:rPr>
              <a:t>• 結果は CSV ファイル数万行 — 結局「読めない」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37960" y="4059936"/>
            <a:ext cx="5029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0" i="0">
                <a:solidFill>
                  <a:srgbClr val="1F2937"/>
                </a:solidFill>
                <a:latin typeface="Calibri"/>
              </a:rPr>
              <a:t>• 出力は英語 + 専門用語だらけ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37960" y="4626864"/>
            <a:ext cx="5029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0" i="0">
                <a:solidFill>
                  <a:srgbClr val="1F2937"/>
                </a:solidFill>
                <a:latin typeface="Calibri"/>
              </a:rPr>
              <a:t>• 「で、次にどうすれば?」を教えてくれない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8640" y="6263640"/>
            <a:ext cx="110642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1400" b="1" i="0">
                <a:solidFill>
                  <a:srgbClr val="1D4ED8"/>
                </a:solidFill>
                <a:latin typeface="Calibri"/>
              </a:rPr>
              <a:t>→ この「強力だが使いにくい」を出発点にしました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972800" y="644652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0000"/>
              </a:lnSpc>
            </a:pPr>
            <a:r>
              <a:rPr sz="900" b="0" i="0">
                <a:solidFill>
                  <a:srgbClr val="5B6472"/>
                </a:solidFill>
                <a:latin typeface="Calibri"/>
              </a:rPr>
              <a:t>4 / 15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47472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1" i="0">
                <a:solidFill>
                  <a:srgbClr val="2563EB"/>
                </a:solidFill>
                <a:latin typeface="Calibri"/>
              </a:rPr>
              <a:t>この開発で目指したこと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21792"/>
            <a:ext cx="1115568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800" b="1" i="0">
                <a:solidFill>
                  <a:srgbClr val="1F2937"/>
                </a:solidFill>
                <a:latin typeface="Cambria"/>
              </a:rPr>
              <a:t>目的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737360"/>
            <a:ext cx="109728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2400" b="0" i="0">
                <a:solidFill>
                  <a:srgbClr val="5B6472"/>
                </a:solidFill>
                <a:latin typeface="Calibri"/>
              </a:rPr>
              <a:t>「専門家の道具」を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2286000"/>
            <a:ext cx="1097280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3200" b="1" i="0">
                <a:solidFill>
                  <a:srgbClr val="1F2937"/>
                </a:solidFill>
                <a:latin typeface="Cambria"/>
              </a:rPr>
              <a:t>「誰でも使える調査プラットフォーム」に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3474720"/>
            <a:ext cx="3566160" cy="246888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D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48640" y="3474720"/>
            <a:ext cx="73152" cy="246888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3657600"/>
            <a:ext cx="64008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800" b="1" i="0">
                <a:solidFill>
                  <a:srgbClr val="2563EB"/>
                </a:solidFill>
                <a:latin typeface="Cambria"/>
              </a:rPr>
              <a:t>①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3730752"/>
            <a:ext cx="25603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600" b="1" i="0">
                <a:solidFill>
                  <a:srgbClr val="1F2937"/>
                </a:solidFill>
                <a:latin typeface="Cambria"/>
              </a:rPr>
              <a:t>見つける力を強くする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59" y="4343400"/>
            <a:ext cx="3063239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200" b="0" i="0">
                <a:solidFill>
                  <a:srgbClr val="5B6472"/>
                </a:solidFill>
                <a:latin typeface="Calibri"/>
              </a:rPr>
              <a:t>エンジン本体を改造して
新しい検知機能を追加 +
検知ルールを自作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43400" y="3474720"/>
            <a:ext cx="3566160" cy="246888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D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343400" y="3474720"/>
            <a:ext cx="73152" cy="246888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72000" y="3657600"/>
            <a:ext cx="64008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800" b="1" i="0">
                <a:solidFill>
                  <a:srgbClr val="2563EB"/>
                </a:solidFill>
                <a:latin typeface="Cambria"/>
              </a:rPr>
              <a:t>②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166360" y="3730752"/>
            <a:ext cx="25603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600" b="1" i="0">
                <a:solidFill>
                  <a:srgbClr val="1F2937"/>
                </a:solidFill>
                <a:latin typeface="Cambria"/>
              </a:rPr>
              <a:t>結果を読めるようにする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17720" y="4343400"/>
            <a:ext cx="3063239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200" b="0" i="0">
                <a:solidFill>
                  <a:srgbClr val="5B6472"/>
                </a:solidFill>
                <a:latin typeface="Calibri"/>
              </a:rPr>
              <a:t>ブラウザで見られる GUI を
ゼロから開発。日本語解説と
「次にすべきこと」を表示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138160" y="3474720"/>
            <a:ext cx="3566160" cy="246888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D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138160" y="3474720"/>
            <a:ext cx="73152" cy="246888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366760" y="3657600"/>
            <a:ext cx="64008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800" b="1" i="0">
                <a:solidFill>
                  <a:srgbClr val="2563EB"/>
                </a:solidFill>
                <a:latin typeface="Cambria"/>
              </a:rPr>
              <a:t>③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961120" y="3730752"/>
            <a:ext cx="25603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600" b="1" i="0">
                <a:solidFill>
                  <a:srgbClr val="1F2937"/>
                </a:solidFill>
                <a:latin typeface="Cambria"/>
              </a:rPr>
              <a:t>手元だけで完結させる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412480" y="4343400"/>
            <a:ext cx="3063239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200" b="0" i="0">
                <a:solidFill>
                  <a:srgbClr val="5B6472"/>
                </a:solidFill>
                <a:latin typeface="Calibri"/>
              </a:rPr>
              <a:t>データを外部に送らない。
追加ソフト無しで動く
(オフライン・依存ゼロ)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972800" y="644652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0000"/>
              </a:lnSpc>
            </a:pPr>
            <a:r>
              <a:rPr sz="900" b="0" i="0">
                <a:solidFill>
                  <a:srgbClr val="5B6472"/>
                </a:solidFill>
                <a:latin typeface="Calibri"/>
              </a:rPr>
              <a:t>5 / 15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47472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1" i="0">
                <a:solidFill>
                  <a:srgbClr val="2563EB"/>
                </a:solidFill>
                <a:latin typeface="Calibri"/>
              </a:rPr>
              <a:t>どこを開発したか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21792"/>
            <a:ext cx="1115568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800" b="1" i="0">
                <a:solidFill>
                  <a:srgbClr val="1F2937"/>
                </a:solidFill>
                <a:latin typeface="Cambria"/>
              </a:rPr>
              <a:t>作ったものの全体像</a:t>
            </a:r>
          </a:p>
        </p:txBody>
      </p:sp>
      <p:sp>
        <p:nvSpPr>
          <p:cNvPr id="5" name="Rectangle 4"/>
          <p:cNvSpPr/>
          <p:nvPr/>
        </p:nvSpPr>
        <p:spPr>
          <a:xfrm>
            <a:off x="7680960" y="457200"/>
            <a:ext cx="256032" cy="256032"/>
          </a:xfrm>
          <a:prstGeom prst="rect">
            <a:avLst/>
          </a:prstGeom>
          <a:solidFill>
            <a:srgbClr val="E9ECF2"/>
          </a:solidFill>
          <a:ln>
            <a:solidFill>
              <a:srgbClr val="DD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001000" y="457200"/>
            <a:ext cx="16459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5B6472"/>
                </a:solidFill>
                <a:latin typeface="Calibri"/>
              </a:rPr>
              <a:t>= 既存 OSS (土台)</a:t>
            </a:r>
          </a:p>
        </p:txBody>
      </p:sp>
      <p:sp>
        <p:nvSpPr>
          <p:cNvPr id="7" name="Rectangle 6"/>
          <p:cNvSpPr/>
          <p:nvPr/>
        </p:nvSpPr>
        <p:spPr>
          <a:xfrm>
            <a:off x="9692640" y="457200"/>
            <a:ext cx="256032" cy="256032"/>
          </a:xfrm>
          <a:prstGeom prst="rect">
            <a:avLst/>
          </a:prstGeom>
          <a:solidFill>
            <a:srgbClr val="E8F0FE"/>
          </a:solidFill>
          <a:ln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12680" y="457200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1" i="0">
                <a:solidFill>
                  <a:srgbClr val="1D4ED8"/>
                </a:solidFill>
                <a:latin typeface="Calibri"/>
              </a:rPr>
              <a:t>= 今回開発した部分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2103120"/>
            <a:ext cx="2194560" cy="173736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D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2286000"/>
            <a:ext cx="219456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2800" b="0" i="0">
                <a:solidFill>
                  <a:srgbClr val="1F2937"/>
                </a:solidFill>
                <a:latin typeface="Calibri"/>
              </a:rPr>
              <a:t>📄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2880360"/>
            <a:ext cx="21945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1300" b="1" i="0">
                <a:solidFill>
                  <a:srgbClr val="1F2937"/>
                </a:solidFill>
                <a:latin typeface="Calibri"/>
              </a:rPr>
              <a:t>Windows のログ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3246120"/>
            <a:ext cx="21945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1100" b="0" i="0">
                <a:solidFill>
                  <a:srgbClr val="5B6472"/>
                </a:solidFill>
                <a:latin typeface="Calibri"/>
              </a:rPr>
              <a:t>数万件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2880360" y="2788920"/>
            <a:ext cx="502920" cy="365760"/>
          </a:xfrm>
          <a:prstGeom prst="rightArrow">
            <a:avLst/>
          </a:prstGeom>
          <a:solidFill>
            <a:srgbClr val="5B64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3520440" y="2103120"/>
            <a:ext cx="3291840" cy="1737360"/>
          </a:xfrm>
          <a:prstGeom prst="roundRect">
            <a:avLst/>
          </a:prstGeom>
          <a:solidFill>
            <a:srgbClr val="E9ECF2"/>
          </a:solidFill>
          <a:ln w="9525">
            <a:solidFill>
              <a:srgbClr val="DD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520440" y="2304288"/>
            <a:ext cx="32918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1400" b="1" i="0">
                <a:solidFill>
                  <a:srgbClr val="1F2937"/>
                </a:solidFill>
                <a:latin typeface="Calibri"/>
              </a:rPr>
              <a:t>Hayabusa エンジン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520440" y="2651760"/>
            <a:ext cx="32918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1100" b="0" i="0">
                <a:solidFill>
                  <a:srgbClr val="5B6472"/>
                </a:solidFill>
                <a:latin typeface="Calibri"/>
              </a:rPr>
              <a:t>(既存 OSS・Rust 製)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794760" y="3063239"/>
            <a:ext cx="2743200" cy="548640"/>
          </a:xfrm>
          <a:prstGeom prst="roundRect">
            <a:avLst/>
          </a:prstGeom>
          <a:solidFill>
            <a:srgbClr val="E8F0FE"/>
          </a:solidFill>
          <a:ln w="15875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794760" y="3063239"/>
            <a:ext cx="274320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0000"/>
              </a:lnSpc>
            </a:pPr>
            <a:r>
              <a:rPr sz="1150" b="1" i="0">
                <a:solidFill>
                  <a:srgbClr val="1D4ED8"/>
                </a:solidFill>
                <a:latin typeface="Calibri"/>
              </a:rPr>
              <a:t>★ 中身を改造して新機能を追加</a:t>
            </a:r>
          </a:p>
        </p:txBody>
      </p:sp>
      <p:sp>
        <p:nvSpPr>
          <p:cNvPr id="19" name="Right Arrow 18"/>
          <p:cNvSpPr/>
          <p:nvPr/>
        </p:nvSpPr>
        <p:spPr>
          <a:xfrm>
            <a:off x="6949440" y="2788920"/>
            <a:ext cx="502920" cy="365760"/>
          </a:xfrm>
          <a:prstGeom prst="rightArrow">
            <a:avLst/>
          </a:prstGeom>
          <a:solidFill>
            <a:srgbClr val="5B64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7589520" y="2103120"/>
            <a:ext cx="2743200" cy="1737360"/>
          </a:xfrm>
          <a:prstGeom prst="roundRect">
            <a:avLst/>
          </a:prstGeom>
          <a:solidFill>
            <a:srgbClr val="E8F0FE"/>
          </a:solidFill>
          <a:ln w="19050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589520" y="2267712"/>
            <a:ext cx="27432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2400" b="0" i="0">
                <a:solidFill>
                  <a:srgbClr val="1F2937"/>
                </a:solidFill>
                <a:latin typeface="Calibri"/>
              </a:rPr>
              <a:t>🖥️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589520" y="2816352"/>
            <a:ext cx="2743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1400" b="1" i="0">
                <a:solidFill>
                  <a:srgbClr val="1D4ED8"/>
                </a:solidFill>
                <a:latin typeface="Calibri"/>
              </a:rPr>
              <a:t>調査用 GUI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589520" y="3200400"/>
            <a:ext cx="2743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1100" b="0" i="0">
                <a:solidFill>
                  <a:srgbClr val="5B6472"/>
                </a:solidFill>
                <a:latin typeface="Calibri"/>
              </a:rPr>
              <a:t>ゼロから開発</a:t>
            </a:r>
          </a:p>
        </p:txBody>
      </p:sp>
      <p:sp>
        <p:nvSpPr>
          <p:cNvPr id="24" name="Right Arrow 23"/>
          <p:cNvSpPr/>
          <p:nvPr/>
        </p:nvSpPr>
        <p:spPr>
          <a:xfrm>
            <a:off x="10469880" y="2788920"/>
            <a:ext cx="502920" cy="365760"/>
          </a:xfrm>
          <a:prstGeom prst="rightArrow">
            <a:avLst/>
          </a:prstGeom>
          <a:solidFill>
            <a:srgbClr val="5B64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927080" y="2423160"/>
            <a:ext cx="9144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3400" b="0" i="0">
                <a:solidFill>
                  <a:srgbClr val="1F2937"/>
                </a:solidFill>
                <a:latin typeface="Calibri"/>
              </a:rPr>
              <a:t>🧑‍💻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835640" y="3108960"/>
            <a:ext cx="10972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1200" b="1" i="0">
                <a:solidFill>
                  <a:srgbClr val="1F2937"/>
                </a:solidFill>
                <a:latin typeface="Calibri"/>
              </a:rPr>
              <a:t>調べる人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2286000" y="4846320"/>
            <a:ext cx="2743200" cy="1371600"/>
          </a:xfrm>
          <a:prstGeom prst="roundRect">
            <a:avLst/>
          </a:prstGeom>
          <a:solidFill>
            <a:srgbClr val="E8F0FE"/>
          </a:solidFill>
          <a:ln w="9525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2286000" y="5029200"/>
            <a:ext cx="2743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1300" b="1" i="0">
                <a:solidFill>
                  <a:srgbClr val="1D4ED8"/>
                </a:solidFill>
                <a:latin typeface="Calibri"/>
              </a:rPr>
              <a:t>📜 自作の検知ルール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286000" y="5440680"/>
            <a:ext cx="2743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1100" b="0" i="0">
                <a:solidFill>
                  <a:srgbClr val="5B6472"/>
                </a:solidFill>
                <a:latin typeface="Calibri"/>
              </a:rPr>
              <a:t>13 本 (痕跡隠蔽の検知など)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394960" y="4846320"/>
            <a:ext cx="2743200" cy="1371600"/>
          </a:xfrm>
          <a:prstGeom prst="roundRect">
            <a:avLst/>
          </a:prstGeom>
          <a:solidFill>
            <a:srgbClr val="E8F0FE"/>
          </a:solidFill>
          <a:ln w="9525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394960" y="5029200"/>
            <a:ext cx="2743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1300" b="1" i="0">
                <a:solidFill>
                  <a:srgbClr val="1D4ED8"/>
                </a:solidFill>
                <a:latin typeface="Calibri"/>
              </a:rPr>
              <a:t>🌐 悪いものリスト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394960" y="5440680"/>
            <a:ext cx="2743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1100" b="0" i="0">
                <a:solidFill>
                  <a:srgbClr val="5B6472"/>
                </a:solidFill>
                <a:latin typeface="Calibri"/>
              </a:rPr>
              <a:t>約 8 万件を自動で取り込み</a:t>
            </a:r>
          </a:p>
        </p:txBody>
      </p:sp>
      <p:sp>
        <p:nvSpPr>
          <p:cNvPr id="33" name="Up Arrow 32"/>
          <p:cNvSpPr/>
          <p:nvPr/>
        </p:nvSpPr>
        <p:spPr>
          <a:xfrm>
            <a:off x="3474720" y="4069080"/>
            <a:ext cx="365760" cy="457200"/>
          </a:xfrm>
          <a:prstGeom prst="upArrow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Up Arrow 33"/>
          <p:cNvSpPr/>
          <p:nvPr/>
        </p:nvSpPr>
        <p:spPr>
          <a:xfrm>
            <a:off x="6583680" y="4069080"/>
            <a:ext cx="365760" cy="457200"/>
          </a:xfrm>
          <a:prstGeom prst="upArrow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10972800" y="644652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0000"/>
              </a:lnSpc>
            </a:pPr>
            <a:r>
              <a:rPr sz="900" b="0" i="0">
                <a:solidFill>
                  <a:srgbClr val="5B6472"/>
                </a:solidFill>
                <a:latin typeface="Calibri"/>
              </a:rPr>
              <a:t>6 / 15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47472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1" i="0">
                <a:solidFill>
                  <a:srgbClr val="2563EB"/>
                </a:solidFill>
                <a:latin typeface="Calibri"/>
              </a:rPr>
              <a:t>開発内容 1 / 3   (Rust)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21792"/>
            <a:ext cx="1115568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800" b="1" i="0">
                <a:solidFill>
                  <a:srgbClr val="1F2937"/>
                </a:solidFill>
                <a:latin typeface="Cambria"/>
              </a:rPr>
              <a:t>①  エンジン本体の改造 — 新しい文法を追加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691640"/>
            <a:ext cx="57607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600" b="1" i="0">
                <a:solidFill>
                  <a:srgbClr val="1F2937"/>
                </a:solidFill>
                <a:latin typeface="Calibri"/>
              </a:rPr>
              <a:t>Hayabusa の「ルールの書き方」自体を拡張しました。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2377440"/>
            <a:ext cx="57607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 i="0">
                <a:solidFill>
                  <a:srgbClr val="1F2937"/>
                </a:solidFill>
                <a:latin typeface="Calibri"/>
              </a:rPr>
              <a:t>ルールに 1 行、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2788920"/>
            <a:ext cx="57607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100" b="1" i="0">
                <a:solidFill>
                  <a:srgbClr val="1D4ED8"/>
                </a:solidFill>
                <a:latin typeface="Cambria"/>
              </a:rPr>
              <a:t>「このリストに載っていたら警告して」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3383280"/>
            <a:ext cx="57607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 i="0">
                <a:solidFill>
                  <a:srgbClr val="1F2937"/>
                </a:solidFill>
                <a:latin typeface="Calibri"/>
              </a:rPr>
              <a:t>と書けるようにする機能 (lookup:) を、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3794760"/>
            <a:ext cx="57607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 i="0">
                <a:solidFill>
                  <a:srgbClr val="1F2937"/>
                </a:solidFill>
                <a:latin typeface="Calibri"/>
              </a:rPr>
              <a:t>エンジンのソースコード (Rust) に追加。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4572000"/>
            <a:ext cx="5760720" cy="1600200"/>
          </a:xfrm>
          <a:prstGeom prst="roundRect">
            <a:avLst/>
          </a:prstGeom>
          <a:solidFill>
            <a:srgbClr val="E8F0FE"/>
          </a:solidFill>
          <a:ln w="9525">
            <a:solidFill>
              <a:srgbClr val="E8F0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4736592"/>
            <a:ext cx="53949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 b="1" i="0">
                <a:solidFill>
                  <a:srgbClr val="1F2937"/>
                </a:solidFill>
                <a:latin typeface="Calibri"/>
              </a:rPr>
              <a:t>💡 これで何が嬉しい?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5138928"/>
            <a:ext cx="5394960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200" b="0" i="0">
                <a:solidFill>
                  <a:srgbClr val="5B6472"/>
                </a:solidFill>
                <a:latin typeface="Calibri"/>
              </a:rPr>
              <a:t>世界中で共有されている「悪いものリスト」(約 8 万件) を、
ルールを書き換えずにそのまま検知に使えるようになった。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675120" y="1691640"/>
            <a:ext cx="4983480" cy="3108960"/>
          </a:xfrm>
          <a:prstGeom prst="roundRect">
            <a:avLst/>
          </a:prstGeom>
          <a:solidFill>
            <a:srgbClr val="0F172A"/>
          </a:solidFill>
          <a:ln w="9525">
            <a:solidFill>
              <a:srgbClr val="0F17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949440" y="1874519"/>
            <a:ext cx="4480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94A3B8"/>
                </a:solidFill>
                <a:latin typeface="Consolas"/>
              </a:rPr>
              <a:t>自作ルールの実例 (簡略化)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49440" y="2240280"/>
            <a:ext cx="448056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0" i="0">
                <a:solidFill>
                  <a:srgbClr val="CBD5E1"/>
                </a:solidFill>
                <a:latin typeface="Consolas"/>
              </a:rPr>
              <a:t>title: 危険なドライバの読み込みを検知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949440" y="2564892"/>
            <a:ext cx="448056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0" i="0">
                <a:solidFill>
                  <a:srgbClr val="7DD3FC"/>
                </a:solidFill>
                <a:latin typeface="Consolas"/>
              </a:rPr>
              <a:t>lookup: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949440" y="2889504"/>
            <a:ext cx="448056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0" i="0">
                <a:solidFill>
                  <a:srgbClr val="7DD3FC"/>
                </a:solidFill>
                <a:latin typeface="Consolas"/>
              </a:rPr>
              <a:t>  - name: lol_drivers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949440" y="3214116"/>
            <a:ext cx="448056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0" i="0">
                <a:solidFill>
                  <a:srgbClr val="7DD3FC"/>
                </a:solidFill>
                <a:latin typeface="Consolas"/>
              </a:rPr>
              <a:t>    file: loldrivers.txt  # 悪い指紋 1,929 件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949440" y="3538728"/>
            <a:ext cx="448056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0" i="0">
                <a:solidFill>
                  <a:srgbClr val="CBD5E1"/>
                </a:solidFill>
                <a:latin typeface="Consolas"/>
              </a:rPr>
              <a:t>detection: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949440" y="3863339"/>
            <a:ext cx="448056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0" i="0">
                <a:solidFill>
                  <a:srgbClr val="7DD3FC"/>
                </a:solidFill>
                <a:latin typeface="Consolas"/>
              </a:rPr>
              <a:t>  Hashes|lookup: lol_drivers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949440" y="4187952"/>
            <a:ext cx="448056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0" i="0">
                <a:solidFill>
                  <a:srgbClr val="94A3B8"/>
                </a:solidFill>
                <a:latin typeface="Consolas"/>
              </a:rPr>
              <a:t>           ↑ 追加した新しい文法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949440" y="4512564"/>
            <a:ext cx="448056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0" i="0">
                <a:solidFill>
                  <a:srgbClr val="CBD5E1"/>
                </a:solidFill>
                <a:latin typeface="Consolas"/>
              </a:rPr>
              <a:t>level: critical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675120" y="5029200"/>
            <a:ext cx="4983480" cy="114300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D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675120" y="5029200"/>
            <a:ext cx="73152" cy="1143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903720" y="5175504"/>
            <a:ext cx="45720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1" i="0">
                <a:solidFill>
                  <a:srgbClr val="1F2937"/>
                </a:solidFill>
                <a:latin typeface="Calibri"/>
              </a:rPr>
              <a:t>この「悪い指紋リスト」は世界中の研究者が集めた公開情報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903720" y="5550408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0" i="0">
                <a:solidFill>
                  <a:srgbClr val="5B6472"/>
                </a:solidFill>
                <a:latin typeface="Calibri"/>
              </a:rPr>
              <a:t>(例: loldrivers.io の悪用ドライバ一覧)。出どころと処理の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903720" y="5861304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0" i="0">
                <a:solidFill>
                  <a:srgbClr val="5B6472"/>
                </a:solidFill>
                <a:latin typeface="Calibri"/>
              </a:rPr>
              <a:t>流れは次ページで説明します。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972800" y="644652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0000"/>
              </a:lnSpc>
            </a:pPr>
            <a:r>
              <a:rPr sz="900" b="0" i="0">
                <a:solidFill>
                  <a:srgbClr val="5B6472"/>
                </a:solidFill>
                <a:latin typeface="Calibri"/>
              </a:rPr>
              <a:t>7 / 15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47472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1" i="0">
                <a:solidFill>
                  <a:srgbClr val="2563EB"/>
                </a:solidFill>
                <a:latin typeface="Calibri"/>
              </a:rPr>
              <a:t>開発内容① の中身   (内部フロー)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21792"/>
            <a:ext cx="1115568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800" b="1" i="0">
                <a:solidFill>
                  <a:srgbClr val="1F2937"/>
                </a:solidFill>
                <a:latin typeface="Cambria"/>
              </a:rPr>
              <a:t>lookup の内部フロー — リストはどこから来て、どう照合されるか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627632"/>
            <a:ext cx="1106424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 b="0" i="1">
                <a:solidFill>
                  <a:srgbClr val="5B6472"/>
                </a:solidFill>
                <a:latin typeface="Calibri"/>
              </a:rPr>
              <a:t>具体例: 「悪用される脆弱ドライバの読み込み (BYOVD)」を検知するまでの流れ。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103120"/>
            <a:ext cx="3200400" cy="1874519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D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2103120"/>
            <a:ext cx="73152" cy="1874519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49808" y="2249424"/>
            <a:ext cx="7315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300" b="0" i="0">
                <a:solidFill>
                  <a:srgbClr val="2563EB"/>
                </a:solidFill>
                <a:latin typeface="Calibri"/>
              </a:rPr>
              <a:t>🌐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89888" y="2286000"/>
            <a:ext cx="22402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450" b="1" i="0">
                <a:solidFill>
                  <a:srgbClr val="1F2937"/>
                </a:solidFill>
                <a:latin typeface="Cambria"/>
              </a:rPr>
              <a:t>loldrivers.io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8096" y="2834639"/>
            <a:ext cx="2788920" cy="77723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100" b="0" i="0">
                <a:solidFill>
                  <a:srgbClr val="5B6472"/>
                </a:solidFill>
                <a:latin typeface="Calibri"/>
              </a:rPr>
              <a:t>世界中の研究者が集めた
「悪用される脆弱ドライバ」の
ハッシュ一覧 (誰でも入手可・無料)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8096" y="3630168"/>
            <a:ext cx="27889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1" i="0">
                <a:solidFill>
                  <a:srgbClr val="2563EB"/>
                </a:solidFill>
                <a:latin typeface="Consolas"/>
              </a:rPr>
              <a:t>出どころ (Source)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3803904" y="2852927"/>
            <a:ext cx="457200" cy="365760"/>
          </a:xfrm>
          <a:prstGeom prst="rightArrow">
            <a:avLst/>
          </a:prstGeom>
          <a:solidFill>
            <a:srgbClr val="5B64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4315968" y="2103120"/>
            <a:ext cx="3200400" cy="1874519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D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315968" y="2103120"/>
            <a:ext cx="73152" cy="1874519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17136" y="2249424"/>
            <a:ext cx="7315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300" b="0" i="0">
                <a:solidFill>
                  <a:srgbClr val="2563EB"/>
                </a:solidFill>
                <a:latin typeface="Calibri"/>
              </a:rPr>
              <a:t>⬇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157216" y="2286000"/>
            <a:ext cx="22402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450" b="1" i="0">
                <a:solidFill>
                  <a:srgbClr val="1F2937"/>
                </a:solidFill>
                <a:latin typeface="Cambria"/>
              </a:rPr>
              <a:t>取得して整形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35424" y="2834639"/>
            <a:ext cx="2788920" cy="77723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100" b="0" i="0">
                <a:solidFill>
                  <a:srgbClr val="5B6472"/>
                </a:solidFill>
                <a:latin typeface="Calibri"/>
              </a:rPr>
              <a:t>CSV を取得し、1 行 1 ハッシュの
テキストに変換して保存する
(GUI のボタン 1 つで実行)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35424" y="3630168"/>
            <a:ext cx="27889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1" i="0">
                <a:solidFill>
                  <a:srgbClr val="2563EB"/>
                </a:solidFill>
                <a:latin typeface="Consolas"/>
              </a:rPr>
              <a:t>→ loldrivers.txt (1,929 件)</a:t>
            </a:r>
          </a:p>
        </p:txBody>
      </p:sp>
      <p:sp>
        <p:nvSpPr>
          <p:cNvPr id="19" name="Right Arrow 18"/>
          <p:cNvSpPr/>
          <p:nvPr/>
        </p:nvSpPr>
        <p:spPr>
          <a:xfrm>
            <a:off x="7571231" y="2852927"/>
            <a:ext cx="457200" cy="365760"/>
          </a:xfrm>
          <a:prstGeom prst="rightArrow">
            <a:avLst/>
          </a:prstGeom>
          <a:solidFill>
            <a:srgbClr val="5B64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8083296" y="2103120"/>
            <a:ext cx="3200400" cy="1874519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D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083296" y="2103120"/>
            <a:ext cx="73152" cy="1874519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84464" y="2249424"/>
            <a:ext cx="7315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300" b="0" i="0">
                <a:solidFill>
                  <a:srgbClr val="2563EB"/>
                </a:solidFill>
                <a:latin typeface="Calibri"/>
              </a:rPr>
              <a:t>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924544" y="2286000"/>
            <a:ext cx="22402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450" b="1" i="0">
                <a:solidFill>
                  <a:srgbClr val="1F2937"/>
                </a:solidFill>
                <a:latin typeface="Cambria"/>
              </a:rPr>
              <a:t>起動時に記憶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302752" y="2834639"/>
            <a:ext cx="2788920" cy="77723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100" b="0" i="0">
                <a:solidFill>
                  <a:srgbClr val="5B6472"/>
                </a:solidFill>
                <a:latin typeface="Calibri"/>
              </a:rPr>
              <a:t>エンジン起動時に一度だけ読み込み、
メモリ上の高速な表に保持する
(RwLock&lt;HashMap&gt;)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302752" y="3630168"/>
            <a:ext cx="27889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1" i="0">
                <a:solidFill>
                  <a:srgbClr val="2563EB"/>
                </a:solidFill>
                <a:latin typeface="Consolas"/>
              </a:rPr>
              <a:t>Rust・読み込みは起動時の 1 回だけ</a:t>
            </a:r>
          </a:p>
        </p:txBody>
      </p:sp>
      <p:sp>
        <p:nvSpPr>
          <p:cNvPr id="26" name="Down Arrow 25"/>
          <p:cNvSpPr/>
          <p:nvPr/>
        </p:nvSpPr>
        <p:spPr>
          <a:xfrm>
            <a:off x="5897880" y="4069080"/>
            <a:ext cx="411480" cy="384048"/>
          </a:xfrm>
          <a:prstGeom prst="downArrow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446520" y="4114800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1" i="1">
                <a:solidFill>
                  <a:srgbClr val="1D4ED8"/>
                </a:solidFill>
                <a:latin typeface="Calibri"/>
              </a:rPr>
              <a:t>スキャン実行中 — ログを 1 件ずつ処理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1280160" y="4526280"/>
            <a:ext cx="429768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D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1280160" y="4526280"/>
            <a:ext cx="73152" cy="141732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481328" y="4672584"/>
            <a:ext cx="7315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300" b="0" i="0">
                <a:solidFill>
                  <a:srgbClr val="2563EB"/>
                </a:solidFill>
                <a:latin typeface="Calibri"/>
              </a:rPr>
              <a:t>🔍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121408" y="4709160"/>
            <a:ext cx="33375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450" b="1" i="0">
                <a:solidFill>
                  <a:srgbClr val="1F2937"/>
                </a:solidFill>
                <a:latin typeface="Cambria"/>
              </a:rPr>
              <a:t>ログ 1 件ごとに照合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499616" y="5257800"/>
            <a:ext cx="3886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100" b="0" i="0">
                <a:solidFill>
                  <a:srgbClr val="5B6472"/>
                </a:solidFill>
                <a:latin typeface="Calibri"/>
              </a:rPr>
              <a:t>Sysmon EID 6 (ドライバ読込) の
ハッシュを、記憶した表と突合。
1 件あたりほぼ一瞬 (O(1))</a:t>
            </a:r>
          </a:p>
        </p:txBody>
      </p:sp>
      <p:sp>
        <p:nvSpPr>
          <p:cNvPr id="33" name="Right Arrow 32"/>
          <p:cNvSpPr/>
          <p:nvPr/>
        </p:nvSpPr>
        <p:spPr>
          <a:xfrm>
            <a:off x="5650992" y="5029200"/>
            <a:ext cx="502920" cy="365760"/>
          </a:xfrm>
          <a:prstGeom prst="rightArrow">
            <a:avLst/>
          </a:prstGeom>
          <a:solidFill>
            <a:srgbClr val="5B64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ounded Rectangle 33"/>
          <p:cNvSpPr/>
          <p:nvPr/>
        </p:nvSpPr>
        <p:spPr>
          <a:xfrm>
            <a:off x="6355080" y="4526280"/>
            <a:ext cx="429768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D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6355080" y="4526280"/>
            <a:ext cx="73152" cy="1417320"/>
          </a:xfrm>
          <a:prstGeom prst="rect">
            <a:avLst/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556248" y="4672584"/>
            <a:ext cx="7315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300" b="0" i="0">
                <a:solidFill>
                  <a:srgbClr val="DC2626"/>
                </a:solidFill>
                <a:latin typeface="Calibri"/>
              </a:rPr>
              <a:t>🚨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196328" y="4709160"/>
            <a:ext cx="33375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450" b="1" i="0">
                <a:solidFill>
                  <a:srgbClr val="DC2626"/>
                </a:solidFill>
                <a:latin typeface="Cambria"/>
              </a:rPr>
              <a:t>一致したら critical 通知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574536" y="5257800"/>
            <a:ext cx="3886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100" b="0" i="0">
                <a:solidFill>
                  <a:srgbClr val="5B6472"/>
                </a:solidFill>
                <a:latin typeface="Calibri"/>
              </a:rPr>
              <a:t>既知の悪用ドライバが読み込まれた
= BYOVD 攻撃の痕跡。
最高レベル (critical) で警告。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48640" y="6053328"/>
            <a:ext cx="110642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i="0">
                <a:solidFill>
                  <a:srgbClr val="1D4ED8"/>
                </a:solidFill>
                <a:latin typeface="Calibri"/>
              </a:rPr>
              <a:t>ポイント:  リストが何万件に増えても照合速度は一定。ルール本文は 1 行のまま、リスト側を更新するだけで最新の脅威に追従できる。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0972800" y="644652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0000"/>
              </a:lnSpc>
            </a:pPr>
            <a:r>
              <a:rPr sz="900" b="0" i="0">
                <a:solidFill>
                  <a:srgbClr val="5B6472"/>
                </a:solidFill>
                <a:latin typeface="Calibri"/>
              </a:rPr>
              <a:t>8 / 15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47472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1" i="0">
                <a:solidFill>
                  <a:srgbClr val="2563EB"/>
                </a:solidFill>
                <a:latin typeface="Calibri"/>
              </a:rPr>
              <a:t>開発内容 2 / 3   (検知ルール)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21792"/>
            <a:ext cx="1115568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800" b="1" i="0">
                <a:solidFill>
                  <a:srgbClr val="1F2937"/>
                </a:solidFill>
                <a:latin typeface="Cambria"/>
              </a:rPr>
              <a:t>②  攻撃を見抜く検知ルールを 13 本自作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645920"/>
            <a:ext cx="110642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1" i="1">
                <a:solidFill>
                  <a:srgbClr val="1D4ED8"/>
                </a:solidFill>
                <a:latin typeface="Calibri"/>
              </a:rPr>
              <a:t>着眼点: 攻撃者は必ず「証拠隠し」をする。なら、消す行為そのものを検知すればいい。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286000"/>
            <a:ext cx="2697480" cy="292608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D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2286000"/>
            <a:ext cx="73152" cy="292608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2468880"/>
            <a:ext cx="9144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3000" b="0" i="0">
                <a:solidFill>
                  <a:srgbClr val="2563EB"/>
                </a:solidFill>
                <a:latin typeface="Calibri"/>
              </a:rPr>
              <a:t>🧹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3154680"/>
            <a:ext cx="24231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700" b="1" i="0">
                <a:solidFill>
                  <a:srgbClr val="1F2937"/>
                </a:solidFill>
                <a:latin typeface="Cambria"/>
              </a:rPr>
              <a:t>ログの消去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3657600"/>
            <a:ext cx="2331720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 b="0" i="0">
                <a:solidFill>
                  <a:srgbClr val="1F2937"/>
                </a:solidFill>
                <a:latin typeface="Calibri"/>
              </a:rPr>
              <a:t>調査の手がかりになる
ログを消すコマンドの実行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4617720"/>
            <a:ext cx="23317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1">
                <a:solidFill>
                  <a:srgbClr val="5B6472"/>
                </a:solidFill>
                <a:latin typeface="Calibri"/>
              </a:rPr>
              <a:t>(wevtutil 等)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429000" y="2286000"/>
            <a:ext cx="2697480" cy="292608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D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429000" y="2286000"/>
            <a:ext cx="73152" cy="292608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611880" y="2468880"/>
            <a:ext cx="9144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3000" b="0" i="0">
                <a:solidFill>
                  <a:srgbClr val="2563EB"/>
                </a:solidFill>
                <a:latin typeface="Calibri"/>
              </a:rPr>
              <a:t>💣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11880" y="3154680"/>
            <a:ext cx="24231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700" b="1" i="0">
                <a:solidFill>
                  <a:srgbClr val="1F2937"/>
                </a:solidFill>
                <a:latin typeface="Cambria"/>
              </a:rPr>
              <a:t>復元データの削除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11880" y="3657600"/>
            <a:ext cx="2331720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 b="0" i="0">
                <a:solidFill>
                  <a:srgbClr val="1F2937"/>
                </a:solidFill>
                <a:latin typeface="Calibri"/>
              </a:rPr>
              <a:t>バックアップを消す行為
(ランサムウェアの前兆)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11880" y="4617720"/>
            <a:ext cx="23317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1">
                <a:solidFill>
                  <a:srgbClr val="5B6472"/>
                </a:solidFill>
                <a:latin typeface="Calibri"/>
              </a:rPr>
              <a:t>(シャドウコピー削除)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309360" y="2286000"/>
            <a:ext cx="2697480" cy="292608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D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309360" y="2286000"/>
            <a:ext cx="73152" cy="292608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92240" y="2468880"/>
            <a:ext cx="9144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3000" b="0" i="0">
                <a:solidFill>
                  <a:srgbClr val="2563EB"/>
                </a:solidFill>
                <a:latin typeface="Calibri"/>
              </a:rPr>
              <a:t>🙈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92240" y="3154680"/>
            <a:ext cx="24231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700" b="1" i="0">
                <a:solidFill>
                  <a:srgbClr val="1F2937"/>
                </a:solidFill>
                <a:latin typeface="Cambria"/>
              </a:rPr>
              <a:t>監視の無効化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92240" y="3657600"/>
            <a:ext cx="2331720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 b="0" i="0">
                <a:solidFill>
                  <a:srgbClr val="1F2937"/>
                </a:solidFill>
                <a:latin typeface="Calibri"/>
              </a:rPr>
              <a:t>ログを記録する機能や
監査そのものを止める行為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92240" y="4617720"/>
            <a:ext cx="23317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1">
                <a:solidFill>
                  <a:srgbClr val="5B6472"/>
                </a:solidFill>
                <a:latin typeface="Calibri"/>
              </a:rPr>
              <a:t>(監査ポリシー改変)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189720" y="2286000"/>
            <a:ext cx="2697480" cy="292608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D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9189720" y="2286000"/>
            <a:ext cx="73152" cy="292608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372600" y="2468880"/>
            <a:ext cx="9144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3000" b="0" i="0">
                <a:solidFill>
                  <a:srgbClr val="2563EB"/>
                </a:solidFill>
                <a:latin typeface="Calibri"/>
              </a:rPr>
              <a:t>🔑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372600" y="3154680"/>
            <a:ext cx="24231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700" b="1" i="0">
                <a:solidFill>
                  <a:srgbClr val="1F2937"/>
                </a:solidFill>
                <a:latin typeface="Cambria"/>
              </a:rPr>
              <a:t>パスワード抜き取り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372600" y="3657600"/>
            <a:ext cx="2331720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 b="0" i="0">
                <a:solidFill>
                  <a:srgbClr val="1F2937"/>
                </a:solidFill>
                <a:latin typeface="Calibri"/>
              </a:rPr>
              <a:t>Windows が記憶している
認証情報への不正アクセス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372600" y="4617720"/>
            <a:ext cx="23317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1">
                <a:solidFill>
                  <a:srgbClr val="5B6472"/>
                </a:solidFill>
                <a:latin typeface="Calibri"/>
              </a:rPr>
              <a:t>(LSASS ダンプ)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48640" y="5486400"/>
            <a:ext cx="11064240" cy="868680"/>
          </a:xfrm>
          <a:prstGeom prst="roundRect">
            <a:avLst/>
          </a:prstGeom>
          <a:solidFill>
            <a:srgbClr val="E8F0FE"/>
          </a:solidFill>
          <a:ln w="9525">
            <a:solidFill>
              <a:srgbClr val="E8F0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68680" y="5486400"/>
            <a:ext cx="10515600" cy="8686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350" b="0" i="0">
                <a:solidFill>
                  <a:srgbClr val="1F2937"/>
                </a:solidFill>
                <a:latin typeface="Calibri"/>
              </a:rPr>
              <a:t>誤検知を減らす工夫:  1 つの特徴では鳴らさず、複数の特徴が同時に揃ったときだけ警告する設計に。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972800" y="644652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0000"/>
              </a:lnSpc>
            </a:pPr>
            <a:r>
              <a:rPr sz="900" b="0" i="0">
                <a:solidFill>
                  <a:srgbClr val="5B6472"/>
                </a:solidFill>
                <a:latin typeface="Calibri"/>
              </a:rPr>
              <a:t>9 / 15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47472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1" i="0">
                <a:solidFill>
                  <a:srgbClr val="2563EB"/>
                </a:solidFill>
                <a:latin typeface="Calibri"/>
              </a:rPr>
              <a:t>開発内容② の中身   (検知のしくみ)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21792"/>
            <a:ext cx="1115568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800" b="1" i="0">
                <a:solidFill>
                  <a:srgbClr val="1F2937"/>
                </a:solidFill>
                <a:latin typeface="Cambria"/>
              </a:rPr>
              <a:t>ルールが実際に「見ている」もの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591056"/>
            <a:ext cx="110642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 b="0" i="1">
                <a:solidFill>
                  <a:srgbClr val="5B6472"/>
                </a:solidFill>
                <a:latin typeface="Calibri"/>
              </a:rPr>
              <a:t>攻撃者が必ず行う「証拠隠し・準備」を、ログのどの項目で捕まえているか。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1938528"/>
            <a:ext cx="2194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1" i="0">
                <a:solidFill>
                  <a:srgbClr val="1D4ED8"/>
                </a:solidFill>
                <a:latin typeface="Calibri"/>
              </a:rPr>
              <a:t>検知する行為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926080" y="1938528"/>
            <a:ext cx="2286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1" i="0">
                <a:solidFill>
                  <a:srgbClr val="1D4ED8"/>
                </a:solidFill>
                <a:latin typeface="Calibri"/>
              </a:rPr>
              <a:t>見るログ (種類)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49240" y="1938528"/>
            <a:ext cx="3931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1" i="0">
                <a:solidFill>
                  <a:srgbClr val="1D4ED8"/>
                </a:solidFill>
                <a:latin typeface="Calibri"/>
              </a:rPr>
              <a:t>注目する手がかり (ログの項目)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464040" y="1938528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1" i="0">
                <a:solidFill>
                  <a:srgbClr val="1D4ED8"/>
                </a:solidFill>
                <a:latin typeface="Calibri"/>
              </a:rPr>
              <a:t>ひとこと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286000"/>
            <a:ext cx="11064240" cy="84124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D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" y="2286000"/>
            <a:ext cx="73152" cy="841248"/>
          </a:xfrm>
          <a:prstGeom prst="rect">
            <a:avLst/>
          </a:prstGeom>
          <a:solidFill>
            <a:srgbClr val="EA58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76656" y="2286000"/>
            <a:ext cx="502920" cy="8412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2000" b="0" i="0">
                <a:solidFill>
                  <a:srgbClr val="EA580C"/>
                </a:solidFill>
                <a:latin typeface="Calibri"/>
              </a:rPr>
              <a:t>🧹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88720" y="2441448"/>
            <a:ext cx="17373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i="0">
                <a:solidFill>
                  <a:srgbClr val="1F2937"/>
                </a:solidFill>
                <a:latin typeface="Cambria"/>
              </a:rPr>
              <a:t>ログの消去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88720" y="2798064"/>
            <a:ext cx="17373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00" b="1" i="0">
                <a:solidFill>
                  <a:srgbClr val="EA580C"/>
                </a:solidFill>
                <a:latin typeface="Consolas"/>
              </a:rPr>
              <a:t>high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926080" y="2286000"/>
            <a:ext cx="2286000" cy="8412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2000"/>
              </a:lnSpc>
            </a:pPr>
            <a:r>
              <a:rPr sz="1050" b="0" i="0">
                <a:solidFill>
                  <a:srgbClr val="1F2937"/>
                </a:solidFill>
                <a:latin typeface="Calibri"/>
              </a:rPr>
              <a:t>プロセス起動
Sysmon EID 1 / Security 4688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349240" y="2286000"/>
            <a:ext cx="3931920" cy="8412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2000"/>
              </a:lnSpc>
            </a:pPr>
            <a:r>
              <a:rPr sz="1000" b="0" i="0">
                <a:solidFill>
                  <a:srgbClr val="1D4ED8"/>
                </a:solidFill>
                <a:latin typeface="Consolas"/>
              </a:rPr>
              <a:t>Image:  …\wevtutil.exe
CommandLine:  " cl " (=消去)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464040" y="2286000"/>
            <a:ext cx="2103120" cy="8412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5B6472"/>
                </a:solidFill>
                <a:latin typeface="Calibri"/>
              </a:rPr>
              <a:t>消すコマンド
自体がログに残る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3172968"/>
            <a:ext cx="11064240" cy="84124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D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48640" y="3172968"/>
            <a:ext cx="73152" cy="841248"/>
          </a:xfrm>
          <a:prstGeom prst="rect">
            <a:avLst/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76656" y="3172968"/>
            <a:ext cx="502920" cy="8412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2000" b="0" i="0">
                <a:solidFill>
                  <a:srgbClr val="DC2626"/>
                </a:solidFill>
                <a:latin typeface="Calibri"/>
              </a:rPr>
              <a:t>💣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88720" y="3328416"/>
            <a:ext cx="17373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i="0">
                <a:solidFill>
                  <a:srgbClr val="1F2937"/>
                </a:solidFill>
                <a:latin typeface="Cambria"/>
              </a:rPr>
              <a:t>復元データの削除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88720" y="3685032"/>
            <a:ext cx="17373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00" b="1" i="0">
                <a:solidFill>
                  <a:srgbClr val="DC2626"/>
                </a:solidFill>
                <a:latin typeface="Consolas"/>
              </a:rPr>
              <a:t>critical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926080" y="3172968"/>
            <a:ext cx="2286000" cy="8412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2000"/>
              </a:lnSpc>
            </a:pPr>
            <a:r>
              <a:rPr sz="1050" b="0" i="0">
                <a:solidFill>
                  <a:srgbClr val="1F2937"/>
                </a:solidFill>
                <a:latin typeface="Calibri"/>
              </a:rPr>
              <a:t>プロセス起動
Sysmon EID 1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349240" y="3172968"/>
            <a:ext cx="3931920" cy="8412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2000"/>
              </a:lnSpc>
            </a:pPr>
            <a:r>
              <a:rPr sz="1000" b="0" i="0">
                <a:solidFill>
                  <a:srgbClr val="1D4ED8"/>
                </a:solidFill>
                <a:latin typeface="Consolas"/>
              </a:rPr>
              <a:t>Image:  …\vssadmin.exe 等
CommandLine:  delete + shadows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464040" y="3172968"/>
            <a:ext cx="2103120" cy="8412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5B6472"/>
                </a:solidFill>
                <a:latin typeface="Calibri"/>
              </a:rPr>
              <a:t>ランサムウェア
の前兆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48640" y="4059936"/>
            <a:ext cx="11064240" cy="84124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D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548640" y="4059936"/>
            <a:ext cx="73152" cy="841248"/>
          </a:xfrm>
          <a:prstGeom prst="rect">
            <a:avLst/>
          </a:prstGeom>
          <a:solidFill>
            <a:srgbClr val="EA58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76656" y="4059936"/>
            <a:ext cx="502920" cy="8412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2000" b="0" i="0">
                <a:solidFill>
                  <a:srgbClr val="EA580C"/>
                </a:solidFill>
                <a:latin typeface="Calibri"/>
              </a:rPr>
              <a:t>🙈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88720" y="4215384"/>
            <a:ext cx="17373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i="0">
                <a:solidFill>
                  <a:srgbClr val="1F2937"/>
                </a:solidFill>
                <a:latin typeface="Cambria"/>
              </a:rPr>
              <a:t>監視の無効化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188720" y="4572000"/>
            <a:ext cx="17373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00" b="1" i="0">
                <a:solidFill>
                  <a:srgbClr val="EA580C"/>
                </a:solidFill>
                <a:latin typeface="Consolas"/>
              </a:rPr>
              <a:t>high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926080" y="4059936"/>
            <a:ext cx="2286000" cy="8412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2000"/>
              </a:lnSpc>
            </a:pPr>
            <a:r>
              <a:rPr sz="1050" b="0" i="0">
                <a:solidFill>
                  <a:srgbClr val="1F2937"/>
                </a:solidFill>
                <a:latin typeface="Calibri"/>
              </a:rPr>
              <a:t>監査ポリシー変更
Security EID 4719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349240" y="4059936"/>
            <a:ext cx="3931920" cy="8412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2000"/>
              </a:lnSpc>
            </a:pPr>
            <a:r>
              <a:rPr sz="1000" b="0" i="0">
                <a:solidFill>
                  <a:srgbClr val="1D4ED8"/>
                </a:solidFill>
                <a:latin typeface="Consolas"/>
              </a:rPr>
              <a:t>AuditPolicyChanges:
Success/Failure removed
(かつ人間のアカウント)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464040" y="4059936"/>
            <a:ext cx="2103120" cy="8412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5B6472"/>
                </a:solidFill>
                <a:latin typeface="Calibri"/>
              </a:rPr>
              <a:t>記録を止めた
瞬間の 1 件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548640" y="4946904"/>
            <a:ext cx="11064240" cy="84124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D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548640" y="4946904"/>
            <a:ext cx="73152" cy="841248"/>
          </a:xfrm>
          <a:prstGeom prst="rect">
            <a:avLst/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76656" y="4946904"/>
            <a:ext cx="502920" cy="8412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2000" b="0" i="0">
                <a:solidFill>
                  <a:srgbClr val="DC2626"/>
                </a:solidFill>
                <a:latin typeface="Calibri"/>
              </a:rPr>
              <a:t>🔑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188720" y="5102352"/>
            <a:ext cx="17373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i="0">
                <a:solidFill>
                  <a:srgbClr val="1F2937"/>
                </a:solidFill>
                <a:latin typeface="Cambria"/>
              </a:rPr>
              <a:t>パスワード抜き取り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188720" y="5458968"/>
            <a:ext cx="17373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00" b="1" i="0">
                <a:solidFill>
                  <a:srgbClr val="DC2626"/>
                </a:solidFill>
                <a:latin typeface="Consolas"/>
              </a:rPr>
              <a:t>critical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926080" y="4946904"/>
            <a:ext cx="2286000" cy="8412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2000"/>
              </a:lnSpc>
            </a:pPr>
            <a:r>
              <a:rPr sz="1050" b="0" i="0">
                <a:solidFill>
                  <a:srgbClr val="1F2937"/>
                </a:solidFill>
                <a:latin typeface="Calibri"/>
              </a:rPr>
              <a:t>プロセス起動
Sysmon EID 1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349240" y="4946904"/>
            <a:ext cx="3931920" cy="8412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2000"/>
              </a:lnSpc>
            </a:pPr>
            <a:r>
              <a:rPr sz="1000" b="0" i="0">
                <a:solidFill>
                  <a:srgbClr val="1D4ED8"/>
                </a:solidFill>
                <a:latin typeface="Consolas"/>
              </a:rPr>
              <a:t>Image:  …\rundll32.exe
CommandLine:  comsvcs + MiniDump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464040" y="4946904"/>
            <a:ext cx="2103120" cy="8412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5B6472"/>
                </a:solidFill>
                <a:latin typeface="Calibri"/>
              </a:rPr>
              <a:t>正規ツールの
悪用を見抜く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548640" y="5861304"/>
            <a:ext cx="11064240" cy="502920"/>
          </a:xfrm>
          <a:prstGeom prst="roundRect">
            <a:avLst/>
          </a:prstGeom>
          <a:solidFill>
            <a:srgbClr val="E8F0FE"/>
          </a:solidFill>
          <a:ln w="9525">
            <a:solidFill>
              <a:srgbClr val="E8F0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868680" y="5861304"/>
            <a:ext cx="1051560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150" b="0" i="0">
                <a:solidFill>
                  <a:srgbClr val="1F2937"/>
                </a:solidFill>
                <a:latin typeface="Calibri"/>
              </a:rPr>
              <a:t>共通の発想:  マルウェア本体は姿を変えられても、「ログ消去・復元点削除・監視停止・認証情報の窃取」は目的に直結し変えにくい。だから “行為そのもの” を見る。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0972800" y="644652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0000"/>
              </a:lnSpc>
            </a:pPr>
            <a:r>
              <a:rPr sz="900" b="0" i="0">
                <a:solidFill>
                  <a:srgbClr val="5B6472"/>
                </a:solidFill>
                <a:latin typeface="Calibri"/>
              </a:rPr>
              <a:t>10 / 15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47472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1" i="0">
                <a:solidFill>
                  <a:srgbClr val="2563EB"/>
                </a:solidFill>
                <a:latin typeface="Calibri"/>
              </a:rPr>
              <a:t>開発内容 3 / 3   (Python + JavaScript)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21792"/>
            <a:ext cx="1115568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800" b="1" i="0">
                <a:solidFill>
                  <a:srgbClr val="1F2937"/>
                </a:solidFill>
                <a:latin typeface="Cambria"/>
              </a:rPr>
              <a:t>③  結果を「読める」にする GUI をゼロから開発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783080"/>
            <a:ext cx="4846320" cy="137160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D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1783080"/>
            <a:ext cx="73152" cy="13716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947672"/>
            <a:ext cx="73152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600" b="0" i="0">
                <a:solidFill>
                  <a:srgbClr val="2563EB"/>
                </a:solidFill>
                <a:latin typeface="Calibri"/>
              </a:rPr>
              <a:t>🇯🇵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54480" y="1929384"/>
            <a:ext cx="36576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600" b="1" i="0">
                <a:solidFill>
                  <a:srgbClr val="1F2937"/>
                </a:solidFill>
                <a:latin typeface="Cambria"/>
              </a:rPr>
              <a:t>日本語の解説付き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54480" y="2350008"/>
            <a:ext cx="370332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i="0">
                <a:solidFill>
                  <a:srgbClr val="5B6472"/>
                </a:solidFill>
                <a:latin typeface="Calibri"/>
              </a:rPr>
              <a:t>検知をクリックすると「何が起きた?
次にどうする?」を日本語で表示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3337560"/>
            <a:ext cx="4846320" cy="137160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D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" y="3337560"/>
            <a:ext cx="73152" cy="13716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7240" y="3502152"/>
            <a:ext cx="73152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600" b="0" i="0">
                <a:solidFill>
                  <a:srgbClr val="2563EB"/>
                </a:solidFill>
                <a:latin typeface="Calibri"/>
              </a:rPr>
              <a:t>🚨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554480" y="3483864"/>
            <a:ext cx="36576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600" b="1" i="0">
                <a:solidFill>
                  <a:srgbClr val="1F2937"/>
                </a:solidFill>
                <a:latin typeface="Cambria"/>
              </a:rPr>
              <a:t>危険度ランキング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54480" y="3904487"/>
            <a:ext cx="370332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i="0">
                <a:solidFill>
                  <a:srgbClr val="5B6472"/>
                </a:solidFill>
                <a:latin typeface="Calibri"/>
              </a:rPr>
              <a:t>どの PC から調べるべきかを
自動採点して並べ替え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8640" y="4892040"/>
            <a:ext cx="4846320" cy="137160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D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48640" y="4892040"/>
            <a:ext cx="73152" cy="13716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77240" y="5056631"/>
            <a:ext cx="73152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600" b="0" i="0">
                <a:solidFill>
                  <a:srgbClr val="2563EB"/>
                </a:solidFill>
                <a:latin typeface="Calibri"/>
              </a:rPr>
              <a:t>📊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554480" y="5038344"/>
            <a:ext cx="36576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600" b="1" i="0">
                <a:solidFill>
                  <a:srgbClr val="1F2937"/>
                </a:solidFill>
                <a:latin typeface="Cambria"/>
              </a:rPr>
              <a:t>全体が一目で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54480" y="5458968"/>
            <a:ext cx="370332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i="0">
                <a:solidFill>
                  <a:srgbClr val="5B6472"/>
                </a:solidFill>
                <a:latin typeface="Calibri"/>
              </a:rPr>
              <a:t>重大度・時間の流れ・多い攻撃を
グラフで俯瞰</a:t>
            </a:r>
          </a:p>
        </p:txBody>
      </p:sp>
      <p:pic>
        <p:nvPicPr>
          <p:cNvPr id="20" name="Picture 19" descr="dashboa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84620" y="1691640"/>
            <a:ext cx="4450080" cy="4572000"/>
          </a:xfrm>
          <a:prstGeom prst="rect">
            <a:avLst/>
          </a:prstGeom>
          <a:ln w="12700">
            <a:solidFill>
              <a:srgbClr val="DDE3EE"/>
            </a:solidFill>
          </a:ln>
          <a:effectLst/>
        </p:spPr>
      </p:pic>
      <p:sp>
        <p:nvSpPr>
          <p:cNvPr id="21" name="TextBox 20"/>
          <p:cNvSpPr txBox="1"/>
          <p:nvPr/>
        </p:nvSpPr>
        <p:spPr>
          <a:xfrm>
            <a:off x="5760720" y="6309360"/>
            <a:ext cx="58978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1100" b="0" i="0">
                <a:solidFill>
                  <a:srgbClr val="5B6472"/>
                </a:solidFill>
                <a:latin typeface="Calibri"/>
              </a:rPr>
              <a:t>▲ 実際の画面 (ブラウザで動作・データは外部に送らない)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972800" y="644652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0000"/>
              </a:lnSpc>
            </a:pPr>
            <a:r>
              <a:rPr sz="900" b="0" i="0">
                <a:solidFill>
                  <a:srgbClr val="5B6472"/>
                </a:solidFill>
                <a:latin typeface="Calibri"/>
              </a:rPr>
              <a:t>11 / 15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47472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1" i="0">
                <a:solidFill>
                  <a:srgbClr val="2563EB"/>
                </a:solidFill>
                <a:latin typeface="Calibri"/>
              </a:rPr>
              <a:t>開発内容 +α   (自作の統計分析)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21792"/>
            <a:ext cx="1115568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800" b="1" i="0">
                <a:solidFill>
                  <a:srgbClr val="1F2937"/>
                </a:solidFill>
                <a:latin typeface="Cambria"/>
              </a:rPr>
              <a:t>さらに: ルールでは書けない「いつもと違う」も検出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600200"/>
            <a:ext cx="109728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 i="1">
                <a:solidFill>
                  <a:srgbClr val="5B6472"/>
                </a:solidFill>
                <a:latin typeface="Calibri"/>
              </a:rPr>
              <a:t>ルールは 1 件ずつしか判定できない。そこで「全体の傾向」を統計で見る分析を自作しました。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240280"/>
            <a:ext cx="2697480" cy="260604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D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2240280"/>
            <a:ext cx="73152" cy="260604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2386584"/>
            <a:ext cx="91440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600" b="0" i="0">
                <a:solidFill>
                  <a:srgbClr val="2563EB"/>
                </a:solidFill>
                <a:latin typeface="Calibri"/>
              </a:rPr>
              <a:t>🔥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2971800"/>
            <a:ext cx="24231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700" b="1" i="0">
                <a:solidFill>
                  <a:srgbClr val="1F2937"/>
                </a:solidFill>
                <a:latin typeface="Cambria"/>
              </a:rPr>
              <a:t>急増している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3456432"/>
            <a:ext cx="233172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 b="0" i="0">
                <a:solidFill>
                  <a:srgbClr val="1F2937"/>
                </a:solidFill>
                <a:latin typeface="Calibri"/>
              </a:rPr>
              <a:t>平常の数十〜数千倍の
動きが急に発生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4325112"/>
            <a:ext cx="23317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1">
                <a:solidFill>
                  <a:srgbClr val="5B6472"/>
                </a:solidFill>
                <a:latin typeface="Calibri"/>
              </a:rPr>
              <a:t>例: 大量のパスワード試行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429000" y="2240280"/>
            <a:ext cx="2697480" cy="260604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D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429000" y="2240280"/>
            <a:ext cx="73152" cy="260604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611880" y="2386584"/>
            <a:ext cx="91440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600" b="0" i="0">
                <a:solidFill>
                  <a:srgbClr val="2563EB"/>
                </a:solidFill>
                <a:latin typeface="Calibri"/>
              </a:rPr>
              <a:t>🌐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11880" y="2971800"/>
            <a:ext cx="24231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700" b="1" i="0">
                <a:solidFill>
                  <a:srgbClr val="1F2937"/>
                </a:solidFill>
                <a:latin typeface="Cambria"/>
              </a:rPr>
              <a:t>広がっている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11880" y="3456432"/>
            <a:ext cx="233172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 b="0" i="0">
                <a:solidFill>
                  <a:srgbClr val="1F2937"/>
                </a:solidFill>
                <a:latin typeface="Calibri"/>
              </a:rPr>
              <a:t>同じ動きが
複数の PC で同時発生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11880" y="4325112"/>
            <a:ext cx="23317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1">
                <a:solidFill>
                  <a:srgbClr val="5B6472"/>
                </a:solidFill>
                <a:latin typeface="Calibri"/>
              </a:rPr>
              <a:t>例: ウイルスが社内に拡大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309360" y="2240280"/>
            <a:ext cx="2697480" cy="260604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D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309360" y="2240280"/>
            <a:ext cx="73152" cy="260604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92240" y="2386584"/>
            <a:ext cx="91440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600" b="0" i="0">
                <a:solidFill>
                  <a:srgbClr val="2563EB"/>
                </a:solidFill>
                <a:latin typeface="Calibri"/>
              </a:rPr>
              <a:t>🤫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92240" y="2971800"/>
            <a:ext cx="24231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700" b="1" i="0">
                <a:solidFill>
                  <a:srgbClr val="1F2937"/>
                </a:solidFill>
                <a:latin typeface="Cambria"/>
              </a:rPr>
              <a:t>急に静かに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92240" y="3456432"/>
            <a:ext cx="233172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 b="0" i="0">
                <a:solidFill>
                  <a:srgbClr val="1F2937"/>
                </a:solidFill>
                <a:latin typeface="Calibri"/>
              </a:rPr>
              <a:t>普段活動している PC が
急にログを残さなくなる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92240" y="4325112"/>
            <a:ext cx="23317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1">
                <a:solidFill>
                  <a:srgbClr val="5B6472"/>
                </a:solidFill>
                <a:latin typeface="Calibri"/>
              </a:rPr>
              <a:t>例: 攻撃者がログを消した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189720" y="2240280"/>
            <a:ext cx="2697480" cy="260604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D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9189720" y="2240280"/>
            <a:ext cx="73152" cy="260604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372600" y="2386584"/>
            <a:ext cx="91440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600" b="0" i="0">
                <a:solidFill>
                  <a:srgbClr val="2563EB"/>
                </a:solidFill>
                <a:latin typeface="Calibri"/>
              </a:rPr>
              <a:t>🌙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372600" y="2971800"/>
            <a:ext cx="24231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700" b="1" i="0">
                <a:solidFill>
                  <a:srgbClr val="1F2937"/>
                </a:solidFill>
                <a:latin typeface="Cambria"/>
              </a:rPr>
              <a:t>時間外の活動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372600" y="3456432"/>
            <a:ext cx="233172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 b="0" i="0">
                <a:solidFill>
                  <a:srgbClr val="1F2937"/>
                </a:solidFill>
                <a:latin typeface="Calibri"/>
              </a:rPr>
              <a:t>深夜などの業務時間外に
重要な動きが発生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372600" y="4325112"/>
            <a:ext cx="23317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1">
                <a:solidFill>
                  <a:srgbClr val="5B6472"/>
                </a:solidFill>
                <a:latin typeface="Calibri"/>
              </a:rPr>
              <a:t>例: 業務外を狙った侵入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48640" y="5029200"/>
            <a:ext cx="11064240" cy="1371600"/>
          </a:xfrm>
          <a:prstGeom prst="roundRect">
            <a:avLst/>
          </a:prstGeom>
          <a:solidFill>
            <a:srgbClr val="E8F0FE"/>
          </a:solidFill>
          <a:ln w="9525">
            <a:solidFill>
              <a:srgbClr val="E8F0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14400" y="5230368"/>
            <a:ext cx="49377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50" b="1" i="0">
                <a:solidFill>
                  <a:srgbClr val="1F2937"/>
                </a:solidFill>
                <a:latin typeface="Calibri"/>
              </a:rPr>
              <a:t>📏 ルールによる検知 (既存の方法)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14400" y="5614416"/>
            <a:ext cx="493776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150" b="0" i="0">
                <a:solidFill>
                  <a:srgbClr val="5B6472"/>
                </a:solidFill>
                <a:latin typeface="Calibri"/>
              </a:rPr>
              <a:t>事前に知っている「悪い特徴」と一致したら警告。
既に知られている手口には確実で強い。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053328" y="5257800"/>
            <a:ext cx="16459" cy="914400"/>
          </a:xfrm>
          <a:prstGeom prst="rect">
            <a:avLst/>
          </a:prstGeom>
          <a:solidFill>
            <a:srgbClr val="DDE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400800" y="5230368"/>
            <a:ext cx="49377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50" b="1" i="0">
                <a:solidFill>
                  <a:srgbClr val="1D4ED8"/>
                </a:solidFill>
                <a:latin typeface="Calibri"/>
              </a:rPr>
              <a:t>📈 振舞いによる検知 (今回自作した分析)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400800" y="5614416"/>
            <a:ext cx="493776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150" b="0" i="0">
                <a:solidFill>
                  <a:srgbClr val="5B6472"/>
                </a:solidFill>
                <a:latin typeface="Calibri"/>
              </a:rPr>
              <a:t>「普段との違い」に反応して知らせる。
ルールがまだ無い未知の手口への「気づき」になる。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972800" y="644652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0000"/>
              </a:lnSpc>
            </a:pPr>
            <a:r>
              <a:rPr sz="900" b="0" i="0">
                <a:solidFill>
                  <a:srgbClr val="5B6472"/>
                </a:solidFill>
                <a:latin typeface="Calibri"/>
              </a:rPr>
              <a:t>12 / 15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25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502920"/>
            <a:ext cx="109728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4400" b="1" i="0">
                <a:solidFill>
                  <a:srgbClr val="FFFFFF"/>
                </a:solidFill>
                <a:latin typeface="Cambria"/>
              </a:rPr>
              <a:t>DEMO</a:t>
            </a:r>
          </a:p>
        </p:txBody>
      </p:sp>
      <p:pic>
        <p:nvPicPr>
          <p:cNvPr id="4" name="hayabusa-plus-demo.mp4">
            <a:hlinkClick r:id="" action="ppaction://media"/>
          </p:cNvPr>
          <p:cNvPicPr>
            <a:picLocks noChangeAspect="1"/>
          </p:cNvPicPr>
          <p:nvPr>
            <a:videoFile r:link="rId3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2255367" y="1417320"/>
            <a:ext cx="7680960" cy="4320540"/>
          </a:xfrm>
          <a:prstGeom prst="rect">
            <a:avLst/>
          </a:prstGeom>
          <a:ln w="12700">
            <a:solidFill>
              <a:srgbClr val="CADCFC"/>
            </a:solidFill>
          </a:ln>
        </p:spPr>
      </p:pic>
      <p:sp>
        <p:nvSpPr>
          <p:cNvPr id="5" name="TextBox 4"/>
          <p:cNvSpPr txBox="1"/>
          <p:nvPr/>
        </p:nvSpPr>
        <p:spPr>
          <a:xfrm>
            <a:off x="548640" y="5943600"/>
            <a:ext cx="109728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1500" b="0" i="1">
                <a:solidFill>
                  <a:srgbClr val="CADCFC"/>
                </a:solidFill>
                <a:latin typeface="Calibri"/>
              </a:rPr>
              <a:t>▶ クリックで再生 — 実際の画面の録画 (約 38 秒・字幕つき)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0" y="644652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0000"/>
              </a:lnSpc>
            </a:pPr>
            <a:r>
              <a:rPr sz="900" b="0" i="0">
                <a:solidFill>
                  <a:srgbClr val="CADCFC"/>
                </a:solidFill>
                <a:latin typeface="Calibri"/>
              </a:rPr>
              <a:t>13 / 15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video>
              <p:cMediaNode vol="80000">
                <p:cTn id="2" fill="hold" display="0">
                  <p:stCondLst>
                    <p:cond delay="indefinite"/>
                  </p:stCondLst>
                </p:cTn>
                <p:tgtEl>
                  <p:spTgt spid="4"/>
                </p:tgtEl>
              </p:cMediaNode>
            </p:video>
          </p:childTnLst>
        </p:cTn>
      </p:par>
    </p:tnLst>
  </p:timing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47472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1" i="0">
                <a:solidFill>
                  <a:srgbClr val="2563EB"/>
                </a:solidFill>
                <a:latin typeface="Calibri"/>
              </a:rPr>
              <a:t>成果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21792"/>
            <a:ext cx="1115568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800" b="1" i="0">
                <a:solidFill>
                  <a:srgbClr val="1F2937"/>
                </a:solidFill>
                <a:latin typeface="Cambria"/>
              </a:rPr>
              <a:t>まとめ — 開発したもの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783080"/>
            <a:ext cx="2697480" cy="329184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D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1783080"/>
            <a:ext cx="73152" cy="3291840"/>
          </a:xfrm>
          <a:prstGeom prst="rect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2194560"/>
            <a:ext cx="2368296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4000" b="1" i="0">
                <a:solidFill>
                  <a:srgbClr val="1D4ED8"/>
                </a:solidFill>
                <a:latin typeface="Cambria"/>
              </a:rPr>
              <a:t>新文法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3200400"/>
            <a:ext cx="26974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2000" b="0" i="0">
                <a:solidFill>
                  <a:srgbClr val="1F2937"/>
                </a:solidFill>
                <a:latin typeface="Cambria"/>
              </a:rPr>
              <a:t>lookup: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3840480"/>
            <a:ext cx="233172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0000"/>
              </a:lnSpc>
            </a:pPr>
            <a:r>
              <a:rPr sz="1200" b="0" i="0">
                <a:solidFill>
                  <a:srgbClr val="5B6472"/>
                </a:solidFill>
                <a:latin typeface="Calibri"/>
              </a:rPr>
              <a:t>エンジン本体 (Rust) を改造し
リスト照合機能を追加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429000" y="1783080"/>
            <a:ext cx="2697480" cy="329184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D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429000" y="1783080"/>
            <a:ext cx="73152" cy="3291840"/>
          </a:xfrm>
          <a:prstGeom prst="rect">
            <a:avLst/>
          </a:prstGeom>
          <a:solidFill>
            <a:srgbClr val="EA58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593592" y="2194560"/>
            <a:ext cx="2368296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4000" b="1" i="0">
                <a:solidFill>
                  <a:srgbClr val="EA580C"/>
                </a:solidFill>
                <a:latin typeface="Cambria"/>
              </a:rPr>
              <a:t>13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429000" y="3200400"/>
            <a:ext cx="26974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2000" b="0" i="0">
                <a:solidFill>
                  <a:srgbClr val="1F2937"/>
                </a:solidFill>
                <a:latin typeface="Cambria"/>
              </a:rPr>
              <a:t>本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11880" y="3840480"/>
            <a:ext cx="233172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0000"/>
              </a:lnSpc>
            </a:pPr>
            <a:r>
              <a:rPr sz="1200" b="0" i="0">
                <a:solidFill>
                  <a:srgbClr val="5B6472"/>
                </a:solidFill>
                <a:latin typeface="Calibri"/>
              </a:rPr>
              <a:t>攻撃を見抜く検知ルールを
自作 (痕跡隠蔽の検知など)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309360" y="1783080"/>
            <a:ext cx="2697480" cy="329184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D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309360" y="1783080"/>
            <a:ext cx="73152" cy="3291840"/>
          </a:xfrm>
          <a:prstGeom prst="rect">
            <a:avLst/>
          </a:prstGeom>
          <a:solidFill>
            <a:srgbClr val="CA8A0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73952" y="2194560"/>
            <a:ext cx="2368296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4000" b="1" i="0">
                <a:solidFill>
                  <a:srgbClr val="CA8A04"/>
                </a:solidFill>
                <a:latin typeface="Cambria"/>
              </a:rPr>
              <a:t>GUI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309360" y="3200400"/>
            <a:ext cx="26974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2000" b="0" i="0">
                <a:solidFill>
                  <a:srgbClr val="1F2937"/>
                </a:solidFill>
                <a:latin typeface="Cambria"/>
              </a:rPr>
              <a:t>ゼロから開発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92240" y="3840480"/>
            <a:ext cx="233172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0000"/>
              </a:lnSpc>
            </a:pPr>
            <a:r>
              <a:rPr sz="1200" b="0" i="0">
                <a:solidFill>
                  <a:srgbClr val="5B6472"/>
                </a:solidFill>
                <a:latin typeface="Calibri"/>
              </a:rPr>
              <a:t>結果を日本語で読み解く
調査画面を自作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189720" y="1783080"/>
            <a:ext cx="2697480" cy="329184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D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9189720" y="1783080"/>
            <a:ext cx="73152" cy="3291840"/>
          </a:xfrm>
          <a:prstGeom prst="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354312" y="2194560"/>
            <a:ext cx="2368296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4000" b="1" i="0">
                <a:solidFill>
                  <a:srgbClr val="16A34A"/>
                </a:solidFill>
                <a:latin typeface="Cambria"/>
              </a:rPr>
              <a:t>約8万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189720" y="3200400"/>
            <a:ext cx="26974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2000" b="0" i="0">
                <a:solidFill>
                  <a:srgbClr val="1F2937"/>
                </a:solidFill>
                <a:latin typeface="Cambria"/>
              </a:rPr>
              <a:t>件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372600" y="3840480"/>
            <a:ext cx="233172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0000"/>
              </a:lnSpc>
            </a:pPr>
            <a:r>
              <a:rPr sz="1200" b="0" i="0">
                <a:solidFill>
                  <a:srgbClr val="5B6472"/>
                </a:solidFill>
                <a:latin typeface="Calibri"/>
              </a:rPr>
              <a:t>「悪いものリスト」を
自動で取り込んで照合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48640" y="5440680"/>
            <a:ext cx="11064240" cy="1005840"/>
          </a:xfrm>
          <a:prstGeom prst="roundRect">
            <a:avLst/>
          </a:prstGeom>
          <a:solidFill>
            <a:srgbClr val="E8F0FE"/>
          </a:solidFill>
          <a:ln w="9525">
            <a:solidFill>
              <a:srgbClr val="E8F0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68680" y="5440680"/>
            <a:ext cx="10515600" cy="10058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 b="0" i="0">
                <a:solidFill>
                  <a:srgbClr val="1F2937"/>
                </a:solidFill>
                <a:latin typeface="Calibri"/>
              </a:rPr>
              <a:t>🚀 今後:  時間の流れを追った相関分析 (「A の後に B が起きたら怪しい」) や、AI による検知ルールの自動生成へ。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972800" y="644652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0000"/>
              </a:lnSpc>
            </a:pPr>
            <a:r>
              <a:rPr sz="900" b="0" i="0">
                <a:solidFill>
                  <a:srgbClr val="5B6472"/>
                </a:solidFill>
                <a:latin typeface="Calibri"/>
              </a:rPr>
              <a:t>14 / 15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25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371600"/>
            <a:ext cx="1097280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5600" b="1" i="0">
                <a:solidFill>
                  <a:srgbClr val="FFFFFF"/>
                </a:solidFill>
                <a:latin typeface="Cambria"/>
              </a:rPr>
              <a:t>ありがとうございました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2468880"/>
            <a:ext cx="109728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2200" b="0" i="1">
                <a:solidFill>
                  <a:srgbClr val="CADCFC"/>
                </a:solidFill>
                <a:latin typeface="Calibri"/>
              </a:rPr>
              <a:t>ご質問・フィードバックをお願いします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560320" y="3566160"/>
            <a:ext cx="7040880" cy="2011680"/>
          </a:xfrm>
          <a:prstGeom prst="roundRect">
            <a:avLst/>
          </a:prstGeom>
          <a:solidFill>
            <a:srgbClr val="273366"/>
          </a:solidFill>
          <a:ln w="9525">
            <a:solidFill>
              <a:srgbClr val="2733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834640" y="3749039"/>
            <a:ext cx="64922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0" i="0">
                <a:solidFill>
                  <a:srgbClr val="CADCFC"/>
                </a:solidFill>
                <a:latin typeface="Calibri"/>
              </a:rPr>
              <a:t>成果物はすべて GitHub で公開しています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834640" y="4114800"/>
            <a:ext cx="649224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400" b="1" i="0">
                <a:solidFill>
                  <a:srgbClr val="FFFFFF"/>
                </a:solidFill>
                <a:latin typeface="Consolas"/>
              </a:rPr>
              <a:t>github.com/Assy2005/hayabusa-plus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834640" y="4754880"/>
            <a:ext cx="64922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0" i="0">
                <a:solidFill>
                  <a:srgbClr val="CADCFC"/>
                </a:solidFill>
                <a:latin typeface="Calibri"/>
              </a:rPr>
              <a:t>ソースコード・検知ルール・設計書・この資料まで、どなたでも使えます (OSS)。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834640" y="5120640"/>
            <a:ext cx="64922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 i="1">
                <a:solidFill>
                  <a:srgbClr val="CADCFC"/>
                </a:solidFill>
                <a:latin typeface="Calibri"/>
              </a:rPr>
              <a:t>zip をダウンロード → 展開 → 実行、ですぐ試せます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621792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1200" b="0" i="1">
                <a:solidFill>
                  <a:srgbClr val="CADCFC"/>
                </a:solidFill>
                <a:latin typeface="Calibri"/>
              </a:rPr>
              <a:t>お手元の Windows PC のログで、ぜひ一度。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47472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1" i="0">
                <a:solidFill>
                  <a:srgbClr val="2563EB"/>
                </a:solidFill>
                <a:latin typeface="Calibri"/>
              </a:rPr>
              <a:t>Q&amp;A 用   — 攻撃の流れに沿って整理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21792"/>
            <a:ext cx="1115568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800" b="1" i="0">
                <a:solidFill>
                  <a:srgbClr val="1F2937"/>
                </a:solidFill>
                <a:latin typeface="Cambria"/>
              </a:rPr>
              <a:t>付録: 同梱している検知ルール 13 本</a:t>
            </a:r>
          </a:p>
        </p:txBody>
      </p:sp>
      <p:sp>
        <p:nvSpPr>
          <p:cNvPr id="5" name="Oval 4"/>
          <p:cNvSpPr/>
          <p:nvPr/>
        </p:nvSpPr>
        <p:spPr>
          <a:xfrm>
            <a:off x="8275320" y="502920"/>
            <a:ext cx="146304" cy="146304"/>
          </a:xfrm>
          <a:prstGeom prst="ellipse">
            <a:avLst/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485632" y="457200"/>
            <a:ext cx="155448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5B6472"/>
                </a:solidFill>
                <a:latin typeface="Calibri"/>
              </a:rPr>
              <a:t>critical (最重要)</a:t>
            </a:r>
          </a:p>
        </p:txBody>
      </p:sp>
      <p:sp>
        <p:nvSpPr>
          <p:cNvPr id="7" name="Oval 6"/>
          <p:cNvSpPr/>
          <p:nvPr/>
        </p:nvSpPr>
        <p:spPr>
          <a:xfrm>
            <a:off x="10149840" y="502920"/>
            <a:ext cx="146304" cy="146304"/>
          </a:xfrm>
          <a:prstGeom prst="ellipse">
            <a:avLst/>
          </a:prstGeom>
          <a:solidFill>
            <a:srgbClr val="EA58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360152" y="457200"/>
            <a:ext cx="128016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5B6472"/>
                </a:solidFill>
                <a:latin typeface="Calibri"/>
              </a:rPr>
              <a:t>high (重要)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1783080"/>
            <a:ext cx="5349240" cy="224028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D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48640" y="1783080"/>
            <a:ext cx="73152" cy="224028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4672" y="1929384"/>
            <a:ext cx="4937759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 b="1" i="0">
                <a:solidFill>
                  <a:srgbClr val="1D4ED8"/>
                </a:solidFill>
                <a:latin typeface="Cambria"/>
              </a:rPr>
              <a:t>① 外から入る・動く・つながる</a:t>
            </a:r>
          </a:p>
        </p:txBody>
      </p:sp>
      <p:sp>
        <p:nvSpPr>
          <p:cNvPr id="12" name="Oval 11"/>
          <p:cNvSpPr/>
          <p:nvPr/>
        </p:nvSpPr>
        <p:spPr>
          <a:xfrm>
            <a:off x="822959" y="2505456"/>
            <a:ext cx="109728" cy="109728"/>
          </a:xfrm>
          <a:prstGeom prst="ellipse">
            <a:avLst/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42416" y="2441448"/>
            <a:ext cx="4636007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 i="0">
                <a:solidFill>
                  <a:srgbClr val="1F2937"/>
                </a:solidFill>
                <a:latin typeface="Calibri"/>
              </a:rPr>
              <a:t>既知のマルウェアそのものが実行された (MalwareBazaar 照合)</a:t>
            </a:r>
          </a:p>
        </p:txBody>
      </p:sp>
      <p:sp>
        <p:nvSpPr>
          <p:cNvPr id="14" name="Oval 13"/>
          <p:cNvSpPr/>
          <p:nvPr/>
        </p:nvSpPr>
        <p:spPr>
          <a:xfrm>
            <a:off x="822959" y="2889503"/>
            <a:ext cx="109728" cy="109728"/>
          </a:xfrm>
          <a:prstGeom prst="ellipse">
            <a:avLst/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42416" y="2825496"/>
            <a:ext cx="4636007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 i="0">
                <a:solidFill>
                  <a:srgbClr val="1F2937"/>
                </a:solidFill>
                <a:latin typeface="Calibri"/>
              </a:rPr>
              <a:t>指令サーバ (C2) として知られる場所への通信 (URLhaus 照合)</a:t>
            </a:r>
          </a:p>
        </p:txBody>
      </p:sp>
      <p:sp>
        <p:nvSpPr>
          <p:cNvPr id="16" name="Oval 15"/>
          <p:cNvSpPr/>
          <p:nvPr/>
        </p:nvSpPr>
        <p:spPr>
          <a:xfrm>
            <a:off x="822959" y="3273551"/>
            <a:ext cx="109728" cy="109728"/>
          </a:xfrm>
          <a:prstGeom prst="ellipse">
            <a:avLst/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42416" y="3209544"/>
            <a:ext cx="4636007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 i="0">
                <a:solidFill>
                  <a:srgbClr val="1F2937"/>
                </a:solidFill>
                <a:latin typeface="Calibri"/>
              </a:rPr>
              <a:t>正規ツール certutil を悪用して外部からファイルを取得</a:t>
            </a:r>
          </a:p>
        </p:txBody>
      </p:sp>
      <p:sp>
        <p:nvSpPr>
          <p:cNvPr id="18" name="Oval 17"/>
          <p:cNvSpPr/>
          <p:nvPr/>
        </p:nvSpPr>
        <p:spPr>
          <a:xfrm>
            <a:off x="822959" y="3657599"/>
            <a:ext cx="109728" cy="109728"/>
          </a:xfrm>
          <a:prstGeom prst="ellipse">
            <a:avLst/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2416" y="3593591"/>
            <a:ext cx="4636007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 i="0">
                <a:solidFill>
                  <a:srgbClr val="1F2937"/>
                </a:solidFill>
                <a:latin typeface="Calibri"/>
              </a:rPr>
              <a:t>悪用が知られた脆弱ドライバの読み込み (LOLDrivers 照合)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91072" y="1783080"/>
            <a:ext cx="5349240" cy="224028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D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291072" y="1783080"/>
            <a:ext cx="73152" cy="224028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547104" y="1929384"/>
            <a:ext cx="4937759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 b="1" i="0">
                <a:solidFill>
                  <a:srgbClr val="1D4ED8"/>
                </a:solidFill>
                <a:latin typeface="Cambria"/>
              </a:rPr>
              <a:t>② 盗む・住み着く</a:t>
            </a:r>
          </a:p>
        </p:txBody>
      </p:sp>
      <p:sp>
        <p:nvSpPr>
          <p:cNvPr id="23" name="Oval 22"/>
          <p:cNvSpPr/>
          <p:nvPr/>
        </p:nvSpPr>
        <p:spPr>
          <a:xfrm>
            <a:off x="6565392" y="2505456"/>
            <a:ext cx="109728" cy="109728"/>
          </a:xfrm>
          <a:prstGeom prst="ellipse">
            <a:avLst/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784848" y="2441448"/>
            <a:ext cx="4636007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 i="0">
                <a:solidFill>
                  <a:srgbClr val="1F2937"/>
                </a:solidFill>
                <a:latin typeface="Calibri"/>
              </a:rPr>
              <a:t>ログイン情報の抜き取り (LSASS のメモリダンプ)</a:t>
            </a:r>
          </a:p>
        </p:txBody>
      </p:sp>
      <p:sp>
        <p:nvSpPr>
          <p:cNvPr id="25" name="Oval 24"/>
          <p:cNvSpPr/>
          <p:nvPr/>
        </p:nvSpPr>
        <p:spPr>
          <a:xfrm>
            <a:off x="6565392" y="2889503"/>
            <a:ext cx="109728" cy="109728"/>
          </a:xfrm>
          <a:prstGeom prst="ellipse">
            <a:avLst/>
          </a:prstGeom>
          <a:solidFill>
            <a:srgbClr val="EA58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784848" y="2825496"/>
            <a:ext cx="4636007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 i="0">
                <a:solidFill>
                  <a:srgbClr val="1F2937"/>
                </a:solidFill>
                <a:latin typeface="Calibri"/>
              </a:rPr>
              <a:t>書き換え可能な場所のプログラムをサービス登録して常駐</a:t>
            </a:r>
          </a:p>
        </p:txBody>
      </p:sp>
      <p:sp>
        <p:nvSpPr>
          <p:cNvPr id="27" name="Oval 26"/>
          <p:cNvSpPr/>
          <p:nvPr/>
        </p:nvSpPr>
        <p:spPr>
          <a:xfrm>
            <a:off x="6565392" y="3273551"/>
            <a:ext cx="109728" cy="109728"/>
          </a:xfrm>
          <a:prstGeom prst="ellipse">
            <a:avLst/>
          </a:prstGeom>
          <a:solidFill>
            <a:srgbClr val="EA58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784848" y="3209544"/>
            <a:ext cx="4636007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 i="0">
                <a:solidFill>
                  <a:srgbClr val="1F2937"/>
                </a:solidFill>
                <a:latin typeface="Calibri"/>
              </a:rPr>
              <a:t>WMI で「出来事をきっかけに自動起動」を仕込む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548640" y="4114800"/>
            <a:ext cx="5349240" cy="224028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D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548640" y="4114800"/>
            <a:ext cx="73152" cy="224028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04672" y="4261104"/>
            <a:ext cx="4937759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 b="1" i="0">
                <a:solidFill>
                  <a:srgbClr val="1D4ED8"/>
                </a:solidFill>
                <a:latin typeface="Cambria"/>
              </a:rPr>
              <a:t>③ 監視を無力化する</a:t>
            </a:r>
          </a:p>
        </p:txBody>
      </p:sp>
      <p:sp>
        <p:nvSpPr>
          <p:cNvPr id="32" name="Oval 31"/>
          <p:cNvSpPr/>
          <p:nvPr/>
        </p:nvSpPr>
        <p:spPr>
          <a:xfrm>
            <a:off x="822959" y="4837176"/>
            <a:ext cx="109728" cy="109728"/>
          </a:xfrm>
          <a:prstGeom prst="ellipse">
            <a:avLst/>
          </a:prstGeom>
          <a:solidFill>
            <a:srgbClr val="EA58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042416" y="4773168"/>
            <a:ext cx="4636007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 i="0">
                <a:solidFill>
                  <a:srgbClr val="1F2937"/>
                </a:solidFill>
                <a:latin typeface="Calibri"/>
              </a:rPr>
              <a:t>PowerShell のウイルス検査 (AMSI) を無力化</a:t>
            </a:r>
          </a:p>
        </p:txBody>
      </p:sp>
      <p:sp>
        <p:nvSpPr>
          <p:cNvPr id="34" name="Oval 33"/>
          <p:cNvSpPr/>
          <p:nvPr/>
        </p:nvSpPr>
        <p:spPr>
          <a:xfrm>
            <a:off x="822959" y="5221224"/>
            <a:ext cx="109728" cy="109728"/>
          </a:xfrm>
          <a:prstGeom prst="ellipse">
            <a:avLst/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1042416" y="5157216"/>
            <a:ext cx="4636007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 i="0">
                <a:solidFill>
                  <a:srgbClr val="1F2937"/>
                </a:solidFill>
                <a:latin typeface="Calibri"/>
              </a:rPr>
              <a:t>ログ記録サービスそのものを停止・無効化</a:t>
            </a:r>
          </a:p>
        </p:txBody>
      </p:sp>
      <p:sp>
        <p:nvSpPr>
          <p:cNvPr id="36" name="Oval 35"/>
          <p:cNvSpPr/>
          <p:nvPr/>
        </p:nvSpPr>
        <p:spPr>
          <a:xfrm>
            <a:off x="822959" y="5605272"/>
            <a:ext cx="109728" cy="109728"/>
          </a:xfrm>
          <a:prstGeom prst="ellipse">
            <a:avLst/>
          </a:prstGeom>
          <a:solidFill>
            <a:srgbClr val="EA58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042416" y="5541264"/>
            <a:ext cx="4636007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 i="0">
                <a:solidFill>
                  <a:srgbClr val="1F2937"/>
                </a:solidFill>
                <a:latin typeface="Calibri"/>
              </a:rPr>
              <a:t>監査設定から記録項目を外して “見えなく” する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6291072" y="4114800"/>
            <a:ext cx="5349240" cy="224028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D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6291072" y="4114800"/>
            <a:ext cx="73152" cy="224028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547104" y="4261104"/>
            <a:ext cx="4937759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 b="1" i="0">
                <a:solidFill>
                  <a:srgbClr val="1D4ED8"/>
                </a:solidFill>
                <a:latin typeface="Cambria"/>
              </a:rPr>
              <a:t>④ 証拠を消す</a:t>
            </a:r>
          </a:p>
        </p:txBody>
      </p:sp>
      <p:sp>
        <p:nvSpPr>
          <p:cNvPr id="41" name="Oval 40"/>
          <p:cNvSpPr/>
          <p:nvPr/>
        </p:nvSpPr>
        <p:spPr>
          <a:xfrm>
            <a:off x="6565392" y="4837176"/>
            <a:ext cx="109728" cy="109728"/>
          </a:xfrm>
          <a:prstGeom prst="ellipse">
            <a:avLst/>
          </a:prstGeom>
          <a:solidFill>
            <a:srgbClr val="EA58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784848" y="4773168"/>
            <a:ext cx="4636007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 i="0">
                <a:solidFill>
                  <a:srgbClr val="1F2937"/>
                </a:solidFill>
                <a:latin typeface="Calibri"/>
              </a:rPr>
              <a:t>wevtutil などでイベントログをまるごと消去</a:t>
            </a:r>
          </a:p>
        </p:txBody>
      </p:sp>
      <p:sp>
        <p:nvSpPr>
          <p:cNvPr id="43" name="Oval 42"/>
          <p:cNvSpPr/>
          <p:nvPr/>
        </p:nvSpPr>
        <p:spPr>
          <a:xfrm>
            <a:off x="6565392" y="5221224"/>
            <a:ext cx="109728" cy="109728"/>
          </a:xfrm>
          <a:prstGeom prst="ellipse">
            <a:avLst/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6784848" y="5157216"/>
            <a:ext cx="4636007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 i="0">
                <a:solidFill>
                  <a:srgbClr val="1F2937"/>
                </a:solidFill>
                <a:latin typeface="Calibri"/>
              </a:rPr>
              <a:t>監査を変えた直後にログ消去、という “合わせ技”</a:t>
            </a:r>
          </a:p>
        </p:txBody>
      </p:sp>
      <p:sp>
        <p:nvSpPr>
          <p:cNvPr id="45" name="Oval 44"/>
          <p:cNvSpPr/>
          <p:nvPr/>
        </p:nvSpPr>
        <p:spPr>
          <a:xfrm>
            <a:off x="6565392" y="5605272"/>
            <a:ext cx="109728" cy="109728"/>
          </a:xfrm>
          <a:prstGeom prst="ellipse">
            <a:avLst/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6784848" y="5541264"/>
            <a:ext cx="4636007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 i="0">
                <a:solidFill>
                  <a:srgbClr val="1F2937"/>
                </a:solidFill>
                <a:latin typeface="Calibri"/>
              </a:rPr>
              <a:t>復元用スナップショットの削除 (ランサムの前兆)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0972800" y="644652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0000"/>
              </a:lnSpc>
            </a:pPr>
            <a:r>
              <a:rPr sz="900" b="0" i="0">
                <a:solidFill>
                  <a:srgbClr val="5B6472"/>
                </a:solidFill>
                <a:latin typeface="Calibri"/>
              </a:rPr>
              <a:t>付録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47472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1" i="0">
                <a:solidFill>
                  <a:srgbClr val="2563EB"/>
                </a:solidFill>
                <a:latin typeface="Calibri"/>
              </a:rPr>
              <a:t>付録 — 想定問答 (Q&amp;A)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21792"/>
            <a:ext cx="1115568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800" b="1" i="0">
                <a:solidFill>
                  <a:srgbClr val="1F2937"/>
                </a:solidFill>
                <a:latin typeface="Cambria"/>
              </a:rPr>
              <a:t>よくある質問 ①  立ち位置・差分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783080"/>
            <a:ext cx="11091672" cy="138684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D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1783080"/>
            <a:ext cx="73152" cy="138684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1929384"/>
            <a:ext cx="105156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1" i="0">
                <a:solidFill>
                  <a:srgbClr val="1F2937"/>
                </a:solidFill>
                <a:latin typeface="Cambria"/>
              </a:rPr>
              <a:t>Q.  既存の Hayabusa と何が違うの?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2386584"/>
            <a:ext cx="10469880" cy="673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250" b="0" i="0">
                <a:solidFill>
                  <a:srgbClr val="5B6472"/>
                </a:solidFill>
                <a:latin typeface="Calibri"/>
              </a:rPr>
              <a:t>A.  検知エンジンに lookup 文法を追加し、攻撃を見抜くルールを 13 本自作。さらに結果を日本語で読み解く GUI、振る舞い分析、IoC の自動取り込みを足した。土台の検知力は活かしつつ「専門家でなくても使える形」にしたのが差分。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3316224"/>
            <a:ext cx="11091672" cy="138684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D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48640" y="3316224"/>
            <a:ext cx="73152" cy="138684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68680" y="3462528"/>
            <a:ext cx="105156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1" i="0">
                <a:solidFill>
                  <a:srgbClr val="1F2937"/>
                </a:solidFill>
                <a:latin typeface="Cambria"/>
              </a:rPr>
              <a:t>Q.  SIEM や商用 EDR と何が違うの?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8680" y="3919728"/>
            <a:ext cx="10469880" cy="673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250" b="0" i="0">
                <a:solidFill>
                  <a:srgbClr val="5B6472"/>
                </a:solidFill>
                <a:latin typeface="Calibri"/>
              </a:rPr>
              <a:t>A.  導入ゼロ・オフライン・無料で、PC 1 台に展開すればすぐ動く。大規模な常時監視ではなく「インシデント時に手元で素早く調べる」用途に振り切っている。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8640" y="4849368"/>
            <a:ext cx="11091672" cy="138684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D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48640" y="4849368"/>
            <a:ext cx="73152" cy="138684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8680" y="4995672"/>
            <a:ext cx="105156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1" i="0">
                <a:solidFill>
                  <a:srgbClr val="1F2937"/>
                </a:solidFill>
                <a:latin typeface="Cambria"/>
              </a:rPr>
              <a:t>Q.  Sigma ルールはそのまま使える? 独自拡張で互換は壊れない?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" y="5452872"/>
            <a:ext cx="10469880" cy="673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250" b="0" i="0">
                <a:solidFill>
                  <a:srgbClr val="5B6472"/>
                </a:solidFill>
                <a:latin typeface="Calibri"/>
              </a:rPr>
              <a:t>A.  世界共通の Sigma 約 5,000 本に加え、自作 13 本が使える。lookup は独自拡張だが、上流の Hayabusa は知らない記法を無視するだけなので互換は壊れない。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972800" y="644652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0000"/>
              </a:lnSpc>
            </a:pPr>
            <a:r>
              <a:rPr sz="900" b="0" i="0">
                <a:solidFill>
                  <a:srgbClr val="5B6472"/>
                </a:solidFill>
                <a:latin typeface="Calibri"/>
              </a:rPr>
              <a:t>付録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47472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1" i="0">
                <a:solidFill>
                  <a:srgbClr val="2563EB"/>
                </a:solidFill>
                <a:latin typeface="Calibri"/>
              </a:rPr>
              <a:t>付録 — 想定問答 (Q&amp;A)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21792"/>
            <a:ext cx="1115568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800" b="1" i="0">
                <a:solidFill>
                  <a:srgbClr val="1F2937"/>
                </a:solidFill>
                <a:latin typeface="Cambria"/>
              </a:rPr>
              <a:t>よくある質問 ②  精度・性能・運用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783080"/>
            <a:ext cx="11091672" cy="138684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D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1783080"/>
            <a:ext cx="73152" cy="138684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1929384"/>
            <a:ext cx="105156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1" i="0">
                <a:solidFill>
                  <a:srgbClr val="1F2937"/>
                </a:solidFill>
                <a:latin typeface="Cambria"/>
              </a:rPr>
              <a:t>Q.  誤検知は多くならないの?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2386584"/>
            <a:ext cx="10469880" cy="673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250" b="0" i="0">
                <a:solidFill>
                  <a:srgbClr val="5B6472"/>
                </a:solidFill>
                <a:latin typeface="Calibri"/>
              </a:rPr>
              <a:t>A.  単一の特徴では鳴らさず複数条件の AND で判定。各ルールに誤検知例を明記し、ゴールデンイメージの許可リストや、GUI 上での TP/FP 判定・抑制で運用しながら絞り込める。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3316224"/>
            <a:ext cx="11091672" cy="138684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D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48640" y="3316224"/>
            <a:ext cx="73152" cy="138684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68680" y="3462528"/>
            <a:ext cx="105156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1" i="0">
                <a:solidFill>
                  <a:srgbClr val="1F2937"/>
                </a:solidFill>
                <a:latin typeface="Cambria"/>
              </a:rPr>
              <a:t>Q.  速度や扱える規模は?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8680" y="3919728"/>
            <a:ext cx="10469880" cy="673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250" b="0" i="0">
                <a:solidFill>
                  <a:srgbClr val="5B6472"/>
                </a:solidFill>
                <a:latin typeface="Calibri"/>
              </a:rPr>
              <a:t>A.  Rust 製で数万件を数十秒。lookup は起動時に 1 回だけリストを読み込み O(1) で照合するため、リストが増えても速度はほぼ一定（本デモでも 1.2 万件超を処理）。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8640" y="4849368"/>
            <a:ext cx="11091672" cy="138684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D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48640" y="4849368"/>
            <a:ext cx="73152" cy="138684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8680" y="4995672"/>
            <a:ext cx="105156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1" i="0">
                <a:solidFill>
                  <a:srgbClr val="1F2937"/>
                </a:solidFill>
                <a:latin typeface="Cambria"/>
              </a:rPr>
              <a:t>Q.  IoC リストはどうやって最新に保つ?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" y="5452872"/>
            <a:ext cx="10469880" cy="673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250" b="0" i="0">
                <a:solidFill>
                  <a:srgbClr val="5B6472"/>
                </a:solidFill>
                <a:latin typeface="Calibri"/>
              </a:rPr>
              <a:t>A.  feeds.yml に宣言し、ボタン 1 つで取得・正規化 (loldrivers / MalwareBazaar / URLhaus / Feodo)。取得失敗時は前回分を保持し、カバレッジを空にしない設計。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972800" y="644652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0000"/>
              </a:lnSpc>
            </a:pPr>
            <a:r>
              <a:rPr sz="900" b="0" i="0">
                <a:solidFill>
                  <a:srgbClr val="5B6472"/>
                </a:solidFill>
                <a:latin typeface="Calibri"/>
              </a:rPr>
              <a:t>付録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47472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1" i="0">
                <a:solidFill>
                  <a:srgbClr val="2563EB"/>
                </a:solidFill>
                <a:latin typeface="Calibri"/>
              </a:rPr>
              <a:t>付録 — 想定問答 (Q&amp;A)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21792"/>
            <a:ext cx="1115568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800" b="1" i="0">
                <a:solidFill>
                  <a:srgbClr val="1F2937"/>
                </a:solidFill>
                <a:latin typeface="Cambria"/>
              </a:rPr>
              <a:t>よくある質問 ③  安全性・未知の攻撃・今後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783080"/>
            <a:ext cx="11091672" cy="138684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D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1783080"/>
            <a:ext cx="73152" cy="138684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1929384"/>
            <a:ext cx="105156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1" i="0">
                <a:solidFill>
                  <a:srgbClr val="1F2937"/>
                </a:solidFill>
                <a:latin typeface="Cambria"/>
              </a:rPr>
              <a:t>Q.  データは外部に送られない? 安全?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2386584"/>
            <a:ext cx="10469880" cy="673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250" b="0" i="0">
                <a:solidFill>
                  <a:srgbClr val="5B6472"/>
                </a:solidFill>
                <a:latin typeface="Calibri"/>
              </a:rPr>
              <a:t>A.  localhost 限定バインドで外部送信なし、追加ソフトも不要。自 PC のライブ解析は管理者権限＋明示チェック時のみ。DNS リバインドや CSRF への対策も実装済み。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3316224"/>
            <a:ext cx="11091672" cy="138684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D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48640" y="3316224"/>
            <a:ext cx="73152" cy="138684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68680" y="3462528"/>
            <a:ext cx="105156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1" i="0">
                <a:solidFill>
                  <a:srgbClr val="1F2937"/>
                </a:solidFill>
                <a:latin typeface="Cambria"/>
              </a:rPr>
              <a:t>Q.  未知の攻撃 (ゼロデイ) は検知できる?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8680" y="3919728"/>
            <a:ext cx="10469880" cy="673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250" b="0" i="0">
                <a:solidFill>
                  <a:srgbClr val="5B6472"/>
                </a:solidFill>
                <a:latin typeface="Calibri"/>
              </a:rPr>
              <a:t>A.  ルールは既知の手口に強い。未知は振る舞い分析（急増・拡散・沈黙・時間外）で「いつもと違う」を拾う、という二段構えでカバーする。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8640" y="4849368"/>
            <a:ext cx="11091672" cy="138684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D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48640" y="4849368"/>
            <a:ext cx="73152" cy="138684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8680" y="4995672"/>
            <a:ext cx="105156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1" i="0">
                <a:solidFill>
                  <a:srgbClr val="1F2937"/>
                </a:solidFill>
                <a:latin typeface="Cambria"/>
              </a:rPr>
              <a:t>Q.  今後の発展は?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" y="5452872"/>
            <a:ext cx="10469880" cy="673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250" b="0" i="0">
                <a:solidFill>
                  <a:srgbClr val="5B6472"/>
                </a:solidFill>
                <a:latin typeface="Calibri"/>
              </a:rPr>
              <a:t>A.  時間の流れを追った相関分析（「A の後に B が起きたら怪しい」）や、AI による検知ルールの自動生成へ。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972800" y="644652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0000"/>
              </a:lnSpc>
            </a:pPr>
            <a:r>
              <a:rPr sz="900" b="0" i="0">
                <a:solidFill>
                  <a:srgbClr val="5B6472"/>
                </a:solidFill>
                <a:latin typeface="Calibri"/>
              </a:rPr>
              <a:t>付録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