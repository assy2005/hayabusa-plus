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i="0">
                <a:solidFill>
                  <a:srgbClr val="CADCFC"/>
                </a:solidFill>
                <a:latin typeface="Cambria"/>
              </a:rPr>
              <a:t>OSS 解析エンジン「Hayabusa」の拡張による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誰でも使えるサイバー攻撃調査ツールの開発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461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1">
                <a:solidFill>
                  <a:srgbClr val="CADCFC"/>
                </a:solidFill>
                <a:latin typeface="Calibri"/>
              </a:rPr>
              <a:t>— サイバー攻撃の痕跡を、誰でも読めるように 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206240"/>
            <a:ext cx="6858000" cy="155448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370832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🦀 エンジン本体 (Rust) に新しい検知機能を追加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4791456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📜 攻撃を見抜く検知ルールを 13 本自作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521208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🖥️ 結果を読み解ける GUI をゼロから開発 (約 8,000 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onsolas"/>
              </a:rPr>
              <a:t>プロジェクト名: hayabusa-plus   /   github.com/Assy2005/hayabusa-plus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CADCFC"/>
                </a:solidFill>
                <a:latin typeface="Calibr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もし、あなたの会社が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サイバー攻撃を受けたら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...どうしますか?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どこから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侵入された?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誰が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何をされた?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被害は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どこまで広がった?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CADCFC"/>
                </a:solidFill>
                <a:latin typeface="Calibri"/>
              </a:rPr>
              <a:t>これを 素早く 知る必要があります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答えは Windows のログの中にある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852160" cy="466344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Windows のログ (実例)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13:42:15  EID 4624  Logon Type 3  user=alice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13:42:16  EID 4688  rundll32.exe  comsvcs.dll,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9008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     ProcessGuid {6BBF237A-CAFB...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6499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10    TargetImage lsass.exe  Acc...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3989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4104  $ScriptBlockText FromBase6...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7045  ServiceName UpdaterSvc  Img...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8970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13:42:19  EID 22    QueryName malicious-site.c...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6460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13:42:20  EID 3     DestinationIp 185.220.101....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3951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13:42:21  EID 8     CreateRemoteThread  source...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61441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...                          (このあと数万件続く)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87451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1 台の PC 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37744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800" b="1" i="0">
                <a:solidFill>
                  <a:srgbClr val="2563EB"/>
                </a:solidFill>
                <a:latin typeface="Cambria"/>
              </a:rPr>
              <a:t>数万件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6118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のログが残っています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4480560"/>
            <a:ext cx="5029200" cy="1783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66560" y="4480560"/>
            <a:ext cx="73152" cy="1783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466344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これを 1 件ずつ読むのは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512064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DC2626"/>
                </a:solidFill>
                <a:latin typeface="Cambria"/>
              </a:rPr>
              <a:t>現実的に不可能。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5760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5B6472"/>
                </a:solidFill>
                <a:latin typeface="Calibri"/>
              </a:rPr>
              <a:t>→ 専門家が時間をかけても見落とす。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既存技術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土台にした既存ツール: Hayabusa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5B6472"/>
                </a:solidFill>
                <a:latin typeface="Calibri"/>
              </a:rPr>
              <a:t>日本のセキュリティチーム Yamato Security が公開している無料ツール (OSS)。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486400" cy="4023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73152" cy="40233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✅ Hayabusa ができること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世界中の研究者が作った「攻撃の特徴パターン」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101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   (Sigma ルール・約 5,000 本) と照合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数万件のログを数十秒〜数分で全チェック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7880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   (Rust 製で高速)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66344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世界中の調査現場で使われている実績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103120"/>
            <a:ext cx="5486400" cy="4023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103120"/>
            <a:ext cx="73152" cy="402336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33172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⚠ そのままでは専門家にしか使えない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926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黒い画面でコマンドを打つ必要がある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9300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結果は CSV ファイル数万行 — 結局「読めない」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059936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出力は英語 + 専門用語だらけ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626864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「で、次にどうすれば?」を教えてくれない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libri"/>
              </a:rPr>
              <a:t>→ この「強力だが使いにくい」を出発点にしました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この開発で目指したこと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目的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5B6472"/>
                </a:solidFill>
                <a:latin typeface="Calibri"/>
              </a:rPr>
              <a:t>「専門家の道具」を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1F2937"/>
                </a:solidFill>
                <a:latin typeface="Cambria"/>
              </a:rPr>
              <a:t>「誰でも使える調査プラットフォーム」に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見つける力を強くする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エンジン本体を改造して
新しい検知機能を追加 +
検知ルールを自作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結果を読めるようにする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ブラウザで見られる GUI を
ゼロから開発。日本語解説と
「次にすべきこと」を表示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手元だけで完結させる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データを外部に送らない。
追加ソフト無しで動く
(オフライン・依存ゼロ)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どこを開発したか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作ったものの全体像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80960" y="457200"/>
            <a:ext cx="256032" cy="256032"/>
          </a:xfrm>
          <a:prstGeom prst="rect">
            <a:avLst/>
          </a:prstGeom>
          <a:solidFill>
            <a:srgbClr val="E9ECF2"/>
          </a:solidFill>
          <a:ln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0" y="4572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= 既存 OSS (土台)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457200"/>
            <a:ext cx="256032" cy="256032"/>
          </a:xfrm>
          <a:prstGeom prst="rect">
            <a:avLst/>
          </a:prstGeom>
          <a:solidFill>
            <a:srgbClr val="E8F0FE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457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D4ED8"/>
                </a:solidFill>
                <a:latin typeface="Calibri"/>
              </a:rPr>
              <a:t>= 今回開発した部分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2194560" cy="1737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i="0">
                <a:solidFill>
                  <a:srgbClr val="1F2937"/>
                </a:solidFill>
                <a:latin typeface="Calibri"/>
              </a:rPr>
              <a:t>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803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F2937"/>
                </a:solidFill>
                <a:latin typeface="Calibri"/>
              </a:rPr>
              <a:t>Windows のログ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4612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数万件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036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20440" y="2103120"/>
            <a:ext cx="3291840" cy="1737360"/>
          </a:xfrm>
          <a:prstGeom prst="roundRect">
            <a:avLst/>
          </a:prstGeom>
          <a:solidFill>
            <a:srgbClr val="E9ECF2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23042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F2937"/>
                </a:solidFill>
                <a:latin typeface="Calibri"/>
              </a:rPr>
              <a:t>Hayabusa エンジン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6517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(既存 OSS・Rust 製)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94760" y="3063239"/>
            <a:ext cx="2743200" cy="548640"/>
          </a:xfrm>
          <a:prstGeom prst="roundRect">
            <a:avLst/>
          </a:prstGeom>
          <a:solidFill>
            <a:srgbClr val="E8F0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306323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1D4ED8"/>
                </a:solidFill>
                <a:latin typeface="Calibri"/>
              </a:rPr>
              <a:t>★ 中身を改造して新機能を追加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94944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89520" y="2103120"/>
            <a:ext cx="2743200" cy="173736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0" y="226771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1F2937"/>
                </a:solidFill>
                <a:latin typeface="Calibri"/>
              </a:rPr>
              <a:t>🖥️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libri"/>
              </a:rPr>
              <a:t>調査用 GUI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2004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ゼロから開発 (約 8,000 行)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46988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27080" y="24231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400" b="0" i="0">
                <a:solidFill>
                  <a:srgbClr val="1F2937"/>
                </a:solidFill>
                <a:latin typeface="Calibri"/>
              </a:rPr>
              <a:t>🧑‍💻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35640" y="31089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調べる人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4846320"/>
            <a:ext cx="274320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86000" y="5029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D4ED8"/>
                </a:solidFill>
                <a:latin typeface="Calibri"/>
              </a:rPr>
              <a:t>📜 自作の検知ルール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13 本 (痕跡隠蔽の検知など)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94960" y="4846320"/>
            <a:ext cx="274320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0" y="5029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D4ED8"/>
                </a:solidFill>
                <a:latin typeface="Calibri"/>
              </a:rPr>
              <a:t>🌐 悪いものリスト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約 8 万件を自動で取り込み</a:t>
            </a:r>
          </a:p>
        </p:txBody>
      </p:sp>
      <p:sp>
        <p:nvSpPr>
          <p:cNvPr id="33" name="Up Arrow 32"/>
          <p:cNvSpPr/>
          <p:nvPr/>
        </p:nvSpPr>
        <p:spPr>
          <a:xfrm>
            <a:off x="3474720" y="4069080"/>
            <a:ext cx="365760" cy="45720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6583680" y="4069080"/>
            <a:ext cx="365760" cy="45720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1 / 3   (Rust)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①  エンジン本体の改造 — 新しい文法を追加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Hayabusa の「ルールの書き方」自体を拡張しました。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ルールに 1 行、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1D4ED8"/>
                </a:solidFill>
                <a:latin typeface="Cambria"/>
              </a:rPr>
              <a:t>「このリストに載っていたら警告して」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と書けるようにする機能 (lookup:) を、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エンジンのソースコード (Rust) に追加。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72000"/>
            <a:ext cx="5760720" cy="16002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73659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F2937"/>
                </a:solidFill>
                <a:latin typeface="Calibri"/>
              </a:rPr>
              <a:t>💡 これで何が嬉しい?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138928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世界中で共有されている「悪いものリスト」(約 8 万件) を、
ルールを書き換えずにそのまま検知に使えるようになった。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691640"/>
            <a:ext cx="4983480" cy="310896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187451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自作ルールの実例 (簡略化)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286000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title: 危険なドライバの読み込みを検知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642616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lookup: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999232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file: loldrivers.txt   # 悪い指紋 1,929 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355848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detection: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712464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Hashes|lookup: lol_drivers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069080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4A3B8"/>
                </a:solidFill>
                <a:latin typeface="Consolas"/>
              </a:rPr>
              <a:t>            ↑ 追加した新しい文法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425696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level: critical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5029200"/>
            <a:ext cx="498348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75120" y="5029200"/>
            <a:ext cx="73152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519379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ログ 1 件ごとにリスト 8 万件と照合しても速度が落ちない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559612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よう、起動時に一度だけ読み込んで記憶する設計 (Rust)。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2 / 3   (検知ルール)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②  攻撃を見抜く検知ルールを 13 本自作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1">
                <a:solidFill>
                  <a:srgbClr val="1D4ED8"/>
                </a:solidFill>
                <a:latin typeface="Calibri"/>
              </a:rPr>
              <a:t>着眼点: 攻撃者は必ず「証拠隠し」をする。なら、消す行為そのものを検知すればいい。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ログの消去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調査の手がかりになる
ログを消すコマンドの実行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(wevtutil 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復元データの削除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バックアップを消す行為
(ランサムウェアの前兆)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(シャドウコピー削除)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監視の無効化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ログを記録する機能や
監査そのものを止める行為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(監査ポリシー改変)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パスワード抜き取り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Windows が記憶している
認証情報への不正アクセス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(LSASS ダンプ)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86400"/>
            <a:ext cx="11064240" cy="86868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486400"/>
            <a:ext cx="105156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Calibri"/>
              </a:rPr>
              <a:t>誤検知を減らす工夫:  1 つの特徴では鳴らさず、複数の特徴が同時に揃ったときだけ警告する設計に。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3 / 3   (Python + JavaScript 約 8,000 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③  結果を「読める」にする GUI をゼロから開発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476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🇯🇵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92938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日本語の解説付き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50008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検知をクリックすると「何が起きた?
次にどうする?」を日本語で表示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3756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33756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0215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48386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危険度ランキング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904487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どの PC から調べるべきかを
自動採点して並べ替え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9204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89204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56631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03834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全体が一目で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58968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重大度・時間の流れ・多い攻撃を
グラフで俯瞰</a:t>
            </a:r>
          </a:p>
        </p:txBody>
      </p:sp>
      <p:pic>
        <p:nvPicPr>
          <p:cNvPr id="20" name="Picture 19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4620" y="1691640"/>
            <a:ext cx="4450080" cy="4572000"/>
          </a:xfrm>
          <a:prstGeom prst="rect">
            <a:avLst/>
          </a:prstGeom>
          <a:ln w="12700">
            <a:solidFill>
              <a:srgbClr val="DDE3EE"/>
            </a:solidFill>
          </a:ln>
          <a:effectLst/>
        </p:spPr>
      </p:pic>
      <p:sp>
        <p:nvSpPr>
          <p:cNvPr id="21" name="TextBox 20"/>
          <p:cNvSpPr txBox="1"/>
          <p:nvPr/>
        </p:nvSpPr>
        <p:spPr>
          <a:xfrm>
            <a:off x="5760720" y="6309360"/>
            <a:ext cx="5897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▲ 実際の画面 (ブラウザで動作・データは外部に送らない)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+α   (自作の統計分析)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さらに: ルールでは書けない「いつもと違う」も検出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5B6472"/>
                </a:solidFill>
                <a:latin typeface="Calibri"/>
              </a:rPr>
              <a:t>ルールは 1 件ずつしか判定できない。そこで「全体の傾向」を統計で見る分析を自作しました。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269748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73152" cy="2743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04872"/>
            <a:ext cx="914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2563EB"/>
                </a:solidFill>
                <a:latin typeface="Calibri"/>
              </a:rPr>
              <a:t>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急増している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平常の数十〜数千倍の
動きが急に発生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34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大量のパスワード試行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40280"/>
            <a:ext cx="269748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40280"/>
            <a:ext cx="73152" cy="2743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404872"/>
            <a:ext cx="914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2563EB"/>
                </a:solidFill>
                <a:latin typeface="Calibri"/>
              </a:rPr>
              <a:t>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0175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広がっている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5204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同じ動きが
複数の PC で同時発生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434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ウイルスが社内に拡大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40280"/>
            <a:ext cx="269748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40280"/>
            <a:ext cx="73152" cy="2743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404872"/>
            <a:ext cx="914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2563EB"/>
                </a:solidFill>
                <a:latin typeface="Calibri"/>
              </a:rPr>
              <a:t>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0175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急に静かに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5204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普段活動している PC が
急にログを残さなくなる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434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攻撃者がログを消した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40280"/>
            <a:ext cx="269748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40280"/>
            <a:ext cx="73152" cy="2743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404872"/>
            <a:ext cx="914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2563EB"/>
                </a:solidFill>
                <a:latin typeface="Calibri"/>
              </a:rPr>
              <a:t>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30175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時間外の活動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5204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深夜などの業務時間外に
重要な動きが発生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434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業務外を狙った侵入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66360"/>
            <a:ext cx="11064240" cy="118872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28523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F2937"/>
                </a:solidFill>
                <a:latin typeface="Calibri"/>
              </a:rPr>
              <a:t>💡 実例:  自分の PC を実際にスキャン → 「疑わしい PowerShell 実行」の急増を自動検出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71500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平常時 (この PC の全期間平均)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49039" y="5751576"/>
            <a:ext cx="5486400" cy="201168"/>
          </a:xfrm>
          <a:prstGeom prst="roundRect">
            <a:avLst/>
          </a:prstGeom>
          <a:solidFill>
            <a:srgbClr val="FFFFFF"/>
          </a:solidFill>
          <a:ln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749039" y="5751576"/>
            <a:ext cx="91440" cy="201168"/>
          </a:xfrm>
          <a:prstGeom prst="roundRect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600" y="571500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F2937"/>
                </a:solidFill>
                <a:latin typeface="Calibri"/>
              </a:rPr>
              <a:t>1 時間に 約1回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6053328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ある日の 13 時台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749039" y="6089904"/>
            <a:ext cx="5486400" cy="201168"/>
          </a:xfrm>
          <a:prstGeom prst="roundRect">
            <a:avLst/>
          </a:prstGeom>
          <a:solidFill>
            <a:srgbClr val="FFFFFF"/>
          </a:solidFill>
          <a:ln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749039" y="6089904"/>
            <a:ext cx="5486400" cy="20116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72600" y="605332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D4ED8"/>
                </a:solidFill>
                <a:latin typeface="Calibri"/>
              </a:rPr>
              <a:t>1 時間に 110回 (約117倍)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0" b="1" i="0">
                <a:solidFill>
                  <a:srgbClr val="FFFFFF"/>
                </a:solidFill>
                <a:latin typeface="Cambria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77639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1">
                <a:solidFill>
                  <a:srgbClr val="CADCFC"/>
                </a:solidFill>
                <a:latin typeface="Calibri"/>
              </a:rPr>
              <a:t>実際の画面で動かしてみます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09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CADCFC"/>
                </a:solidFill>
                <a:latin typeface="Calibri"/>
              </a:rPr>
              <a:t>サンプルログを読み込み、調査の流れを見ていただきます。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まとめ — 開発したもの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32918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1D4ED8"/>
                </a:solidFill>
                <a:latin typeface="Cambria"/>
              </a:rPr>
              <a:t>新文法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lookup: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エンジン本体 (Rust) を改造し
リスト照合機能を追加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73152" cy="329184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EA580C"/>
                </a:solidFill>
                <a:latin typeface="Cambria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攻撃を見抜く検知ルールを
自作 (痕跡隠蔽の検知など)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783080"/>
            <a:ext cx="73152" cy="329184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CA8A04"/>
                </a:solidFill>
                <a:latin typeface="Cambria"/>
              </a:rPr>
              <a:t>約8,000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結果を読み解く GUI を
ゼロから開発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1783080"/>
            <a:ext cx="73152" cy="32918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431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16A34A"/>
                </a:solidFill>
                <a:latin typeface="Cambria"/>
              </a:rPr>
              <a:t>約8万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「悪いものリスト」を
自動で取り込んで照合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440680"/>
            <a:ext cx="11064240" cy="100584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406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Calibri"/>
              </a:rPr>
              <a:t>🚀 今後:  時間の流れを追った相関分析 (「A の後に B が起きたら怪しい」) や、AI による検知ルールの自動生成へ。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5600" b="1" i="0">
                <a:solidFill>
                  <a:srgbClr val="FFFFFF"/>
                </a:solidFill>
                <a:latin typeface="Cambria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 i="1">
                <a:solidFill>
                  <a:srgbClr val="CADCFC"/>
                </a:solidFill>
                <a:latin typeface="Calibri"/>
              </a:rPr>
              <a:t>ご質問・フィードバックをお願いします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3566160"/>
            <a:ext cx="7040880" cy="201168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34640" y="3749039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成果物はすべて GitHub で公開しています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4114800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FFFFFF"/>
                </a:solidFill>
                <a:latin typeface="Consolas"/>
              </a:rPr>
              <a:t>github.com/Assy2005/hayabusa-plus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5488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ソースコード・検知ルール・設計書・この資料まで、どなたでも使えます (OSS)。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zip をダウンロード → 展開 → 実行、ですぐ試せます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お手元の Windows PC のログで、ぜひ一度。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