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91695" cy="36576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0" b="0" i="0">
                <a:solidFill>
                  <a:srgbClr val="FF5722"/>
                </a:solidFill>
                <a:latin typeface="Calibri"/>
              </a:rPr>
              <a:t>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96012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200" b="1" i="0">
                <a:solidFill>
                  <a:srgbClr val="FFFFFF"/>
                </a:solidFill>
                <a:latin typeface="Cambria"/>
              </a:rPr>
              <a:t>hayabusa-plus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74519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FFAB40"/>
                </a:solidFill>
                <a:latin typeface="Calibri"/>
              </a:rPr>
              <a:t>Hayabusa を拡張した、ブラウザで使う DFIR 解析プラットフォーム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i="0">
                <a:solidFill>
                  <a:srgbClr val="7D869C"/>
                </a:solidFill>
                <a:latin typeface="Calibri"/>
              </a:rPr>
              <a:t>EVTX を投げ込むだけで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FFFFF"/>
                </a:solidFill>
                <a:latin typeface="Cambria"/>
              </a:rPr>
              <a:t>Sigma 検知 + IoC 照合 + 攻撃の系統再構築 + 振舞い異常検知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2062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i="0">
                <a:solidFill>
                  <a:srgbClr val="7D869C"/>
                </a:solidFill>
                <a:latin typeface="Calibri"/>
              </a:rPr>
              <a:t>を一画面で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0" i="0">
                <a:solidFill>
                  <a:srgbClr val="7D869C"/>
                </a:solidFill>
                <a:latin typeface="Consolas"/>
              </a:rPr>
              <a:t>github.com/Assy2005/hayabusa-plus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01 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Hayabusa CLI 単体ではここで困る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14344" cy="146304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73152" cy="14630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051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FFAB40"/>
                </a:solidFill>
                <a:latin typeface="Calibri"/>
              </a:rPr>
              <a:t>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783080"/>
            <a:ext cx="25999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結果が CSV / JSON の山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40280"/>
            <a:ext cx="25999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D869C"/>
                </a:solidFill>
                <a:latin typeface="Calibri"/>
              </a:rPr>
              <a:t>1 ホスト 1 日でも数万件。Excel で開いて grep…という運用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7304" y="1645920"/>
            <a:ext cx="3514344" cy="146304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7304" y="1645920"/>
            <a:ext cx="73152" cy="14630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1896" y="181051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FFAB40"/>
                </a:solidFill>
                <a:latin typeface="Calibri"/>
              </a:rPr>
              <a:t>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544" y="1783080"/>
            <a:ext cx="25999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「このホスト、危ないの?」即答できない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544" y="2240280"/>
            <a:ext cx="25999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D869C"/>
                </a:solidFill>
                <a:latin typeface="Calibri"/>
              </a:rPr>
              <a:t>誰が誰に侵入されたか、ホスト単位の優先度が見えない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5968" y="1645920"/>
            <a:ext cx="3514344" cy="146304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25968" y="1645920"/>
            <a:ext cx="73152" cy="14630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0560" y="181051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FFAB40"/>
                </a:solidFill>
                <a:latin typeface="Calibri"/>
              </a:rPr>
              <a:t>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3208" y="1783080"/>
            <a:ext cx="25999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プロセスの親子関係が分からない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3208" y="2240280"/>
            <a:ext cx="25999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D869C"/>
                </a:solidFill>
                <a:latin typeface="Calibri"/>
              </a:rPr>
              <a:t>誰がこれを実行させたのか、毎回手で grep して並べる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37560"/>
            <a:ext cx="3514344" cy="146304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337560"/>
            <a:ext cx="73152" cy="14630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5021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FFAB40"/>
                </a:solidFill>
                <a:latin typeface="Calibri"/>
              </a:rPr>
              <a:t>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474720"/>
            <a:ext cx="25999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「いつもと違う」が見えない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25880" y="3931920"/>
            <a:ext cx="25999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D869C"/>
                </a:solidFill>
                <a:latin typeface="Calibri"/>
              </a:rPr>
              <a:t>バースト / 拡散 / 沈黙 は Sigma ルールで書けない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37304" y="3337560"/>
            <a:ext cx="3514344" cy="146304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37304" y="3337560"/>
            <a:ext cx="73152" cy="14630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1896" y="35021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FFAB40"/>
                </a:solidFill>
                <a:latin typeface="Calibri"/>
              </a:rPr>
              <a:t>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14544" y="3474720"/>
            <a:ext cx="25999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攻撃者がログを消したことに気付けない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14544" y="3931920"/>
            <a:ext cx="25999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D869C"/>
                </a:solidFill>
                <a:latin typeface="Calibri"/>
              </a:rPr>
              <a:t>痕跡隠蔽自体を検知するレイヤがない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25968" y="3337560"/>
            <a:ext cx="3514344" cy="146304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25968" y="3337560"/>
            <a:ext cx="73152" cy="14630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90560" y="3502152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FFAB40"/>
                </a:solidFill>
                <a:latin typeface="Calibri"/>
              </a:rPr>
              <a:t>🛡️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03208" y="3474720"/>
            <a:ext cx="259994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Cambria"/>
              </a:rPr>
              <a:t>IoC フィードを取り込むたびにルール書換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03208" y="3931920"/>
            <a:ext cx="25999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7D869C"/>
                </a:solidFill>
                <a:latin typeface="Calibri"/>
              </a:rPr>
              <a:t>LOLDrivers / abuse.ch を運用に乗せる手間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02 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Hayabusa の上に DFIR 運用層を被せる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 i="1">
                <a:solidFill>
                  <a:srgbClr val="D8DEF0"/>
                </a:solidFill>
                <a:latin typeface="Calibri"/>
              </a:rPr>
              <a:t>EVTX を投げ込むだけで、Sigma 検知 + IoC フィード照合 + 攻撃の系統再構築 + 異常パターン抽出を行うローカル DFIR コンソール。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200400"/>
            <a:ext cx="3566160" cy="2194560"/>
          </a:xfrm>
          <a:prstGeom prst="roundRect">
            <a:avLst/>
          </a:prstGeom>
          <a:solidFill>
            <a:srgbClr val="1F2942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200400"/>
            <a:ext cx="73152" cy="219456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47472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FFAB40"/>
                </a:solidFill>
                <a:latin typeface="Calibri"/>
              </a:rPr>
              <a:t>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2062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ローカル完結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7091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外部にデータが出ない。ブラウザ 1 つで完結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3200400"/>
            <a:ext cx="3566160" cy="2194560"/>
          </a:xfrm>
          <a:prstGeom prst="roundRect">
            <a:avLst/>
          </a:prstGeom>
          <a:solidFill>
            <a:srgbClr val="1F2942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3200400"/>
            <a:ext cx="73152" cy="219456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79" y="347472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FFAB40"/>
                </a:solidFill>
                <a:latin typeface="Calibri"/>
              </a:rPr>
              <a:t>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42062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外部依存ゼロ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7091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Python があれば動く。pip install / npm install 不要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0" y="3200400"/>
            <a:ext cx="3566160" cy="2194560"/>
          </a:xfrm>
          <a:prstGeom prst="roundRect">
            <a:avLst/>
          </a:prstGeom>
          <a:solidFill>
            <a:srgbClr val="1F2942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3200400"/>
            <a:ext cx="73152" cy="219456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347472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FFAB40"/>
                </a:solidFill>
                <a:latin typeface="Calibri"/>
              </a:rPr>
              <a:t>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206240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mbria"/>
              </a:rPr>
              <a:t>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70916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GPL-3.0、GitHub で公開、PR / Issue 歓迎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03 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6 つの主要機能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210312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73152" cy="21031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5722"/>
                </a:solidFill>
                <a:latin typeface="Cambri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EVTX ブラウザ解析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17520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ドロップ&amp;ドロップ → リアルタイム検知ストリーム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59" y="1691640"/>
            <a:ext cx="3566160" cy="210312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1691640"/>
            <a:ext cx="73152" cy="21031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187452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5722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24688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スレットハンティング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59" y="3017520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6 個の仮説プリセット / 5 種のピボット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1691640"/>
            <a:ext cx="3566160" cy="210312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0" y="1691640"/>
            <a:ext cx="73152" cy="2103120"/>
          </a:xfrm>
          <a:prstGeom prst="rect">
            <a:avLst/>
          </a:prstGeom>
          <a:solidFill>
            <a:srgbClr val="FF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187452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5252"/>
                </a:solidFill>
                <a:latin typeface="Cambria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4688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プロセスツリー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3017520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Sysmon EID 1 から親子関係を可視化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14800"/>
            <a:ext cx="3566160" cy="210312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14800"/>
            <a:ext cx="73152" cy="2103120"/>
          </a:xfrm>
          <a:prstGeom prst="rect">
            <a:avLst/>
          </a:prstGeom>
          <a:solidFill>
            <a:srgbClr val="FF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29768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5252"/>
                </a:solidFill>
                <a:latin typeface="Cambria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89204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振舞い異常検知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バースト / 拡散 / 沈黙 / 時間外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59" y="4114800"/>
            <a:ext cx="3566160" cy="210312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80559" y="4114800"/>
            <a:ext cx="73152" cy="210312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9159" y="429768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B300"/>
                </a:solidFill>
                <a:latin typeface="Cambria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9159" y="489204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IoC フィード自動取込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9159" y="5440680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LOLDrivers / abuse.ch — 8 万件超の IoC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0" y="4114800"/>
            <a:ext cx="3566160" cy="210312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12480" y="4114800"/>
            <a:ext cx="73152" cy="210312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41080" y="429768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B300"/>
                </a:solidFill>
                <a:latin typeface="Cambria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9204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FFFFFF"/>
                </a:solidFill>
                <a:latin typeface="Cambria"/>
              </a:rPr>
              <a:t>ホスト資産ビュー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5440680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リスクスコア順、TP/FP 補正、直近度補正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0" b="1" i="0">
                <a:solidFill>
                  <a:srgbClr val="FF5722"/>
                </a:solidFill>
                <a:latin typeface="Cambria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66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D8DEF0"/>
                </a:solidFill>
                <a:latin typeface="Calibri"/>
              </a:rPr>
              <a:t>ライブで動かします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7D869C"/>
                </a:solidFill>
                <a:latin typeface="Consolas"/>
              </a:rPr>
              <a:t>http://127.0.0.1:8787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7D869C"/>
                </a:solidFill>
                <a:latin typeface="Consolas"/>
              </a:rPr>
              <a:t>  スキャン → 解説 → プロセスツリー → ハント → 振舞い異常 → ホスト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04 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技術①  lookup: Sigma 拡張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200"/>
              </a:spcAft>
            </a:pPr>
            <a:r>
              <a:rPr sz="1600" b="0" i="1">
                <a:solidFill>
                  <a:srgbClr val="D8DEF0"/>
                </a:solidFill>
                <a:latin typeface="Calibri"/>
              </a:rPr>
              <a:t>既存の Sigma に新しい構文を追加した。</a:t>
            </a:r>
          </a:p>
          <a:p>
            <a:pPr algn="l" marL="228600" indent="-228600">
              <a:lnSpc>
                <a:spcPct val="140000"/>
              </a:lnSpc>
              <a:spcAft>
                <a:spcPts val="400"/>
              </a:spcAft>
              <a:buChar char="•"/>
            </a:pPr>
            <a:r>
              <a:rPr sz="1400" b="0" i="0">
                <a:solidFill>
                  <a:srgbClr val="D8DEF0"/>
                </a:solidFill>
                <a:latin typeface="Calibri"/>
              </a:rPr>
              <a:t>`lookup:` ブロックで外部ファイルを宣言。</a:t>
            </a:r>
          </a:p>
          <a:p>
            <a:pPr algn="l" marL="228600" indent="-228600">
              <a:lnSpc>
                <a:spcPct val="140000"/>
              </a:lnSpc>
              <a:spcAft>
                <a:spcPts val="400"/>
              </a:spcAft>
              <a:buChar char="•"/>
            </a:pPr>
            <a:r>
              <a:rPr sz="1400" b="0" i="0">
                <a:solidFill>
                  <a:srgbClr val="D8DEF0"/>
                </a:solidFill>
                <a:latin typeface="Calibri"/>
              </a:rPr>
              <a:t>`|lookup:` 修飾子で 1 行参照、内部は HashMap で O(1)。</a:t>
            </a:r>
          </a:p>
          <a:p>
            <a:pPr algn="l" marL="228600" indent="-228600">
              <a:lnSpc>
                <a:spcPct val="140000"/>
              </a:lnSpc>
              <a:spcAft>
                <a:spcPts val="400"/>
              </a:spcAft>
              <a:buChar char="•"/>
            </a:pPr>
            <a:r>
              <a:rPr sz="1400" b="0" i="0">
                <a:solidFill>
                  <a:srgbClr val="D8DEF0"/>
                </a:solidFill>
                <a:latin typeface="Calibri"/>
              </a:rPr>
              <a:t>起動時にロード、ルール側に値を埋め込む必要なし。</a:t>
            </a:r>
          </a:p>
          <a:p>
            <a:pPr algn="l" marL="228600" indent="-228600">
              <a:lnSpc>
                <a:spcPct val="140000"/>
              </a:lnSpc>
              <a:spcAft>
                <a:spcPts val="400"/>
              </a:spcAft>
              <a:buChar char="•"/>
            </a:pPr>
            <a:r>
              <a:rPr sz="1400" b="1" i="0">
                <a:solidFill>
                  <a:srgbClr val="FFAB40"/>
                </a:solidFill>
                <a:latin typeface="Calibri"/>
              </a:rPr>
              <a:t>既存ルール無改造で IoC ベース検知を一気に増やせる。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5722"/>
                </a:solidFill>
                <a:latin typeface="Consolas"/>
              </a:rPr>
              <a:t>実装規模: 約 400 行 (Rust)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7D869C"/>
                </a:solidFill>
                <a:latin typeface="Calibri"/>
              </a:rPr>
              <a:t>upstream へ PR 投稿を予定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691640"/>
            <a:ext cx="5120640" cy="4114800"/>
          </a:xfrm>
          <a:prstGeom prst="roundRect">
            <a:avLst/>
          </a:prstGeom>
          <a:solidFill>
            <a:srgbClr val="080A10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1691640"/>
            <a:ext cx="73152" cy="411480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78308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D869C"/>
                </a:solidFill>
                <a:latin typeface="Consolas"/>
              </a:rPr>
              <a:t>rules-custom/hayfx_lookup_loldriver_load.yml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5722"/>
                </a:solidFill>
                <a:latin typeface="Consolas"/>
              </a:rPr>
              <a:t>title: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19456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AB40"/>
                </a:solidFill>
                <a:latin typeface="Consolas"/>
              </a:rPr>
              <a:t>Known vulnerable driver loaded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9631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5722"/>
                </a:solidFill>
                <a:latin typeface="Consolas"/>
              </a:rPr>
              <a:t>lookup: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9806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5722"/>
                </a:solidFill>
                <a:latin typeface="Consolas"/>
              </a:rPr>
              <a:t>  - name: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79806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AB40"/>
                </a:solidFill>
                <a:latin typeface="Consolas"/>
              </a:rPr>
              <a:t>lol_drivers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09981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5722"/>
                </a:solidFill>
                <a:latin typeface="Consolas"/>
              </a:rPr>
              <a:t>    file: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309981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AB40"/>
                </a:solidFill>
                <a:latin typeface="Consolas"/>
              </a:rPr>
              <a:t>../../../lookups/loldrivers.txt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40156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5722"/>
                </a:solidFill>
                <a:latin typeface="Consolas"/>
              </a:rPr>
              <a:t>detection: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703320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5722"/>
                </a:solidFill>
                <a:latin typeface="Consolas"/>
              </a:rPr>
              <a:t>  sel: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005072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5722"/>
                </a:solidFill>
                <a:latin typeface="Consolas"/>
              </a:rPr>
              <a:t>    Channel: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400507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AB40"/>
                </a:solidFill>
                <a:latin typeface="Consolas"/>
              </a:rPr>
              <a:t>'Microsoft-Windows-Sysmon/Operational'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306824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5722"/>
                </a:solidFill>
                <a:latin typeface="Consolas"/>
              </a:rPr>
              <a:t>    EventID: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430682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AB40"/>
                </a:solidFill>
                <a:latin typeface="Consolas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608576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5722"/>
                </a:solidFill>
                <a:latin typeface="Consolas"/>
              </a:rPr>
              <a:t>    Hashes|lookup: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4608576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AB40"/>
                </a:solidFill>
                <a:latin typeface="Consolas"/>
              </a:rPr>
              <a:t>lol_drivers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910328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5722"/>
                </a:solidFill>
                <a:latin typeface="Consolas"/>
              </a:rPr>
              <a:t>  condition: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491032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AB40"/>
                </a:solidFill>
                <a:latin typeface="Consolas"/>
              </a:rPr>
              <a:t>sel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212080"/>
            <a:ext cx="2011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5722"/>
                </a:solidFill>
                <a:latin typeface="Consolas"/>
              </a:rPr>
              <a:t>level: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5212080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FFAB40"/>
                </a:solidFill>
                <a:latin typeface="Consolas"/>
              </a:rPr>
              <a:t>critical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05 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技術②  振舞い異常検知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D8DEF0"/>
                </a:solidFill>
                <a:latin typeface="Calibri"/>
              </a:rPr>
              <a:t>Sigma が「1 イベントを見て yes/no」を出すのに対し、振舞い検知は「集合の異常」を出す。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2697480" cy="320040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560320"/>
            <a:ext cx="73152" cy="3200400"/>
          </a:xfrm>
          <a:prstGeom prst="rect">
            <a:avLst/>
          </a:prstGeom>
          <a:solidFill>
            <a:srgbClr val="FF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97479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5252"/>
                </a:solidFill>
                <a:latin typeface="Cambria"/>
              </a:rPr>
              <a:t>バースト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D869C"/>
                </a:solidFill>
                <a:latin typeface="Consolas"/>
              </a:rPr>
              <a:t>BURST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11879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7D869C"/>
                </a:solidFill>
                <a:latin typeface="Calibri"/>
              </a:rPr>
              <a:t>検知条件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58768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ルールが平常比 8 倍以上発火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6344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7D869C"/>
                </a:solidFill>
                <a:latin typeface="Calibri"/>
              </a:rPr>
              <a:t>シナリオ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9204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C2 / 大量 PS / ブルートフォース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560320"/>
            <a:ext cx="2697480" cy="320040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2560320"/>
            <a:ext cx="73152" cy="3200400"/>
          </a:xfrm>
          <a:prstGeom prst="rect">
            <a:avLst/>
          </a:prstGeom>
          <a:solidFill>
            <a:srgbClr val="FF1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1880" y="2697479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1744"/>
                </a:solidFill>
                <a:latin typeface="Cambria"/>
              </a:rPr>
              <a:t>拡散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32004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D869C"/>
                </a:solidFill>
                <a:latin typeface="Consolas"/>
              </a:rPr>
              <a:t>SPREAD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3611879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7D869C"/>
                </a:solidFill>
                <a:latin typeface="Calibri"/>
              </a:rPr>
              <a:t>検知条件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858768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同一ルールが 3 ホスト以上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466344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7D869C"/>
                </a:solidFill>
                <a:latin typeface="Calibri"/>
              </a:rPr>
              <a:t>シナリオ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489204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横展開 / 配布スクリプト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2560320"/>
            <a:ext cx="2697480" cy="320040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560320"/>
            <a:ext cx="73152" cy="3200400"/>
          </a:xfrm>
          <a:prstGeom prst="rect">
            <a:avLst/>
          </a:prstGeom>
          <a:solidFill>
            <a:srgbClr val="42A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697479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42A5F5"/>
                </a:solidFill>
                <a:latin typeface="Cambria"/>
              </a:rPr>
              <a:t>沈黙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2004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D869C"/>
                </a:solidFill>
                <a:latin typeface="Consolas"/>
              </a:rPr>
              <a:t>SILENCE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611879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7D869C"/>
                </a:solidFill>
                <a:latin typeface="Calibri"/>
              </a:rPr>
              <a:t>検知条件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3858768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通常活動するホストが 6 時間以上ゼロ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66344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7D869C"/>
                </a:solidFill>
                <a:latin typeface="Calibri"/>
              </a:rPr>
              <a:t>シナリオ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89204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ログ抑止 / 攻撃者がログを消した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2560320"/>
            <a:ext cx="2697480" cy="320040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89720" y="2560320"/>
            <a:ext cx="73152" cy="3200400"/>
          </a:xfrm>
          <a:prstGeom prst="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72600" y="2697479"/>
            <a:ext cx="2423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B300"/>
                </a:solidFill>
                <a:latin typeface="Cambria"/>
              </a:rPr>
              <a:t>時間外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320040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D869C"/>
                </a:solidFill>
                <a:latin typeface="Consolas"/>
              </a:rPr>
              <a:t>OFF-HOURS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600" y="3611879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7D869C"/>
                </a:solidFill>
                <a:latin typeface="Calibri"/>
              </a:rPr>
              <a:t>検知条件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600" y="3858768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深夜帯 (0-6時) の high/critical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2600" y="466344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7D869C"/>
                </a:solidFill>
                <a:latin typeface="Calibri"/>
              </a:rPr>
              <a:t>シナリオ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72600" y="4892040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業務時間外を狙った攻撃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897880"/>
            <a:ext cx="11064240" cy="777240"/>
          </a:xfrm>
          <a:prstGeom prst="roundRect">
            <a:avLst/>
          </a:prstGeom>
          <a:solidFill>
            <a:srgbClr val="1F2942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897880"/>
            <a:ext cx="73152" cy="77724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603504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7D869C"/>
                </a:solidFill>
                <a:latin typeface="Calibri"/>
              </a:rPr>
              <a:t>実データで検出: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06040" y="6035040"/>
            <a:ext cx="3291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D8DEF0"/>
                </a:solidFill>
                <a:latin typeface="Calibri"/>
              </a:rPr>
              <a:t>Potentially Malicious PwSh が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603504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FFAB40"/>
                </a:solidFill>
                <a:latin typeface="Cambria"/>
              </a:rPr>
              <a:t>平常の 2,492 倍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603504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D8DEF0"/>
                </a:solidFill>
                <a:latin typeface="Calibri"/>
              </a:rPr>
              <a:t>バーストを自動検出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06  STATS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数字で見る hayabusa-plus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2697480" cy="1874519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73152" cy="1874519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57400"/>
            <a:ext cx="2697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FAB40"/>
                </a:solidFill>
                <a:latin typeface="Cambria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D8DEF0"/>
                </a:solidFill>
                <a:latin typeface="Calibri"/>
              </a:rPr>
              <a:t>自作 Sigma ルール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828800"/>
            <a:ext cx="2697480" cy="1874519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828800"/>
            <a:ext cx="73152" cy="1874519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057400"/>
            <a:ext cx="2697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FAB40"/>
                </a:solidFill>
                <a:latin typeface="Cambria"/>
              </a:rPr>
              <a:t>82,679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20040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D8DEF0"/>
                </a:solidFill>
                <a:latin typeface="Calibri"/>
              </a:rPr>
              <a:t>統合 IoC 件数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828800"/>
            <a:ext cx="2697480" cy="1874519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828800"/>
            <a:ext cx="73152" cy="1874519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057400"/>
            <a:ext cx="2697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FAB40"/>
                </a:solidFill>
                <a:latin typeface="Cambria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20040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D8DEF0"/>
                </a:solidFill>
                <a:latin typeface="Calibri"/>
              </a:rPr>
              <a:t>IoC フィード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828800"/>
            <a:ext cx="2697480" cy="1874519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9720" y="1828800"/>
            <a:ext cx="73152" cy="1874519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2057400"/>
            <a:ext cx="2697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FAB40"/>
                </a:solidFill>
                <a:latin typeface="Cambria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89720" y="320040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D8DEF0"/>
                </a:solidFill>
                <a:latin typeface="Calibri"/>
              </a:rPr>
              <a:t>外部 pip / npm 依存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023360"/>
            <a:ext cx="2697480" cy="1874519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023360"/>
            <a:ext cx="73152" cy="1874519"/>
          </a:xfrm>
          <a:prstGeom prst="rect">
            <a:avLst/>
          </a:prstGeom>
          <a:solidFill>
            <a:srgbClr val="FF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51960"/>
            <a:ext cx="2697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~400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39496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7D869C"/>
                </a:solidFill>
                <a:latin typeface="Calibri"/>
              </a:rPr>
              <a:t>Rust 拡張 LoC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29000" y="4023360"/>
            <a:ext cx="2697480" cy="1874519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29000" y="4023360"/>
            <a:ext cx="73152" cy="1874519"/>
          </a:xfrm>
          <a:prstGeom prst="rect">
            <a:avLst/>
          </a:prstGeom>
          <a:solidFill>
            <a:srgbClr val="FF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29000" y="4251960"/>
            <a:ext cx="2697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~3,300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539496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7D869C"/>
                </a:solidFill>
                <a:latin typeface="Calibri"/>
              </a:rPr>
              <a:t>GUI コード LoC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4023360"/>
            <a:ext cx="2697480" cy="1874519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4023360"/>
            <a:ext cx="73152" cy="1874519"/>
          </a:xfrm>
          <a:prstGeom prst="rect">
            <a:avLst/>
          </a:prstGeom>
          <a:solidFill>
            <a:srgbClr val="FF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251960"/>
            <a:ext cx="2697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30+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539496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7D869C"/>
                </a:solidFill>
                <a:latin typeface="Calibri"/>
              </a:rPr>
              <a:t>ATT&amp;CK 技術 (日本語辞書)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89720" y="4023360"/>
            <a:ext cx="2697480" cy="1874519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89720" y="4023360"/>
            <a:ext cx="73152" cy="1874519"/>
          </a:xfrm>
          <a:prstGeom prst="rect">
            <a:avLst/>
          </a:prstGeom>
          <a:solidFill>
            <a:srgbClr val="FF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9720" y="4251960"/>
            <a:ext cx="2697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30 章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539496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0">
                <a:solidFill>
                  <a:srgbClr val="7D869C"/>
                </a:solidFill>
                <a:latin typeface="Calibri"/>
              </a:rPr>
              <a:t>ARCHITECTURE.md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07 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Before / After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観点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45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7D869C"/>
                </a:solidFill>
                <a:latin typeface="Calibri"/>
              </a:rPr>
              <a:t>Hayabusa CLI 単体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AB40"/>
                </a:solidFill>
                <a:latin typeface="Calibri"/>
              </a:rPr>
              <a:t>hayabusa-plus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11064240" cy="502919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76272"/>
            <a:ext cx="22860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5722"/>
                </a:solidFill>
                <a:latin typeface="Calibri"/>
              </a:rPr>
              <a:t>結果の見方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176272"/>
            <a:ext cx="41148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巨大な CSV を Excel で開く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176272"/>
            <a:ext cx="4572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AB40"/>
                </a:solidFill>
                <a:latin typeface="Calibr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176272"/>
            <a:ext cx="393192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D8DEF0"/>
                </a:solidFill>
                <a:latin typeface="Calibri"/>
              </a:rPr>
              <a:t>ブラウザで多軸絞り込み + ピボット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51760"/>
            <a:ext cx="11064240" cy="502919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24912"/>
            <a:ext cx="22860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5722"/>
                </a:solidFill>
                <a:latin typeface="Calibri"/>
              </a:rPr>
              <a:t>検知の理解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24912"/>
            <a:ext cx="41148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自分で ATT&amp;CK を調べる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2724912"/>
            <a:ext cx="4572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AB40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724912"/>
            <a:ext cx="393192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D8DEF0"/>
                </a:solidFill>
                <a:latin typeface="Calibri"/>
              </a:rPr>
              <a:t>クリックで日本語解説 + 次手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200400"/>
            <a:ext cx="11064240" cy="502919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273552"/>
            <a:ext cx="22860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5722"/>
                </a:solidFill>
                <a:latin typeface="Calibri"/>
              </a:rPr>
              <a:t>親子関係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273552"/>
            <a:ext cx="41148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手で grep して並べる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3273552"/>
            <a:ext cx="4572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AB40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273552"/>
            <a:ext cx="393192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D8DEF0"/>
                </a:solidFill>
                <a:latin typeface="Calibri"/>
              </a:rPr>
              <a:t>プロセスツリー自動構築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49039"/>
            <a:ext cx="11064240" cy="502919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822191"/>
            <a:ext cx="22860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5722"/>
                </a:solidFill>
                <a:latin typeface="Calibri"/>
              </a:rPr>
              <a:t>いつもと違う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3822191"/>
            <a:ext cx="41148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検出不可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822191"/>
            <a:ext cx="4572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AB40"/>
                </a:solidFill>
                <a:latin typeface="Calibr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822191"/>
            <a:ext cx="393192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D8DEF0"/>
                </a:solidFill>
                <a:latin typeface="Calibri"/>
              </a:rPr>
              <a:t>バースト / 拡散 / 沈黙 を自動抽出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297679"/>
            <a:ext cx="11064240" cy="502919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370831"/>
            <a:ext cx="22860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5722"/>
                </a:solidFill>
                <a:latin typeface="Calibri"/>
              </a:rPr>
              <a:t>IoC 照合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4370831"/>
            <a:ext cx="41148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都度ルール書き換え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4370831"/>
            <a:ext cx="4572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AB40"/>
                </a:solidFill>
                <a:latin typeface="Calibr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370831"/>
            <a:ext cx="393192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D8DEF0"/>
                </a:solidFill>
                <a:latin typeface="Calibri"/>
              </a:rPr>
              <a:t>1 行で参照 + フィード自動更新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846319"/>
            <a:ext cx="11064240" cy="502919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1"/>
            <a:ext cx="22860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5722"/>
                </a:solidFill>
                <a:latin typeface="Calibri"/>
              </a:rPr>
              <a:t>ホスト優先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919471"/>
            <a:ext cx="41148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自分で集計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4919471"/>
            <a:ext cx="4572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AB40"/>
                </a:solidFill>
                <a:latin typeface="Calibr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919471"/>
            <a:ext cx="393192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D8DEF0"/>
                </a:solidFill>
                <a:latin typeface="Calibri"/>
              </a:rPr>
              <a:t>リスクスコア順で一覧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394959"/>
            <a:ext cx="11064240" cy="502919"/>
          </a:xfrm>
          <a:prstGeom prst="rect">
            <a:avLst/>
          </a:prstGeom>
          <a:solidFill>
            <a:srgbClr val="16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468111"/>
            <a:ext cx="22860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FF5722"/>
                </a:solidFill>
                <a:latin typeface="Calibri"/>
              </a:rPr>
              <a:t>ログ消去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5468111"/>
            <a:ext cx="41148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気付かない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69480" y="5468111"/>
            <a:ext cx="45720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AB40"/>
                </a:solidFill>
                <a:latin typeface="Calibri"/>
              </a:rPr>
              <a:t>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5468111"/>
            <a:ext cx="3931920" cy="4114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D8DEF0"/>
                </a:solidFill>
                <a:latin typeface="Calibri"/>
              </a:rPr>
              <a:t>沈黙検知 + 痕跡隠蔽ルール 5 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F5722"/>
                </a:solidFill>
                <a:latin typeface="Calibri"/>
              </a:rPr>
              <a:t>08 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ロードマップ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548640" cy="4572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6C281"/>
                </a:solidFill>
                <a:latin typeface="Cambria"/>
              </a:rPr>
              <a:t>完了済み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6C281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EVTX ブラウザ解析・ライブフィード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1031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6C281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12140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スレットハンティング (6 プリセット / 5 ピボット)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1031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6C281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12140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プロセスツリー再構築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1031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6C281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0" y="212140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振舞い異常検知 (4 種)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5603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6C281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57860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IoC フィード自動取込 (4 フィード)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5603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6C281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57860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ホスト資産ビュー + リスクスコア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5603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6C281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257860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lookup: Sigma 拡張 (Rust)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5603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6C281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257860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D8DEF0"/>
                </a:solidFill>
                <a:latin typeface="Calibri"/>
              </a:rPr>
              <a:t>セキュリティ強化 (DNS rebind / CSRF / CSP)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66160"/>
            <a:ext cx="11064240" cy="18288"/>
          </a:xfrm>
          <a:prstGeom prst="rect">
            <a:avLst/>
          </a:prstGeom>
          <a:solidFill>
            <a:srgbClr val="2A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FF5722"/>
                </a:solidFill>
                <a:latin typeface="Cambria"/>
              </a:rPr>
              <a:t>これから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206240"/>
            <a:ext cx="3657600" cy="82296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206240"/>
            <a:ext cx="73152" cy="82296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29767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mbria"/>
              </a:rPr>
              <a:t>週次レポート / ヒートマップ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6634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D869C"/>
                </a:solidFill>
                <a:latin typeface="Calibri"/>
              </a:rPr>
              <a:t>アラート分析の高度化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79" y="4206240"/>
            <a:ext cx="3657600" cy="82296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97679" y="4206240"/>
            <a:ext cx="73152" cy="82296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429767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mbria"/>
              </a:rPr>
              <a:t>`correlate:` Sigma 拡張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59" y="46634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D869C"/>
                </a:solidFill>
                <a:latin typeface="Calibri"/>
              </a:rPr>
              <a:t>時系列相関 (Rust)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19" y="4206240"/>
            <a:ext cx="3657600" cy="82296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19" y="4206240"/>
            <a:ext cx="73152" cy="82296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599" y="429767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mbria"/>
              </a:rPr>
              <a:t>`behavioral:` Sigma 拡張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9" y="46634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D869C"/>
                </a:solidFill>
                <a:latin typeface="Calibri"/>
              </a:rPr>
              <a:t>ルートレベルでレート異常を書ける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166359"/>
            <a:ext cx="3657600" cy="82296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5166359"/>
            <a:ext cx="73152" cy="82296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25779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mbria"/>
              </a:rPr>
              <a:t>AI 補助ルール生成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62355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D869C"/>
                </a:solidFill>
                <a:latin typeface="Calibri"/>
              </a:rPr>
              <a:t>脅威レポート → Sigma 半自動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297679" y="5166359"/>
            <a:ext cx="3657600" cy="82296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97679" y="5166359"/>
            <a:ext cx="73152" cy="82296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25779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mbria"/>
              </a:rPr>
              <a:t>集合ホスト比較ビュー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59" y="562355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D869C"/>
                </a:solidFill>
                <a:latin typeface="Calibri"/>
              </a:rPr>
              <a:t>フリート横断の異常検知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19" y="5166359"/>
            <a:ext cx="3657600" cy="82296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46719" y="5166359"/>
            <a:ext cx="73152" cy="82296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599" y="525779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Cambria"/>
              </a:rPr>
              <a:t>`eid-metrics` 統合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599" y="562355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7D869C"/>
                </a:solidFill>
                <a:latin typeface="Calibri"/>
              </a:rPr>
              <a:t>真のギャップ分析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47120" y="64922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 i="0">
                <a:solidFill>
                  <a:srgbClr val="7D869C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i="1">
                <a:solidFill>
                  <a:srgbClr val="FFAB40"/>
                </a:solidFill>
                <a:latin typeface="Calibri"/>
              </a:rPr>
              <a:t>ご清聴感謝します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3840480"/>
            <a:ext cx="6400800" cy="1371600"/>
          </a:xfrm>
          <a:prstGeom prst="roundRect">
            <a:avLst/>
          </a:prstGeom>
          <a:solidFill>
            <a:srgbClr val="161B26"/>
          </a:solidFill>
          <a:ln w="9525">
            <a:solidFill>
              <a:srgbClr val="2A36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3840480"/>
            <a:ext cx="73152" cy="1371600"/>
          </a:xfrm>
          <a:prstGeom prst="rect">
            <a:avLst/>
          </a:prstGeom>
          <a:solidFill>
            <a:srgbClr val="FF5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3977639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7D869C"/>
                </a:solidFill>
                <a:latin typeface="Calibri"/>
              </a:rPr>
              <a:t>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29768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AB40"/>
                </a:solidFill>
                <a:latin typeface="Consolas"/>
              </a:rPr>
              <a:t>github.com/Assy2005/hayabusa-plus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8006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1">
                <a:solidFill>
                  <a:srgbClr val="7D869C"/>
                </a:solidFill>
                <a:latin typeface="Calibri"/>
              </a:rPr>
              <a:t>Issue / PR / フィードバック歓迎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7D869C"/>
                </a:solidFill>
                <a:latin typeface="Calibri"/>
              </a:rPr>
              <a:t>Made with detection engineering depth, not marketing fluff.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