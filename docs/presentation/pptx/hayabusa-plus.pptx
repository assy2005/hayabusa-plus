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i="0">
                <a:solidFill>
                  <a:srgbClr val="CADCFC"/>
                </a:solidFill>
                <a:latin typeface="Cambria"/>
              </a:rPr>
              <a:t>OSS 解析エンジン「Hayabusa」の拡張による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96596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FFFFFF"/>
                </a:solidFill>
                <a:latin typeface="Cambria"/>
              </a:rPr>
              <a:t>誰でも使えるサイバー攻撃調査ツールの開発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2461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1">
                <a:solidFill>
                  <a:srgbClr val="CADCFC"/>
                </a:solidFill>
                <a:latin typeface="Calibri"/>
              </a:rPr>
              <a:t>— サイバー攻撃の痕跡を、誰でも読めるように 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0" y="4206240"/>
            <a:ext cx="6858000" cy="15544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63240" y="4370832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🦀 エンジン本体 (Rust) に新しい検知機能を追加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4791456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📜 攻撃を見抜く検知ルールを 13 本自作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63240" y="521208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FFFFFF"/>
                </a:solidFill>
                <a:latin typeface="Calibri"/>
              </a:rPr>
              <a:t>🖥️ 結果を読み解ける GUI をゼロから開発 (約 8,000 行)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onsolas"/>
              </a:rPr>
              <a:t>プロジェクト名: hayabusa-plus   /   github.com/Assy2005/hayabusa-plus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0">
                <a:solidFill>
                  <a:srgbClr val="CADCFC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もし、あなたの会社が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2880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 i="0">
                <a:solidFill>
                  <a:srgbClr val="FFFFFF"/>
                </a:solidFill>
                <a:latin typeface="Cambria"/>
              </a:rPr>
              <a:t>サイバー攻撃を受けたら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000" b="0" i="0">
                <a:solidFill>
                  <a:srgbClr val="CADCFC"/>
                </a:solidFill>
                <a:latin typeface="Calibri"/>
              </a:rPr>
              <a:t>...どうしますか?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28016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どこから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侵入された?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4632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誰が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何をされた?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12480" y="4069080"/>
            <a:ext cx="3200400" cy="164592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4297680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 i="0">
                <a:solidFill>
                  <a:srgbClr val="CADCFC"/>
                </a:solidFill>
                <a:latin typeface="Cambria"/>
              </a:rPr>
              <a:t>被害は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484632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 i="0">
                <a:solidFill>
                  <a:srgbClr val="FFFFFF"/>
                </a:solidFill>
                <a:latin typeface="Cambria"/>
              </a:rPr>
              <a:t>どこまで広がった?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1264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0" i="1">
                <a:solidFill>
                  <a:srgbClr val="CADCFC"/>
                </a:solidFill>
                <a:latin typeface="Calibri"/>
              </a:rPr>
              <a:t>これを 素早く 知る必要があります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答えは Windows のログの中にある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600200"/>
            <a:ext cx="5852160" cy="466344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Windows のログ (実例)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24028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13:42:15  EID 4624  Logon Type 3  user=alice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13:42:16  EID 4688  rundll32.exe  comsvcs.dll, ...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99008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     ProcessGuid {6BBF237A-CAFB...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36499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13:42:17  EID 10    TargetImage lsass.exe  Acc...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73989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4104  $ScriptBlockText FromBase6...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14800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13:42:18  EID 7045  ServiceName UpdaterSvc  Img...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489704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13:42:19  EID 22    QueryName malicious-site.c...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864608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13:42:20  EID 3     DestinationIp 185.220.101....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5239512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2026-05-21 13:42:21  EID 8     CreateRemoteThread  source...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5614416"/>
            <a:ext cx="5303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CBD5E1"/>
                </a:solidFill>
                <a:latin typeface="Consolas"/>
              </a:rPr>
              <a:t>...                          (このあと数万件続く)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1874519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1 台の PC 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377440"/>
            <a:ext cx="502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6800" b="1" i="0">
                <a:solidFill>
                  <a:srgbClr val="2563EB"/>
                </a:solidFill>
                <a:latin typeface="Cambria"/>
              </a:rPr>
              <a:t>数万件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36118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0" i="0">
                <a:solidFill>
                  <a:srgbClr val="1F2937"/>
                </a:solidFill>
                <a:latin typeface="Calibri"/>
              </a:rPr>
              <a:t>のログが残っています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66560" y="4480560"/>
            <a:ext cx="5029200" cy="1783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66560" y="4480560"/>
            <a:ext cx="73152" cy="178308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95160" y="4663440"/>
            <a:ext cx="46634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これを 1 件ずつ読むのは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5120640"/>
            <a:ext cx="46634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DC2626"/>
                </a:solidFill>
                <a:latin typeface="Cambria"/>
              </a:rPr>
              <a:t>現実的に不可能。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57607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5B6472"/>
                </a:solidFill>
                <a:latin typeface="Calibri"/>
              </a:rPr>
              <a:t>→ 専門家が時間をかけても見落とす。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既存技術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土台にした既存ツール: Hayabusa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日本のセキュリティチーム Yamato Security が公開している無料ツール (OSS)。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402336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✅ Hayabusa ができること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2608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世界中の研究者が作った「攻撃の特徴パターン」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1012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(Sigma ルール・約 5,000 本) と照合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数万件のログを数十秒〜数分で全チェック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17880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   (Rust 製で高速)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663440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世界中の調査現場で使われている実績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103120"/>
            <a:ext cx="5486400" cy="4023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2103120"/>
            <a:ext cx="73152" cy="402336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2331720"/>
            <a:ext cx="5120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⚠ そのままでは専門家にしか使えない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2926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黒い画面でコマンドを打つ必要がある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3493008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結果は CSV ファイル数万行 — 結局「読めない」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059936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出力は英語 + 専門用語だらけ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4626864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F2937"/>
                </a:solidFill>
                <a:latin typeface="Calibri"/>
              </a:rPr>
              <a:t>• 「で、次にどうすれば?」を教えてくれない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→ この「強力だが使いにくい」を出発点にしました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この開発で目指したこと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目的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5B6472"/>
                </a:solidFill>
                <a:latin typeface="Calibri"/>
              </a:rPr>
              <a:t>「専門家の道具」を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 i="0">
                <a:solidFill>
                  <a:srgbClr val="1F2937"/>
                </a:solidFill>
                <a:latin typeface="Cambria"/>
              </a:rPr>
              <a:t>「誰でも使える調査プラットフォーム」に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①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見つける力を強くする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エンジン本体を改造して
新しい検知機能を追加 +
検知ルールを自作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4340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結果を読めるようにする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ブラウザで見られる GUI を
ゼロから開発。日本語解説と
「次にすべきこと」を表示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3474720"/>
            <a:ext cx="3566160" cy="24688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3474720"/>
            <a:ext cx="73152" cy="24688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66760" y="3657600"/>
            <a:ext cx="640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2563EB"/>
                </a:solidFill>
                <a:latin typeface="Cambria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3730752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手元だけで完結させる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4343400"/>
            <a:ext cx="3063239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データを外部に送らない。
追加ソフト無しで動く
(オフライン・依存ゼロ)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どこを開発したか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作ったものの全体像</a:t>
            </a:r>
          </a:p>
        </p:txBody>
      </p:sp>
      <p:sp>
        <p:nvSpPr>
          <p:cNvPr id="5" name="Rectangle 4"/>
          <p:cNvSpPr/>
          <p:nvPr/>
        </p:nvSpPr>
        <p:spPr>
          <a:xfrm>
            <a:off x="7680960" y="457200"/>
            <a:ext cx="256032" cy="256032"/>
          </a:xfrm>
          <a:prstGeom prst="rect">
            <a:avLst/>
          </a:prstGeom>
          <a:solidFill>
            <a:srgbClr val="E9ECF2"/>
          </a:solidFill>
          <a:ln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1000" y="45720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= 既存 OSS (土台)</a:t>
            </a:r>
          </a:p>
        </p:txBody>
      </p:sp>
      <p:sp>
        <p:nvSpPr>
          <p:cNvPr id="7" name="Rectangle 6"/>
          <p:cNvSpPr/>
          <p:nvPr/>
        </p:nvSpPr>
        <p:spPr>
          <a:xfrm>
            <a:off x="9692640" y="457200"/>
            <a:ext cx="256032" cy="256032"/>
          </a:xfrm>
          <a:prstGeom prst="rect">
            <a:avLst/>
          </a:prstGeom>
          <a:solidFill>
            <a:srgbClr val="E8F0FE"/>
          </a:solidFill>
          <a:ln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12680" y="4572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1D4ED8"/>
                </a:solidFill>
                <a:latin typeface="Calibri"/>
              </a:rPr>
              <a:t>= 今回開発した部分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103120"/>
            <a:ext cx="2194560" cy="17373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i="0">
                <a:solidFill>
                  <a:srgbClr val="1F2937"/>
                </a:solidFill>
                <a:latin typeface="Calibri"/>
              </a:rPr>
              <a:t>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88036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F2937"/>
                </a:solidFill>
                <a:latin typeface="Calibri"/>
              </a:rPr>
              <a:t>Windows のログ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246120"/>
            <a:ext cx="21945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数万件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88036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520440" y="2103120"/>
            <a:ext cx="3291840" cy="1737360"/>
          </a:xfrm>
          <a:prstGeom prst="roundRect">
            <a:avLst/>
          </a:prstGeom>
          <a:solidFill>
            <a:srgbClr val="E9ECF2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304288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F2937"/>
                </a:solidFill>
                <a:latin typeface="Calibri"/>
              </a:rPr>
              <a:t>Hayabusa エンジン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5176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(既存 OSS・Rust 製)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94760" y="3063239"/>
            <a:ext cx="2743200" cy="548640"/>
          </a:xfrm>
          <a:prstGeom prst="roundRect">
            <a:avLst/>
          </a:prstGeom>
          <a:solidFill>
            <a:srgbClr val="E8F0FE"/>
          </a:solidFill>
          <a:ln w="1587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3063239"/>
            <a:ext cx="27432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★ 中身を改造して新機能を追加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694944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7589520" y="2103120"/>
            <a:ext cx="2743200" cy="1737360"/>
          </a:xfrm>
          <a:prstGeom prst="roundRect">
            <a:avLst/>
          </a:prstGeom>
          <a:solidFill>
            <a:srgbClr val="E8F0FE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9520" y="2267712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0">
                <a:solidFill>
                  <a:srgbClr val="1F2937"/>
                </a:solidFill>
                <a:latin typeface="Calibri"/>
              </a:rPr>
              <a:t>🖥️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5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400" b="1" i="0">
                <a:solidFill>
                  <a:srgbClr val="1D4ED8"/>
                </a:solidFill>
                <a:latin typeface="Calibri"/>
              </a:rPr>
              <a:t>調査用 GUI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20040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ゼロから開発 (約 8,000 行)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0469880" y="278892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27080" y="242316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0" i="0">
                <a:solidFill>
                  <a:srgbClr val="1F2937"/>
                </a:solidFill>
                <a:latin typeface="Calibri"/>
              </a:rPr>
              <a:t>🧑‍💻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35640" y="31089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調べる人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8600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📜 自作の検知ルール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28600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13 本 (痕跡隠蔽の検知など)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394960" y="4846320"/>
            <a:ext cx="274320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94960" y="502920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300" b="1" i="0">
                <a:solidFill>
                  <a:srgbClr val="1D4ED8"/>
                </a:solidFill>
                <a:latin typeface="Calibri"/>
              </a:rPr>
              <a:t>🌐 悪いものリスト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544068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約 8 万件を自動で取り込み</a:t>
            </a:r>
          </a:p>
        </p:txBody>
      </p:sp>
      <p:sp>
        <p:nvSpPr>
          <p:cNvPr id="33" name="Up Arrow 32"/>
          <p:cNvSpPr/>
          <p:nvPr/>
        </p:nvSpPr>
        <p:spPr>
          <a:xfrm>
            <a:off x="347472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Up Arrow 33"/>
          <p:cNvSpPr/>
          <p:nvPr/>
        </p:nvSpPr>
        <p:spPr>
          <a:xfrm>
            <a:off x="6583680" y="4069080"/>
            <a:ext cx="365760" cy="457200"/>
          </a:xfrm>
          <a:prstGeom prst="up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1 / 3   (Rust)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①  エンジン本体の改造 — 新しい文法を追加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760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libri"/>
              </a:rPr>
              <a:t>Hayabusa の「ルールの書き方」自体を拡張しました。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37744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ルールに 1 行、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8892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D4ED8"/>
                </a:solidFill>
                <a:latin typeface="Cambria"/>
              </a:rPr>
              <a:t>「このリストに載っていたら警告して」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38328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と書けるようにする機能 (lookup:) を、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94760"/>
            <a:ext cx="57607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1F2937"/>
                </a:solidFill>
                <a:latin typeface="Calibri"/>
              </a:rPr>
              <a:t>エンジンのソースコード (Rust) に追加。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572000"/>
            <a:ext cx="5760720" cy="16002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4736592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 i="0">
                <a:solidFill>
                  <a:srgbClr val="1F2937"/>
                </a:solidFill>
                <a:latin typeface="Calibri"/>
              </a:rPr>
              <a:t>💡 これで何が嬉しい?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138928"/>
            <a:ext cx="5394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世界中で共有されている「悪いものリスト」(約 8 万件) を、
ルールを書き換えずにそのまま検知に使えるようになった。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691640"/>
            <a:ext cx="4983480" cy="3108960"/>
          </a:xfrm>
          <a:prstGeom prst="roundRect">
            <a:avLst/>
          </a:prstGeom>
          <a:solidFill>
            <a:srgbClr val="0F172A"/>
          </a:solidFill>
          <a:ln w="9525">
            <a:solidFill>
              <a:srgbClr val="0F17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1874519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0">
                <a:solidFill>
                  <a:srgbClr val="94A3B8"/>
                </a:solidFill>
                <a:latin typeface="Consolas"/>
              </a:rPr>
              <a:t>自作ルールの実例 (簡略化)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2240280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title: 危険なドライバの読み込みを検知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256489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lookup: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288950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- name: lol_drivers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3214116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  file: loldrivers.txt  # 悪い指紋 1,929 件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3538728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detection: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863339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7DD3FC"/>
                </a:solidFill>
                <a:latin typeface="Consolas"/>
              </a:rPr>
              <a:t>  Hashes|lookup: lol_drivers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9440" y="4187952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94A3B8"/>
                </a:solidFill>
                <a:latin typeface="Consolas"/>
              </a:rPr>
              <a:t>           ↑ 追加した新しい文法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4512564"/>
            <a:ext cx="44805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CBD5E1"/>
                </a:solidFill>
                <a:latin typeface="Consolas"/>
              </a:rPr>
              <a:t>level: critical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0" y="5029200"/>
            <a:ext cx="4983480" cy="11430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75120" y="502920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03720" y="517550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0">
                <a:solidFill>
                  <a:srgbClr val="1F2937"/>
                </a:solidFill>
                <a:latin typeface="Calibri"/>
              </a:rPr>
              <a:t>この「悪い指紋リスト」は世界中の研究者が集めた公開情報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03720" y="555040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(例: loldrivers.io の悪用ドライバ一覧)。出どころと処理の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3720" y="5861304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流れは次ページで説明します。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開発内容① の中身   (内部フロー)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lookup の内部フロー — リストはどこから来て、どう照合されるか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064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5B6472"/>
                </a:solidFill>
                <a:latin typeface="Calibri"/>
              </a:rPr>
              <a:t>具体例: 「悪用される脆弱ドライバの読み込み (BYOVD)」を検知するまでの流れ。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9888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loldrivers.io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世界中の研究者が集めた
「悪用される脆弱ドライバ」の
ハッシュ一覧 (誰でも入手可・無料)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出どころ (Source)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803904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15968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17136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57216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取得して整形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CSV を取得し、1 行 1 ハッシュの
テキストに変換して保存する
(GUI のボタン 1 つで実行)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35424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→ loldrivers.txt (1,929 件)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7571231" y="2852927"/>
            <a:ext cx="45720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083296" y="2103120"/>
            <a:ext cx="3200400" cy="187451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83296" y="210312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84464" y="224942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24544" y="228600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起動時に記憶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02752" y="2834639"/>
            <a:ext cx="2788920" cy="777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エンジン起動時に一度だけ読み込み、
メモリ上の高速な表に保持する
(RwLock&lt;HashMap&gt;)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630168"/>
            <a:ext cx="2788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1" i="0">
                <a:solidFill>
                  <a:srgbClr val="2563EB"/>
                </a:solidFill>
                <a:latin typeface="Consolas"/>
              </a:rPr>
              <a:t>Rust・読み込みは起動時の 1 回だけ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897880" y="4069080"/>
            <a:ext cx="411480" cy="384048"/>
          </a:xfrm>
          <a:prstGeom prst="downArrow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46520" y="41148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1" i="1">
                <a:solidFill>
                  <a:srgbClr val="1D4ED8"/>
                </a:solidFill>
                <a:latin typeface="Calibri"/>
              </a:rPr>
              <a:t>スキャン実行中 — ログを 1 件ずつ処理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28016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280160" y="452628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48132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2563EB"/>
                </a:solidFill>
                <a:latin typeface="Calibri"/>
              </a:rPr>
              <a:t>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2140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1F2937"/>
                </a:solidFill>
                <a:latin typeface="Cambria"/>
              </a:rPr>
              <a:t>ログ 1 件ごとに照合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9961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Sysmon EID 6 (ドライバ読込) の
ハッシュを、記憶した表と突合。
1 件あたりほぼ一瞬 (O(1))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5650992" y="5029200"/>
            <a:ext cx="502920" cy="365760"/>
          </a:xfrm>
          <a:prstGeom prst="rightArrow">
            <a:avLst/>
          </a:prstGeom>
          <a:solidFill>
            <a:srgbClr val="5B64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6355080" y="4526280"/>
            <a:ext cx="4297680" cy="14173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55080" y="4526280"/>
            <a:ext cx="73152" cy="141732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4672584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300" b="0" i="0">
                <a:solidFill>
                  <a:srgbClr val="DC2626"/>
                </a:solidFill>
                <a:latin typeface="Calibri"/>
              </a:rPr>
              <a:t>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96328" y="470916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b="1" i="0">
                <a:solidFill>
                  <a:srgbClr val="DC2626"/>
                </a:solidFill>
                <a:latin typeface="Cambria"/>
              </a:rPr>
              <a:t>一致したら critical 通知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4536" y="5257800"/>
            <a:ext cx="3886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既知の悪用ドライバが読み込まれた
= BYOVD 攻撃の痕跡。
最高レベル (critical) で警告。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6053328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1" i="0">
                <a:solidFill>
                  <a:srgbClr val="1D4ED8"/>
                </a:solidFill>
                <a:latin typeface="Calibri"/>
              </a:rPr>
              <a:t>ポイント:  リストが何万件に増えても照合速度は一定。ルール本文は 1 行のまま、リスト側を更新するだけで最新の脅威に追従できる。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2 / 3   (検知ルール)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②  攻撃を見抜く検知ルールを 13 本自作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45920"/>
            <a:ext cx="110642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1" i="1">
                <a:solidFill>
                  <a:srgbClr val="1D4ED8"/>
                </a:solidFill>
                <a:latin typeface="Calibri"/>
              </a:rPr>
              <a:t>着眼点: 攻撃者は必ず「証拠隠し」をする。なら、消す行為そのものを検知すればいい。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ログの消去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調査の手がかりになる
ログを消すコマンドの実行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(wevtutil 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💣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復元データの削除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バックアップを消す行為
(ランサムウェアの前兆)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(シャドウコピー削除)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監視の無効化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ログを記録する機能や
監査そのものを止める行為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(監査ポリシー改変)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86000"/>
            <a:ext cx="2697480" cy="29260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86000"/>
            <a:ext cx="73152" cy="292608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468880"/>
            <a:ext cx="914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000" b="0" i="0">
                <a:solidFill>
                  <a:srgbClr val="2563EB"/>
                </a:solidFill>
                <a:latin typeface="Calibri"/>
              </a:rPr>
              <a:t>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315468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パスワード抜き取り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657600"/>
            <a:ext cx="23317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Windows が記憶している
認証情報への不正アクセス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617720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(LSASS ダンプ)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486400"/>
            <a:ext cx="11064240" cy="86868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486400"/>
            <a:ext cx="1051560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0" i="0">
                <a:solidFill>
                  <a:srgbClr val="1F2937"/>
                </a:solidFill>
                <a:latin typeface="Calibri"/>
              </a:rPr>
              <a:t>誤検知を減らす工夫:  1 つの特徴では鳴らさず、複数の特徴が同時に揃ったときだけ警告する設計に。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3 / 3   (Python + JavaScript 約 8,000 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③  結果を「読める」にする GUI をゼロから開発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4767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🇯🇵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92938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日本語の解説付き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35000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検知をクリックすると「何が起きた?
次にどうする?」を日本語で表示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3756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333756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502152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48386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危険度ランキング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904487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どの PC から調べるべきかを
自動採点して並べ替え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4846320" cy="137160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892040"/>
            <a:ext cx="73152" cy="13716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1"/>
            <a:ext cx="7315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54480" y="503834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1F2937"/>
                </a:solidFill>
                <a:latin typeface="Cambria"/>
              </a:rPr>
              <a:t>全体が一目で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458968"/>
            <a:ext cx="37033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重大度・時間の流れ・多い攻撃を
グラフで俯瞰</a:t>
            </a:r>
          </a:p>
        </p:txBody>
      </p:sp>
      <p:pic>
        <p:nvPicPr>
          <p:cNvPr id="20" name="Picture 19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4620" y="1691640"/>
            <a:ext cx="4450080" cy="4572000"/>
          </a:xfrm>
          <a:prstGeom prst="rect">
            <a:avLst/>
          </a:prstGeom>
          <a:ln w="12700">
            <a:solidFill>
              <a:srgbClr val="DDE3EE"/>
            </a:solidFill>
          </a:ln>
          <a:effectLst/>
        </p:spPr>
      </p:pic>
      <p:sp>
        <p:nvSpPr>
          <p:cNvPr id="21" name="TextBox 20"/>
          <p:cNvSpPr txBox="1"/>
          <p:nvPr/>
        </p:nvSpPr>
        <p:spPr>
          <a:xfrm>
            <a:off x="5760720" y="6309360"/>
            <a:ext cx="58978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" b="0" i="0">
                <a:solidFill>
                  <a:srgbClr val="5B6472"/>
                </a:solidFill>
                <a:latin typeface="Calibri"/>
              </a:rPr>
              <a:t>▲ 実際の画面 (ブラウザで動作・データは外部に送らない)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開発内容 +α   (自作の統計分析)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さらに: ルールでは書けない「いつもと違う」も検出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00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1">
                <a:solidFill>
                  <a:srgbClr val="5B6472"/>
                </a:solidFill>
                <a:latin typeface="Calibri"/>
              </a:rPr>
              <a:t>ルールは 1 件ずつしか判定できない。そこで「全体の傾向」を統計で見る分析を自作しました。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急増している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平常の数十〜数千倍の
動きが急に発生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大量のパスワード試行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2900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2900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広がっている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同じ動きが
複数の PC で同時発生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188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ウイルスが社内に拡大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急に静かに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224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普段活動している PC が
急にログを残さなくなる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攻撃者がログを消した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2240280"/>
            <a:ext cx="2697480" cy="26060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89720" y="2240280"/>
            <a:ext cx="73152" cy="26060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72600" y="2386584"/>
            <a:ext cx="914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600" b="0" i="0">
                <a:solidFill>
                  <a:srgbClr val="2563EB"/>
                </a:solidFill>
                <a:latin typeface="Calibri"/>
              </a:rPr>
              <a:t>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72600" y="29718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700" b="1" i="0">
                <a:solidFill>
                  <a:srgbClr val="1F2937"/>
                </a:solidFill>
                <a:latin typeface="Cambria"/>
              </a:rPr>
              <a:t>時間外の活動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72600" y="3456432"/>
            <a:ext cx="23317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00" b="0" i="0">
                <a:solidFill>
                  <a:srgbClr val="1F2937"/>
                </a:solidFill>
                <a:latin typeface="Calibri"/>
              </a:rPr>
              <a:t>深夜などの業務時間外に
重要な動きが発生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72600" y="4325112"/>
            <a:ext cx="2331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 i="1">
                <a:solidFill>
                  <a:srgbClr val="5B6472"/>
                </a:solidFill>
                <a:latin typeface="Calibri"/>
              </a:rPr>
              <a:t>例: 業務外を狙った侵入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11064240" cy="137160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F2937"/>
                </a:solidFill>
                <a:latin typeface="Calibri"/>
              </a:rPr>
              <a:t>📏 ルールによる検知 (既存の方法)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事前に知っている「悪い特徴」と一致したら警告。
既に知られている手口には確実で強い。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53328" y="5257800"/>
            <a:ext cx="16459" cy="914400"/>
          </a:xfrm>
          <a:prstGeom prst="rect">
            <a:avLst/>
          </a:prstGeom>
          <a:solidFill>
            <a:srgbClr val="DDE3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5230368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i="0">
                <a:solidFill>
                  <a:srgbClr val="1D4ED8"/>
                </a:solidFill>
                <a:latin typeface="Calibri"/>
              </a:rPr>
              <a:t>📈 振舞いによる検知 (今回自作した分析)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614416"/>
            <a:ext cx="49377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5B6472"/>
                </a:solidFill>
                <a:latin typeface="Calibri"/>
              </a:rPr>
              <a:t>「普段との違い」に反応して知らせる。
ルールがまだ無い未知の手口への「気づき」になる。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7373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1000" b="1" i="0">
                <a:solidFill>
                  <a:srgbClr val="FFFFFF"/>
                </a:solidFill>
                <a:latin typeface="Cambria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977639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0" i="1">
                <a:solidFill>
                  <a:srgbClr val="CADCFC"/>
                </a:solidFill>
                <a:latin typeface="Calibri"/>
              </a:rPr>
              <a:t>実際の画面で動かしてみます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7091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CADCFC"/>
                </a:solidFill>
                <a:latin typeface="Calibri"/>
              </a:rPr>
              <a:t>サンプルログを読み込み、調査の流れを見ていただきます。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CADCFC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4747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 i="0">
                <a:solidFill>
                  <a:srgbClr val="2563EB"/>
                </a:solidFill>
                <a:latin typeface="Calibri"/>
              </a:rPr>
              <a:t>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11155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1F2937"/>
                </a:solidFill>
                <a:latin typeface="Cambria"/>
              </a:rPr>
              <a:t>まとめ — 開発したもの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783080"/>
            <a:ext cx="73152" cy="3291840"/>
          </a:xfrm>
          <a:prstGeom prst="rect">
            <a:avLst/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323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D4ED8"/>
                </a:solidFill>
                <a:latin typeface="Cambria"/>
              </a:rPr>
              <a:t>新文法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lookup: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エンジン本体 (Rust) を改造し
リスト照合機能を追加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73152" cy="3291840"/>
          </a:xfrm>
          <a:prstGeom prst="rect">
            <a:avLst/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EA580C"/>
                </a:solidFill>
                <a:latin typeface="Cambria"/>
              </a:rPr>
              <a:t>13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188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攻撃を見抜く検知ルールを
自作 (痕跡隠蔽の検知など)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9360" y="1783080"/>
            <a:ext cx="73152" cy="3291840"/>
          </a:xfrm>
          <a:prstGeom prst="rect">
            <a:avLst/>
          </a:prstGeom>
          <a:solidFill>
            <a:srgbClr val="CA8A0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7395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CA8A04"/>
                </a:solidFill>
                <a:latin typeface="Cambria"/>
              </a:rPr>
              <a:t>約8,000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結果を読み解く GUI を
ゼロから開発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89720" y="1783080"/>
            <a:ext cx="2697480" cy="329184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DDE3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189720" y="1783080"/>
            <a:ext cx="73152" cy="329184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54312" y="2194560"/>
            <a:ext cx="236829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4000" b="1" i="0">
                <a:solidFill>
                  <a:srgbClr val="16A34A"/>
                </a:solidFill>
                <a:latin typeface="Cambria"/>
              </a:rPr>
              <a:t>約8万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89720" y="3200400"/>
            <a:ext cx="2697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 i="0">
                <a:solidFill>
                  <a:srgbClr val="1F2937"/>
                </a:solidFill>
                <a:latin typeface="Cambria"/>
              </a:rPr>
              <a:t>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72600" y="3840480"/>
            <a:ext cx="23317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0000"/>
              </a:lnSpc>
            </a:pPr>
            <a:r>
              <a:rPr sz="1200" b="0" i="0">
                <a:solidFill>
                  <a:srgbClr val="5B6472"/>
                </a:solidFill>
                <a:latin typeface="Calibri"/>
              </a:rPr>
              <a:t>「悪いものリスト」を
自動で取り込んで照合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440680"/>
            <a:ext cx="11064240" cy="1005840"/>
          </a:xfrm>
          <a:prstGeom prst="roundRect">
            <a:avLst/>
          </a:prstGeom>
          <a:solidFill>
            <a:srgbClr val="E8F0FE"/>
          </a:solidFill>
          <a:ln w="9525">
            <a:solidFill>
              <a:srgbClr val="E8F0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0680"/>
            <a:ext cx="105156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1F2937"/>
                </a:solidFill>
                <a:latin typeface="Calibri"/>
              </a:rPr>
              <a:t>🚀 今後:  時間の流れを追った相関分析 (「A の後に B が起きたら怪しい」) や、AI による検知ルールの自動生成へ。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0" y="64465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0000"/>
              </a:lnSpc>
            </a:pPr>
            <a:r>
              <a:rPr sz="900" b="0" i="0">
                <a:solidFill>
                  <a:srgbClr val="5B6472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5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5600" b="1" i="0">
                <a:solidFill>
                  <a:srgbClr val="FFFFFF"/>
                </a:solidFill>
                <a:latin typeface="Cambria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468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0" i="1">
                <a:solidFill>
                  <a:srgbClr val="CADCFC"/>
                </a:solidFill>
                <a:latin typeface="Calibri"/>
              </a:rPr>
              <a:t>ご質問・フィードバックをお願いします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3566160"/>
            <a:ext cx="7040880" cy="2011680"/>
          </a:xfrm>
          <a:prstGeom prst="roundRect">
            <a:avLst/>
          </a:prstGeom>
          <a:solidFill>
            <a:srgbClr val="273366"/>
          </a:solidFill>
          <a:ln w="9525">
            <a:solidFill>
              <a:srgbClr val="2733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834640" y="3749039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成果物はすべて GitHub で公開しています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34640" y="4114800"/>
            <a:ext cx="6492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 i="0">
                <a:solidFill>
                  <a:srgbClr val="FFFFFF"/>
                </a:solidFill>
                <a:latin typeface="Consolas"/>
              </a:rPr>
              <a:t>github.com/Assy2005/hayabusa-plus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34640" y="475488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CADCFC"/>
                </a:solidFill>
                <a:latin typeface="Calibri"/>
              </a:rPr>
              <a:t>ソースコード・検知ルール・設計書・この資料まで、どなたでも使えます (OSS)。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5120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zip をダウンロード → 展開 → 実行、ですぐ試せます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217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0000"/>
              </a:lnSpc>
            </a:pPr>
            <a:r>
              <a:rPr sz="1200" b="0" i="1">
                <a:solidFill>
                  <a:srgbClr val="CADCFC"/>
                </a:solidFill>
                <a:latin typeface="Calibri"/>
              </a:rPr>
              <a:t>お手元の Windows PC のログで、ぜひ一度。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